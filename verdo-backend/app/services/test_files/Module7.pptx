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0" r:id="rId2"/>
    <p:sldMasterId id="2147483691" r:id="rId3"/>
  </p:sldMasterIdLst>
  <p:notesMasterIdLst>
    <p:notesMasterId r:id="rId49"/>
  </p:notesMasterIdLst>
  <p:handoutMasterIdLst>
    <p:handoutMasterId r:id="rId50"/>
  </p:handoutMasterIdLst>
  <p:sldIdLst>
    <p:sldId id="554" r:id="rId4"/>
    <p:sldId id="508" r:id="rId5"/>
    <p:sldId id="465" r:id="rId6"/>
    <p:sldId id="466" r:id="rId7"/>
    <p:sldId id="467" r:id="rId8"/>
    <p:sldId id="510" r:id="rId9"/>
    <p:sldId id="469" r:id="rId10"/>
    <p:sldId id="470" r:id="rId11"/>
    <p:sldId id="511" r:id="rId12"/>
    <p:sldId id="512" r:id="rId13"/>
    <p:sldId id="513" r:id="rId14"/>
    <p:sldId id="514" r:id="rId15"/>
    <p:sldId id="515" r:id="rId16"/>
    <p:sldId id="516" r:id="rId17"/>
    <p:sldId id="517" r:id="rId18"/>
    <p:sldId id="519" r:id="rId19"/>
    <p:sldId id="520" r:id="rId20"/>
    <p:sldId id="521" r:id="rId21"/>
    <p:sldId id="522" r:id="rId22"/>
    <p:sldId id="523" r:id="rId23"/>
    <p:sldId id="524" r:id="rId24"/>
    <p:sldId id="525" r:id="rId25"/>
    <p:sldId id="526" r:id="rId26"/>
    <p:sldId id="527" r:id="rId27"/>
    <p:sldId id="556" r:id="rId28"/>
    <p:sldId id="557" r:id="rId29"/>
    <p:sldId id="530" r:id="rId30"/>
    <p:sldId id="531" r:id="rId31"/>
    <p:sldId id="532" r:id="rId32"/>
    <p:sldId id="533" r:id="rId33"/>
    <p:sldId id="534" r:id="rId34"/>
    <p:sldId id="535" r:id="rId35"/>
    <p:sldId id="536" r:id="rId36"/>
    <p:sldId id="537" r:id="rId37"/>
    <p:sldId id="540" r:id="rId38"/>
    <p:sldId id="538" r:id="rId39"/>
    <p:sldId id="542" r:id="rId40"/>
    <p:sldId id="543" r:id="rId41"/>
    <p:sldId id="544" r:id="rId42"/>
    <p:sldId id="502" r:id="rId43"/>
    <p:sldId id="545" r:id="rId44"/>
    <p:sldId id="546" r:id="rId45"/>
    <p:sldId id="547" r:id="rId46"/>
    <p:sldId id="548" r:id="rId47"/>
    <p:sldId id="55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ditorial Integra" initials="Q"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CB9"/>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87429" autoAdjust="0"/>
  </p:normalViewPr>
  <p:slideViewPr>
    <p:cSldViewPr>
      <p:cViewPr>
        <p:scale>
          <a:sx n="100" d="100"/>
          <a:sy n="100" d="100"/>
        </p:scale>
        <p:origin x="-1872" y="-378"/>
      </p:cViewPr>
      <p:guideLst>
        <p:guide orient="horz" pos="720"/>
        <p:guide orient="horz" pos="432"/>
        <p:guide orient="horz" pos="3888"/>
        <p:guide orient="horz" pos="1008"/>
        <p:guide pos="2880"/>
        <p:guide pos="288"/>
        <p:guide pos="5472"/>
      </p:guideLst>
    </p:cSldViewPr>
  </p:slideViewPr>
  <p:outlineViewPr>
    <p:cViewPr>
      <p:scale>
        <a:sx n="33" d="100"/>
        <a:sy n="33" d="100"/>
      </p:scale>
      <p:origin x="48" y="46422"/>
    </p:cViewPr>
  </p:outlineViewPr>
  <p:notesTextViewPr>
    <p:cViewPr>
      <p:scale>
        <a:sx n="1" d="1"/>
        <a:sy n="1" d="1"/>
      </p:scale>
      <p:origin x="0" y="0"/>
    </p:cViewPr>
  </p:notesText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commentAuthors" Target="commentAuthors.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6/28/2017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6/28/2017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2245571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245571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§6.3, we explain that with a fixed-proportions production function, it is impossible to substitute among inputs because each level of output requires a specific combination of labor and capital.</a:t>
            </a:r>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4</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5</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In §8.3, we explain that because a competitive firm faces a horizontal demand curve, choosing its output so that marginal cost is equal to price is profit-maximizing.</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6</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§9.2, we explain that, absent market failure, a competitive market leads to the economically efficient output level.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§4.5, we explain that when there is a network externality, each individual’s demand depends on the purchases of other individuals.</a:t>
            </a:r>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7</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Recall from §7.3 that a firm can substitute among inputs by changing technologies in response to an effluent fee.</a:t>
            </a:r>
            <a:endParaRPr lang="en-US" dirty="0" smtClean="0"/>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54250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10</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11</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12</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13</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14</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15</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16</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17</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18</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19</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smtClean="0">
                <a:latin typeface="Palatino LT Std" panose="02040502050505030304" pitchFamily="18" charset="0"/>
              </a:rPr>
              <a:t>The refundable deposit creates an additional private cost of disposal: the opportunity cost of failing to obtain a refund. With the higher cost of disposal, the individual will reduce disposal and increase recycling to the optimal social level </a:t>
            </a:r>
            <a:r>
              <a:rPr lang="en-US" sz="1200" i="1" dirty="0" smtClean="0">
                <a:latin typeface="Palatino LT Std" panose="02040502050505030304" pitchFamily="18" charset="0"/>
              </a:rPr>
              <a:t>m</a:t>
            </a:r>
            <a:r>
              <a:rPr lang="en-US" sz="1200" dirty="0" smtClean="0">
                <a:latin typeface="Palatino LT Std" panose="02040502050505030304" pitchFamily="18" charset="0"/>
              </a:rPr>
              <a:t>*.</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20</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22</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Recall from §15.1 that a firm’s capital is measured as a stock, while the investment that creates the capital is a flow. The firm’s output is also measured as a flow.</a:t>
            </a:r>
          </a:p>
          <a:p>
            <a:r>
              <a:rPr lang="en-US" sz="1200" b="0" i="0" u="none" strike="noStrike" kern="1200" baseline="0" dirty="0" smtClean="0">
                <a:solidFill>
                  <a:schemeClr val="tx1"/>
                </a:solidFill>
                <a:latin typeface="+mn-lt"/>
                <a:ea typeface="+mn-ea"/>
                <a:cs typeface="+mn-cs"/>
              </a:rPr>
              <a:t>Also, recall from §15.2 that the present discounted value (PDV) of a series of expected future cash flows is the sum of those cash flows discounted by the appropriate interest rate. Moreover, we observe in §15.4 that, according to the net present value (NPV) rule, a firm should invest if the PDV of the expected future cash flow from an investment is greater than the cost.</a:t>
            </a:r>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23</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24</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Recall from §15.1 that the NPV of an investment declines as the discount rate becomes larger. Figure 15.3 shows the </a:t>
            </a:r>
            <a:r>
              <a:rPr lang="en-US" sz="1200" b="0" i="1" u="none" strike="noStrike" kern="1200" baseline="0" dirty="0" smtClean="0">
                <a:solidFill>
                  <a:schemeClr val="tx1"/>
                </a:solidFill>
                <a:latin typeface="+mn-lt"/>
                <a:ea typeface="+mn-ea"/>
                <a:cs typeface="+mn-cs"/>
              </a:rPr>
              <a:t>NPV </a:t>
            </a:r>
            <a:r>
              <a:rPr lang="en-US" sz="1200" b="0" i="0" u="none" strike="noStrike" kern="1200" baseline="0" dirty="0" smtClean="0">
                <a:solidFill>
                  <a:schemeClr val="tx1"/>
                </a:solidFill>
                <a:latin typeface="+mn-lt"/>
                <a:ea typeface="+mn-ea"/>
                <a:cs typeface="+mn-cs"/>
              </a:rPr>
              <a:t>for an electric motor factory; note the similarity to our environmental policy problem.</a:t>
            </a:r>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25</a:t>
            </a:fld>
            <a:endParaRPr lang="en-US" dirty="0"/>
          </a:p>
        </p:txBody>
      </p:sp>
    </p:spTree>
    <p:extLst>
      <p:ext uri="{BB962C8B-B14F-4D97-AF65-F5344CB8AC3E}">
        <p14:creationId xmlns:p14="http://schemas.microsoft.com/office/powerpoint/2010/main" val="2584971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26</a:t>
            </a:fld>
            <a:endParaRPr lang="en-US" dirty="0"/>
          </a:p>
        </p:txBody>
      </p:sp>
    </p:spTree>
    <p:extLst>
      <p:ext uri="{BB962C8B-B14F-4D97-AF65-F5344CB8AC3E}">
        <p14:creationId xmlns:p14="http://schemas.microsoft.com/office/powerpoint/2010/main" val="2584971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27</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29</a:t>
            </a:fld>
            <a:endParaRPr lang="en-US" dirty="0"/>
          </a:p>
        </p:txBody>
      </p:sp>
    </p:spTree>
    <p:extLst>
      <p:ext uri="{BB962C8B-B14F-4D97-AF65-F5344CB8AC3E}">
        <p14:creationId xmlns:p14="http://schemas.microsoft.com/office/powerpoint/2010/main" val="2584971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30</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31</a:t>
            </a:fld>
            <a:endParaRPr lang="en-US" dirty="0"/>
          </a:p>
        </p:txBody>
      </p:sp>
    </p:spTree>
    <p:extLst>
      <p:ext uri="{BB962C8B-B14F-4D97-AF65-F5344CB8AC3E}">
        <p14:creationId xmlns:p14="http://schemas.microsoft.com/office/powerpoint/2010/main" val="2584971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32</a:t>
            </a:fld>
            <a:endParaRPr lang="en-US" dirty="0"/>
          </a:p>
        </p:txBody>
      </p:sp>
    </p:spTree>
    <p:extLst>
      <p:ext uri="{BB962C8B-B14F-4D97-AF65-F5344CB8AC3E}">
        <p14:creationId xmlns:p14="http://schemas.microsoft.com/office/powerpoint/2010/main" val="25849714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33</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34</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35</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36</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37</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38</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39</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41</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In §4.3, we show that a market demand curve can be obtained by summing individual demand curves horizontally.</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42</a:t>
            </a:fld>
            <a:endParaRPr lang="en-US" dirty="0"/>
          </a:p>
        </p:txBody>
      </p:sp>
    </p:spTree>
    <p:extLst>
      <p:ext uri="{BB962C8B-B14F-4D97-AF65-F5344CB8AC3E}">
        <p14:creationId xmlns:p14="http://schemas.microsoft.com/office/powerpoint/2010/main" val="3553505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8FC0CC7-B76F-40F1-95DD-DCA38CEF63B8}" type="slidenum">
              <a:rPr lang="en-US" smtClean="0"/>
              <a:pPr>
                <a:defRPr/>
              </a:pPr>
              <a:t>43</a:t>
            </a:fld>
            <a:endParaRPr lang="en-US" dirty="0"/>
          </a:p>
        </p:txBody>
      </p:sp>
    </p:spTree>
    <p:extLst>
      <p:ext uri="{BB962C8B-B14F-4D97-AF65-F5344CB8AC3E}">
        <p14:creationId xmlns:p14="http://schemas.microsoft.com/office/powerpoint/2010/main" val="35535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6/28/2017</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8" name="TextBox 7"/>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6/28/2017</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6/28/2017</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6/28/2017</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6/28/2017</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6/28/2017</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2" name="TextBox 11"/>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6/28/2017</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6/28/2017</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6/28/2017</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6/28/2017</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7" name="TextBox 6"/>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ctrTitle"/>
          </p:nvPr>
        </p:nvSpPr>
        <p:spPr>
          <a:xfrm>
            <a:off x="448811" y="762001"/>
            <a:ext cx="4800600" cy="838199"/>
          </a:xfrm>
        </p:spPr>
        <p:txBody>
          <a:bodyPr anchor="b">
            <a:noAutofit/>
          </a:bodyPr>
          <a:lstStyle>
            <a:lvl1pPr algn="l">
              <a:defRPr sz="3600">
                <a:solidFill>
                  <a:schemeClr val="bg1"/>
                </a:solidFill>
              </a:defRPr>
            </a:lvl1pPr>
          </a:lstStyle>
          <a:p>
            <a:r>
              <a:rPr lang="en-US" dirty="0"/>
              <a:t>Click to edit Master </a:t>
            </a:r>
          </a:p>
        </p:txBody>
      </p:sp>
      <p:sp>
        <p:nvSpPr>
          <p:cNvPr id="12"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5486400" y="1600200"/>
            <a:ext cx="3200400" cy="4495800"/>
          </a:xfrm>
        </p:spPr>
        <p:txBody>
          <a:bodyPr/>
          <a:lstStyle/>
          <a:p>
            <a:endParaRPr lang="en-US" dirty="0"/>
          </a:p>
        </p:txBody>
      </p:sp>
      <p:sp>
        <p:nvSpPr>
          <p:cNvPr id="13" name="Text Placeholder 16"/>
          <p:cNvSpPr>
            <a:spLocks noGrp="1"/>
          </p:cNvSpPr>
          <p:nvPr>
            <p:ph type="body" sz="quarter" idx="16"/>
          </p:nvPr>
        </p:nvSpPr>
        <p:spPr>
          <a:xfrm>
            <a:off x="457200" y="3352800"/>
            <a:ext cx="4800600" cy="533400"/>
          </a:xfrm>
        </p:spPr>
        <p:txBody>
          <a:bodyPr/>
          <a:lstStyle>
            <a:lvl1pPr>
              <a:defRPr sz="3000">
                <a:solidFill>
                  <a:schemeClr val="bg1"/>
                </a:solidFill>
                <a:latin typeface="Calibri" panose="020F0502020204030204" pitchFamily="34" charset="0"/>
                <a:cs typeface="Calibri" panose="020F0502020204030204" pitchFamily="34" charset="0"/>
              </a:defRPr>
            </a:lvl1pPr>
          </a:lstStyle>
          <a:p>
            <a:pPr lvl="0"/>
            <a:r>
              <a:rPr lang="en-US" dirty="0" smtClean="0"/>
              <a:t>Click to edit Master text</a:t>
            </a:r>
          </a:p>
        </p:txBody>
      </p:sp>
      <p:sp>
        <p:nvSpPr>
          <p:cNvPr id="14" name="Text Placeholder 16"/>
          <p:cNvSpPr>
            <a:spLocks noGrp="1"/>
          </p:cNvSpPr>
          <p:nvPr>
            <p:ph type="body" sz="quarter" idx="14"/>
          </p:nvPr>
        </p:nvSpPr>
        <p:spPr>
          <a:xfrm>
            <a:off x="457200" y="2209800"/>
            <a:ext cx="4800600" cy="1066800"/>
          </a:xfrm>
        </p:spPr>
        <p:txBody>
          <a:bodyPr/>
          <a:lstStyle>
            <a:lvl1pPr>
              <a:defRPr sz="3000">
                <a:solidFill>
                  <a:schemeClr val="bg1"/>
                </a:solidFill>
                <a:latin typeface="Calibri" panose="020F0502020204030204" pitchFamily="34" charset="0"/>
                <a:cs typeface="Calibri" panose="020F0502020204030204" pitchFamily="34" charset="0"/>
              </a:defRPr>
            </a:lvl1pPr>
          </a:lstStyle>
          <a:p>
            <a:pPr lvl="0"/>
            <a:r>
              <a:rPr lang="en-US" dirty="0" smtClean="0"/>
              <a:t>Click to edit Master text</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5" name="Content Placeholder 4"/>
          <p:cNvSpPr>
            <a:spLocks noGrp="1"/>
          </p:cNvSpPr>
          <p:nvPr>
            <p:ph sz="quarter" idx="17"/>
          </p:nvPr>
        </p:nvSpPr>
        <p:spPr>
          <a:xfrm>
            <a:off x="3657600" y="6376988"/>
            <a:ext cx="5029200" cy="279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80552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ctrTitle" hasCustomPrompt="1"/>
          </p:nvPr>
        </p:nvSpPr>
        <p:spPr>
          <a:xfrm>
            <a:off x="448811" y="762000"/>
            <a:ext cx="4800600" cy="2838451"/>
          </a:xfrm>
        </p:spPr>
        <p:txBody>
          <a:bodyPr anchor="b">
            <a:noAutofit/>
          </a:bodyPr>
          <a:lstStyle>
            <a:lvl1pPr algn="l">
              <a:defRPr sz="3600">
                <a:solidFill>
                  <a:schemeClr val="bg1"/>
                </a:solidFill>
              </a:defRPr>
            </a:lvl1pPr>
          </a:lstStyle>
          <a:p>
            <a:r>
              <a:rPr lang="en-US" dirty="0"/>
              <a:t>Click to edit Master </a:t>
            </a:r>
            <a:r>
              <a:rPr lang="en-US" dirty="0" smtClean="0"/>
              <a:t/>
            </a:r>
            <a:br>
              <a:rPr lang="en-US" dirty="0" smtClean="0"/>
            </a:br>
            <a:r>
              <a:rPr lang="en-US" dirty="0" smtClean="0"/>
              <a:t>title </a:t>
            </a:r>
            <a:r>
              <a:rPr lang="en-US" dirty="0"/>
              <a:t>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5486400" y="1600200"/>
            <a:ext cx="3200400" cy="4495800"/>
          </a:xfrm>
        </p:spPr>
        <p:txBody>
          <a:bodyPr/>
          <a:lstStyle/>
          <a:p>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162449315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4" name="Title 10"/>
          <p:cNvSpPr>
            <a:spLocks noGrp="1"/>
          </p:cNvSpPr>
          <p:nvPr>
            <p:ph type="title" hasCustomPrompt="1"/>
          </p:nvPr>
        </p:nvSpPr>
        <p:spPr>
          <a:xfrm>
            <a:off x="457200" y="260288"/>
            <a:ext cx="7315200" cy="622828"/>
          </a:xfrm>
        </p:spPr>
        <p:txBody>
          <a:bodyPr anchor="t"/>
          <a:lstStyle>
            <a:lvl1pPr>
              <a:defRPr sz="3400">
                <a:latin typeface="Times New Roman" panose="02020603050405020304" pitchFamily="18" charset="0"/>
                <a:cs typeface="Times New Roman" panose="02020603050405020304" pitchFamily="18" charset="0"/>
              </a:defRPr>
            </a:lvl1pPr>
          </a:lstStyle>
          <a:p>
            <a:r>
              <a:rPr lang="en-US" dirty="0" smtClean="0"/>
              <a:t>CHAPTER 1</a:t>
            </a:r>
            <a:endParaRPr lang="en-US" dirty="0"/>
          </a:p>
        </p:txBody>
      </p:sp>
      <p:sp>
        <p:nvSpPr>
          <p:cNvPr id="18" name="Text Placeholder 6"/>
          <p:cNvSpPr>
            <a:spLocks noGrp="1"/>
          </p:cNvSpPr>
          <p:nvPr>
            <p:ph type="body" sz="quarter" idx="13" hasCustomPrompt="1"/>
          </p:nvPr>
        </p:nvSpPr>
        <p:spPr>
          <a:xfrm>
            <a:off x="457200" y="854978"/>
            <a:ext cx="8229600" cy="838199"/>
          </a:xfrm>
        </p:spPr>
        <p:txBody>
          <a:bodyPr>
            <a:noAutofit/>
          </a:bodyPr>
          <a:lstStyle>
            <a:lvl1pPr marL="0" indent="0">
              <a:spcBef>
                <a:spcPts val="0"/>
              </a:spcBef>
              <a:buNone/>
              <a:defRPr sz="3000" b="1">
                <a:solidFill>
                  <a:srgbClr val="007FA3"/>
                </a:solidFill>
                <a:latin typeface="Calibri" panose="020F0502020204030204"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p>
          <a:p>
            <a:pPr lvl="0"/>
            <a:endParaRPr lang="en-US" dirty="0"/>
          </a:p>
        </p:txBody>
      </p:sp>
      <p:sp>
        <p:nvSpPr>
          <p:cNvPr id="6" name="Content Placeholder 5"/>
          <p:cNvSpPr>
            <a:spLocks noGrp="1"/>
          </p:cNvSpPr>
          <p:nvPr>
            <p:ph sz="quarter" idx="17"/>
          </p:nvPr>
        </p:nvSpPr>
        <p:spPr>
          <a:xfrm>
            <a:off x="457200" y="1600200"/>
            <a:ext cx="3810000" cy="44958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5"/>
          <p:cNvSpPr>
            <a:spLocks noGrp="1"/>
          </p:cNvSpPr>
          <p:nvPr>
            <p:ph sz="quarter" idx="18"/>
          </p:nvPr>
        </p:nvSpPr>
        <p:spPr>
          <a:xfrm>
            <a:off x="4875402" y="1600200"/>
            <a:ext cx="3810000" cy="44958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4800" y="2"/>
            <a:ext cx="1219200" cy="759412"/>
          </a:xfrm>
          <a:prstGeom prst="rect">
            <a:avLst/>
          </a:prstGeom>
        </p:spPr>
      </p:pic>
      <p:sp>
        <p:nvSpPr>
          <p:cNvPr id="17" name="TextBox 16"/>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147701928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60288"/>
            <a:ext cx="7315200" cy="622828"/>
          </a:xfrm>
        </p:spPr>
        <p:txBody>
          <a:bodyPr anchor="t"/>
          <a:lstStyle>
            <a:lvl1pPr>
              <a:defRPr sz="3400">
                <a:latin typeface="Times New Roman" panose="02020603050405020304" pitchFamily="18" charset="0"/>
                <a:cs typeface="Times New Roman" panose="02020603050405020304" pitchFamily="18" charset="0"/>
              </a:defRPr>
            </a:lvl1pPr>
          </a:lstStyle>
          <a:p>
            <a:r>
              <a:rPr lang="en-US" dirty="0" smtClean="0"/>
              <a:t>CHAPTER 1</a:t>
            </a:r>
            <a:endParaRPr lang="en-US" dirty="0"/>
          </a:p>
        </p:txBody>
      </p:sp>
      <p:sp>
        <p:nvSpPr>
          <p:cNvPr id="7" name="Text Placeholder 6"/>
          <p:cNvSpPr>
            <a:spLocks noGrp="1"/>
          </p:cNvSpPr>
          <p:nvPr>
            <p:ph type="body" sz="quarter" idx="13" hasCustomPrompt="1"/>
          </p:nvPr>
        </p:nvSpPr>
        <p:spPr>
          <a:xfrm>
            <a:off x="457200" y="854978"/>
            <a:ext cx="4114800" cy="1507222"/>
          </a:xfrm>
        </p:spPr>
        <p:txBody>
          <a:bodyPr>
            <a:noAutofit/>
          </a:bodyPr>
          <a:lstStyle>
            <a:lvl1pPr marL="0" indent="0">
              <a:spcBef>
                <a:spcPts val="0"/>
              </a:spcBef>
              <a:buNone/>
              <a:defRPr sz="3000" b="1">
                <a:solidFill>
                  <a:srgbClr val="007FA3"/>
                </a:solidFill>
                <a:latin typeface="Calibri" panose="020F0502020204030204"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p>
          <a:p>
            <a:pPr lvl="0"/>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Content Placeholder 7"/>
          <p:cNvSpPr>
            <a:spLocks noGrp="1"/>
          </p:cNvSpPr>
          <p:nvPr>
            <p:ph sz="quarter" idx="18"/>
          </p:nvPr>
        </p:nvSpPr>
        <p:spPr>
          <a:xfrm>
            <a:off x="457200" y="2514600"/>
            <a:ext cx="3810000" cy="35814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7"/>
          <p:cNvSpPr>
            <a:spLocks noGrp="1"/>
          </p:cNvSpPr>
          <p:nvPr>
            <p:ph sz="quarter" idx="19"/>
          </p:nvPr>
        </p:nvSpPr>
        <p:spPr>
          <a:xfrm>
            <a:off x="4874004" y="759414"/>
            <a:ext cx="3810000" cy="5336586"/>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4800" y="2"/>
            <a:ext cx="1219200" cy="759412"/>
          </a:xfrm>
          <a:prstGeom prst="rect">
            <a:avLst/>
          </a:prstGeom>
        </p:spPr>
      </p:pic>
      <p:sp>
        <p:nvSpPr>
          <p:cNvPr id="13" name="TextBox 12"/>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164362691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idx="1"/>
          </p:nvPr>
        </p:nvSpPr>
        <p:spPr/>
        <p:txBody>
          <a:bodyPr/>
          <a:lstStyle>
            <a:lvl1pPr>
              <a:buClr>
                <a:srgbClr val="007FA3"/>
              </a:buClr>
              <a:buSzPct val="100000"/>
              <a:defRPr sz="1400"/>
            </a:lvl1pPr>
            <a:lvl2pPr>
              <a:buClr>
                <a:srgbClr val="007FA3"/>
              </a:buClr>
              <a:defRPr sz="1400"/>
            </a:lvl2pPr>
            <a:lvl3pPr>
              <a:buClr>
                <a:srgbClr val="007FA3"/>
              </a:buClr>
              <a:defRPr sz="1400"/>
            </a:lvl3pPr>
            <a:lvl4pPr>
              <a:buClr>
                <a:srgbClr val="007FA3"/>
              </a:buClr>
              <a:defRPr sz="1400"/>
            </a:lvl4pPr>
            <a:lvl5pPr>
              <a:buClr>
                <a:srgbClr val="007FA3"/>
              </a:buClr>
              <a:defRPr sz="1400"/>
            </a:lvl5pPr>
            <a:lvl6pPr>
              <a:buClr>
                <a:srgbClr val="007FA3"/>
              </a:buClr>
              <a:defRPr sz="1400"/>
            </a:lvl6pPr>
            <a:lvl7pPr>
              <a:buClr>
                <a:srgbClr val="007FA3"/>
              </a:buClr>
              <a:defRPr sz="1400"/>
            </a:lvl7pPr>
            <a:lvl8pPr>
              <a:buClr>
                <a:srgbClr val="007FA3"/>
              </a:buClr>
              <a:defRPr sz="1400"/>
            </a:lvl8pPr>
            <a:lvl9pPr>
              <a:buClr>
                <a:srgbClr val="007FA3"/>
              </a:buCl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5481163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AMPLE + TITTLE +CONTENT">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
        <p:nvSpPr>
          <p:cNvPr id="7"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1"/>
            <a:ext cx="4114800" cy="2743200"/>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3" name="Picture Placeholder 2"/>
          <p:cNvSpPr>
            <a:spLocks noGrp="1"/>
          </p:cNvSpPr>
          <p:nvPr>
            <p:ph type="pic" sz="quarter" idx="17"/>
          </p:nvPr>
        </p:nvSpPr>
        <p:spPr>
          <a:xfrm>
            <a:off x="4800600" y="1676400"/>
            <a:ext cx="3886200" cy="2667000"/>
          </a:xfrm>
        </p:spPr>
        <p:txBody>
          <a:bodyPr/>
          <a:lstStyle/>
          <a:p>
            <a:endParaRPr lang="en-US" dirty="0"/>
          </a:p>
        </p:txBody>
      </p:sp>
    </p:spTree>
    <p:extLst>
      <p:ext uri="{BB962C8B-B14F-4D97-AF65-F5344CB8AC3E}">
        <p14:creationId xmlns:p14="http://schemas.microsoft.com/office/powerpoint/2010/main" val="417565111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_EXAMPLE + TITTLE + 2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600200"/>
            <a:ext cx="4114800" cy="449579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3" name="Picture Placeholder 2"/>
          <p:cNvSpPr>
            <a:spLocks noGrp="1"/>
          </p:cNvSpPr>
          <p:nvPr>
            <p:ph type="pic" sz="quarter" idx="17"/>
          </p:nvPr>
        </p:nvSpPr>
        <p:spPr>
          <a:xfrm>
            <a:off x="4800600" y="1676400"/>
            <a:ext cx="3886200" cy="4419600"/>
          </a:xfrm>
        </p:spPr>
        <p:txBody>
          <a:bodyPr/>
          <a:lstStyle/>
          <a:p>
            <a:endParaRPr lang="en-US" dirty="0"/>
          </a:p>
        </p:txBody>
      </p:sp>
      <p:sp>
        <p:nvSpPr>
          <p:cNvPr id="13"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1"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Tree>
    <p:extLst>
      <p:ext uri="{BB962C8B-B14F-4D97-AF65-F5344CB8AC3E}">
        <p14:creationId xmlns:p14="http://schemas.microsoft.com/office/powerpoint/2010/main" val="61105056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xample + Tittle +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600200"/>
            <a:ext cx="8229600" cy="449579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5"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8"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Tree>
    <p:extLst>
      <p:ext uri="{BB962C8B-B14F-4D97-AF65-F5344CB8AC3E}">
        <p14:creationId xmlns:p14="http://schemas.microsoft.com/office/powerpoint/2010/main" val="293561851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Example +  sub tittle and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2209800"/>
            <a:ext cx="4114800" cy="250806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14" name="Picture Placeholder 2"/>
          <p:cNvSpPr>
            <a:spLocks noGrp="1"/>
          </p:cNvSpPr>
          <p:nvPr>
            <p:ph type="pic" sz="quarter" idx="18"/>
          </p:nvPr>
        </p:nvSpPr>
        <p:spPr>
          <a:xfrm>
            <a:off x="4800600" y="2209800"/>
            <a:ext cx="3886200" cy="2438400"/>
          </a:xfrm>
        </p:spPr>
        <p:txBody>
          <a:bodyPr/>
          <a:lstStyle/>
          <a:p>
            <a:endParaRPr lang="en-US" dirty="0"/>
          </a:p>
        </p:txBody>
      </p:sp>
      <p:sp>
        <p:nvSpPr>
          <p:cNvPr id="15" name="Learning Objectives Placeholder 6"/>
          <p:cNvSpPr>
            <a:spLocks noGrp="1"/>
          </p:cNvSpPr>
          <p:nvPr>
            <p:ph type="body" sz="quarter" idx="13" hasCustomPrompt="1"/>
          </p:nvPr>
        </p:nvSpPr>
        <p:spPr>
          <a:xfrm>
            <a:off x="457200" y="143283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EXAMPLE 1.1</a:t>
            </a:r>
            <a:endParaRPr lang="en-US" dirty="0"/>
          </a:p>
        </p:txBody>
      </p:sp>
      <p:sp>
        <p:nvSpPr>
          <p:cNvPr id="16" name="Learning Objectives Placeholder 6"/>
          <p:cNvSpPr>
            <a:spLocks noGrp="1"/>
          </p:cNvSpPr>
          <p:nvPr>
            <p:ph type="body" sz="quarter" idx="17" hasCustomPrompt="1"/>
          </p:nvPr>
        </p:nvSpPr>
        <p:spPr>
          <a:xfrm>
            <a:off x="457200" y="183560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edit Tittle</a:t>
            </a:r>
            <a:endParaRPr lang="en-US" dirty="0"/>
          </a:p>
        </p:txBody>
      </p:sp>
      <p:sp>
        <p:nvSpPr>
          <p:cNvPr id="1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198252859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Example +  sub tittle and 1 Content ">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2209800"/>
            <a:ext cx="8229600" cy="3886200"/>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Learning Objectives Placeholder 6"/>
          <p:cNvSpPr>
            <a:spLocks noGrp="1"/>
          </p:cNvSpPr>
          <p:nvPr>
            <p:ph type="body" sz="quarter" idx="13" hasCustomPrompt="1"/>
          </p:nvPr>
        </p:nvSpPr>
        <p:spPr>
          <a:xfrm>
            <a:off x="457200" y="143283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EXAMPLE 1.1</a:t>
            </a:r>
            <a:endParaRPr lang="en-US" dirty="0"/>
          </a:p>
        </p:txBody>
      </p:sp>
      <p:sp>
        <p:nvSpPr>
          <p:cNvPr id="14" name="Learning Objectives Placeholder 6"/>
          <p:cNvSpPr>
            <a:spLocks noGrp="1"/>
          </p:cNvSpPr>
          <p:nvPr>
            <p:ph type="body" sz="quarter" idx="17" hasCustomPrompt="1"/>
          </p:nvPr>
        </p:nvSpPr>
        <p:spPr>
          <a:xfrm>
            <a:off x="457200" y="183560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edit Tittle</a:t>
            </a:r>
            <a:endParaRPr lang="en-US" dirty="0"/>
          </a:p>
        </p:txBody>
      </p:sp>
      <p:sp>
        <p:nvSpPr>
          <p:cNvPr id="16"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04359372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Example +  sub tittle and picture">
    <p:spTree>
      <p:nvGrpSpPr>
        <p:cNvPr id="1" name=""/>
        <p:cNvGrpSpPr/>
        <p:nvPr/>
      </p:nvGrpSpPr>
      <p:grpSpPr>
        <a:xfrm>
          <a:off x="0" y="0"/>
          <a:ext cx="0" cy="0"/>
          <a:chOff x="0" y="0"/>
          <a:chExt cx="0" cy="0"/>
        </a:xfrm>
      </p:grpSpPr>
      <p:sp>
        <p:nvSpPr>
          <p:cNvPr id="7" name="Learning Objectives Placeholder 6"/>
          <p:cNvSpPr>
            <a:spLocks noGrp="1"/>
          </p:cNvSpPr>
          <p:nvPr>
            <p:ph type="body" sz="quarter" idx="13" hasCustomPrompt="1"/>
          </p:nvPr>
        </p:nvSpPr>
        <p:spPr>
          <a:xfrm>
            <a:off x="457200" y="143283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EXAMPLE 1.1</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3" name="Learning Objectives Placeholder 6"/>
          <p:cNvSpPr>
            <a:spLocks noGrp="1"/>
          </p:cNvSpPr>
          <p:nvPr>
            <p:ph type="body" sz="quarter" idx="17" hasCustomPrompt="1"/>
          </p:nvPr>
        </p:nvSpPr>
        <p:spPr>
          <a:xfrm>
            <a:off x="457200" y="183560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edit Tittle</a:t>
            </a:r>
            <a:endParaRPr lang="en-US" dirty="0"/>
          </a:p>
        </p:txBody>
      </p:sp>
      <p:sp>
        <p:nvSpPr>
          <p:cNvPr id="3" name="Picture Placeholder 2"/>
          <p:cNvSpPr>
            <a:spLocks noGrp="1"/>
          </p:cNvSpPr>
          <p:nvPr>
            <p:ph type="pic" sz="quarter" idx="18"/>
          </p:nvPr>
        </p:nvSpPr>
        <p:spPr>
          <a:xfrm>
            <a:off x="457200" y="2209800"/>
            <a:ext cx="8229600" cy="3886200"/>
          </a:xfrm>
        </p:spPr>
        <p:txBody>
          <a:bodyPr/>
          <a:lstStyle/>
          <a:p>
            <a:endParaRPr lang="en-US" dirty="0"/>
          </a:p>
        </p:txBody>
      </p:sp>
      <p:sp>
        <p:nvSpPr>
          <p:cNvPr id="10"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95109062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2260836"/>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6" name="Table Placeholder 5"/>
          <p:cNvSpPr>
            <a:spLocks noGrp="1"/>
          </p:cNvSpPr>
          <p:nvPr>
            <p:ph type="tbl" sz="quarter" idx="17"/>
          </p:nvPr>
        </p:nvSpPr>
        <p:spPr>
          <a:xfrm>
            <a:off x="4876800" y="1987550"/>
            <a:ext cx="3810000" cy="2355850"/>
          </a:xfrm>
        </p:spPr>
        <p:txBody>
          <a:bodyPr/>
          <a:lstStyle/>
          <a:p>
            <a:endParaRPr lang="en-US" dirty="0"/>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68868562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tle and 1 Content 1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638300"/>
            <a:ext cx="3962400" cy="4525963"/>
          </a:xfrm>
        </p:spPr>
        <p:txBody>
          <a:bodyPr/>
          <a:lstStyle>
            <a:lvl1pPr marL="118872" indent="-118872">
              <a:buClr>
                <a:srgbClr val="007FA3"/>
              </a:buClr>
              <a:buSzPct val="25000"/>
              <a:defRPr sz="1400"/>
            </a:lvl1pPr>
            <a:lvl2pPr marL="569913" indent="-285750">
              <a:buClr>
                <a:srgbClr val="007FA3"/>
              </a:buClr>
              <a:defRPr sz="1400"/>
            </a:lvl2pPr>
            <a:lvl3pPr>
              <a:buClr>
                <a:srgbClr val="007FA3"/>
              </a:buClr>
              <a:defRPr sz="1400"/>
            </a:lvl3pPr>
            <a:lvl4pPr>
              <a:buClr>
                <a:srgbClr val="007FA3"/>
              </a:buClr>
              <a:defRPr sz="1400"/>
            </a:lvl4pPr>
            <a:lvl5pPr>
              <a:buClr>
                <a:srgbClr val="007FA3"/>
              </a:buClr>
              <a:defRPr sz="1400"/>
            </a:lvl5pPr>
            <a:lvl6pPr>
              <a:buClr>
                <a:srgbClr val="007FA3"/>
              </a:buClr>
              <a:defRPr sz="14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5" name="Picture Placeholder 4"/>
          <p:cNvSpPr>
            <a:spLocks noGrp="1"/>
          </p:cNvSpPr>
          <p:nvPr>
            <p:ph type="pic" sz="quarter" idx="13"/>
          </p:nvPr>
        </p:nvSpPr>
        <p:spPr>
          <a:xfrm>
            <a:off x="4572000" y="1638300"/>
            <a:ext cx="4114800" cy="4419600"/>
          </a:xfrm>
        </p:spPr>
        <p:txBody>
          <a:bodyPr/>
          <a:lstStyle/>
          <a:p>
            <a:endParaRPr lang="en-US" dirty="0"/>
          </a:p>
        </p:txBody>
      </p:sp>
      <p:sp>
        <p:nvSpPr>
          <p:cNvPr id="9"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412249950"/>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2163763"/>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032127114"/>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2192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57200" y="2895601"/>
            <a:ext cx="8229600" cy="11430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9" name="Content Placeholder 2"/>
          <p:cNvSpPr>
            <a:spLocks noGrp="1"/>
          </p:cNvSpPr>
          <p:nvPr>
            <p:ph idx="14"/>
          </p:nvPr>
        </p:nvSpPr>
        <p:spPr>
          <a:xfrm>
            <a:off x="457200" y="4191000"/>
            <a:ext cx="8229600" cy="11430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4027416614"/>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mor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114800" cy="2031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57200" y="4191001"/>
            <a:ext cx="4114800" cy="1904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5" name="Picture Placeholder 4"/>
          <p:cNvSpPr>
            <a:spLocks noGrp="1"/>
          </p:cNvSpPr>
          <p:nvPr>
            <p:ph type="pic" sz="quarter" idx="14"/>
          </p:nvPr>
        </p:nvSpPr>
        <p:spPr>
          <a:xfrm>
            <a:off x="4648200" y="1676400"/>
            <a:ext cx="4038600" cy="1981200"/>
          </a:xfrm>
        </p:spPr>
        <p:txBody>
          <a:bodyPr/>
          <a:lstStyle/>
          <a:p>
            <a:endParaRPr lang="en-US" dirty="0"/>
          </a:p>
        </p:txBody>
      </p:sp>
      <p:sp>
        <p:nvSpPr>
          <p:cNvPr id="13" name="Picture Placeholder 4"/>
          <p:cNvSpPr>
            <a:spLocks noGrp="1"/>
          </p:cNvSpPr>
          <p:nvPr>
            <p:ph type="pic" sz="quarter" idx="15"/>
          </p:nvPr>
        </p:nvSpPr>
        <p:spPr>
          <a:xfrm>
            <a:off x="4648200" y="4191000"/>
            <a:ext cx="4038600" cy="1905000"/>
          </a:xfrm>
        </p:spPr>
        <p:txBody>
          <a:bodyPr/>
          <a:lstStyle/>
          <a:p>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252581305"/>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 Tittle and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87550"/>
            <a:ext cx="8229600" cy="4138613"/>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0" name="Learning Objectives Placeholder 6"/>
          <p:cNvSpPr>
            <a:spLocks noGrp="1"/>
          </p:cNvSpPr>
          <p:nvPr>
            <p:ph type="body" sz="quarter" idx="13" hasCustomPrompt="1"/>
          </p:nvPr>
        </p:nvSpPr>
        <p:spPr>
          <a:xfrm>
            <a:off x="457200" y="143555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1"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153161554"/>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4232948"/>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6" name="Table Placeholder 5"/>
          <p:cNvSpPr>
            <a:spLocks noGrp="1"/>
          </p:cNvSpPr>
          <p:nvPr>
            <p:ph type="tbl" sz="quarter" idx="17"/>
          </p:nvPr>
        </p:nvSpPr>
        <p:spPr>
          <a:xfrm>
            <a:off x="4876800" y="1987550"/>
            <a:ext cx="3810000" cy="4184650"/>
          </a:xfrm>
        </p:spPr>
        <p:txBody>
          <a:bodyPr/>
          <a:lstStyle/>
          <a:p>
            <a:endParaRPr lang="en-US" dirty="0"/>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573757811"/>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803948"/>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6" name="Table Placeholder 5"/>
          <p:cNvSpPr>
            <a:spLocks noGrp="1"/>
          </p:cNvSpPr>
          <p:nvPr>
            <p:ph type="tbl" sz="quarter" idx="17"/>
          </p:nvPr>
        </p:nvSpPr>
        <p:spPr>
          <a:xfrm>
            <a:off x="4876800" y="1987550"/>
            <a:ext cx="3810000" cy="4184650"/>
          </a:xfrm>
        </p:spPr>
        <p:txBody>
          <a:bodyPr/>
          <a:lstStyle/>
          <a:p>
            <a:endParaRPr lang="en-US" dirty="0"/>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sz="quarter" idx="18"/>
          </p:nvPr>
        </p:nvSpPr>
        <p:spPr>
          <a:xfrm>
            <a:off x="457200" y="2819400"/>
            <a:ext cx="4114800" cy="129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Content Placeholder 4"/>
          <p:cNvSpPr>
            <a:spLocks noGrp="1"/>
          </p:cNvSpPr>
          <p:nvPr>
            <p:ph sz="quarter" idx="19"/>
          </p:nvPr>
        </p:nvSpPr>
        <p:spPr>
          <a:xfrm>
            <a:off x="457200" y="4267200"/>
            <a:ext cx="4114800" cy="1524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993454537"/>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1032548"/>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6" name="Table Placeholder 5"/>
          <p:cNvSpPr>
            <a:spLocks noGrp="1"/>
          </p:cNvSpPr>
          <p:nvPr>
            <p:ph type="tbl" sz="quarter" idx="17"/>
          </p:nvPr>
        </p:nvSpPr>
        <p:spPr>
          <a:xfrm>
            <a:off x="4876800" y="1987550"/>
            <a:ext cx="3810000" cy="4184650"/>
          </a:xfrm>
        </p:spPr>
        <p:txBody>
          <a:bodyPr/>
          <a:lstStyle/>
          <a:p>
            <a:endParaRPr lang="en-US" dirty="0"/>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sz="quarter" idx="18"/>
          </p:nvPr>
        </p:nvSpPr>
        <p:spPr>
          <a:xfrm>
            <a:off x="457200" y="3124200"/>
            <a:ext cx="4114800" cy="1828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771299906"/>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4232948"/>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Picture Placeholder 2"/>
          <p:cNvSpPr>
            <a:spLocks noGrp="1"/>
          </p:cNvSpPr>
          <p:nvPr>
            <p:ph type="pic" sz="quarter" idx="15"/>
          </p:nvPr>
        </p:nvSpPr>
        <p:spPr>
          <a:xfrm>
            <a:off x="4648200" y="1905000"/>
            <a:ext cx="4038600" cy="4267200"/>
          </a:xfrm>
        </p:spPr>
        <p:txBody>
          <a:bodyPr/>
          <a:lstStyle/>
          <a:p>
            <a:endParaRPr lang="en-US" dirty="0"/>
          </a:p>
        </p:txBody>
      </p:sp>
    </p:spTree>
    <p:extLst>
      <p:ext uri="{BB962C8B-B14F-4D97-AF65-F5344CB8AC3E}">
        <p14:creationId xmlns:p14="http://schemas.microsoft.com/office/powerpoint/2010/main" val="1413505586"/>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and mor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114800" cy="2031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57200" y="4191001"/>
            <a:ext cx="4114800" cy="1904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5" name="Picture Placeholder 4"/>
          <p:cNvSpPr>
            <a:spLocks noGrp="1"/>
          </p:cNvSpPr>
          <p:nvPr>
            <p:ph type="pic" sz="quarter" idx="14"/>
          </p:nvPr>
        </p:nvSpPr>
        <p:spPr>
          <a:xfrm>
            <a:off x="4648200" y="1676400"/>
            <a:ext cx="4038600" cy="1981200"/>
          </a:xfrm>
        </p:spPr>
        <p:txBody>
          <a:bodyPr/>
          <a:lstStyle/>
          <a:p>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8" name="Table Placeholder 7"/>
          <p:cNvSpPr>
            <a:spLocks noGrp="1"/>
          </p:cNvSpPr>
          <p:nvPr>
            <p:ph type="tbl" sz="quarter" idx="15"/>
          </p:nvPr>
        </p:nvSpPr>
        <p:spPr>
          <a:xfrm>
            <a:off x="4572000" y="4114800"/>
            <a:ext cx="4114800" cy="2057400"/>
          </a:xfrm>
        </p:spPr>
        <p:txBody>
          <a:bodyPr/>
          <a:lstStyle/>
          <a:p>
            <a:endParaRPr lang="en-US" dirty="0"/>
          </a:p>
        </p:txBody>
      </p:sp>
    </p:spTree>
    <p:extLst>
      <p:ext uri="{BB962C8B-B14F-4D97-AF65-F5344CB8AC3E}">
        <p14:creationId xmlns:p14="http://schemas.microsoft.com/office/powerpoint/2010/main" val="98194949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itle and mor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4114800" cy="11430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45325" y="2743200"/>
            <a:ext cx="4114800" cy="9905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5" name="Picture Placeholder 4"/>
          <p:cNvSpPr>
            <a:spLocks noGrp="1"/>
          </p:cNvSpPr>
          <p:nvPr>
            <p:ph type="pic" sz="quarter" idx="14"/>
          </p:nvPr>
        </p:nvSpPr>
        <p:spPr>
          <a:xfrm>
            <a:off x="4648200" y="1676400"/>
            <a:ext cx="4038600" cy="1981200"/>
          </a:xfrm>
        </p:spPr>
        <p:txBody>
          <a:bodyPr/>
          <a:lstStyle/>
          <a:p>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9" name="Content Placeholder 2"/>
          <p:cNvSpPr>
            <a:spLocks noGrp="1"/>
          </p:cNvSpPr>
          <p:nvPr>
            <p:ph idx="16"/>
          </p:nvPr>
        </p:nvSpPr>
        <p:spPr>
          <a:xfrm>
            <a:off x="457200" y="3733800"/>
            <a:ext cx="4114800" cy="9905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0" name="Content Placeholder 2"/>
          <p:cNvSpPr>
            <a:spLocks noGrp="1"/>
          </p:cNvSpPr>
          <p:nvPr>
            <p:ph idx="17"/>
          </p:nvPr>
        </p:nvSpPr>
        <p:spPr>
          <a:xfrm>
            <a:off x="469075" y="4724400"/>
            <a:ext cx="4114800" cy="9905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4" name="Picture Placeholder 3"/>
          <p:cNvSpPr>
            <a:spLocks noGrp="1"/>
          </p:cNvSpPr>
          <p:nvPr>
            <p:ph type="pic" sz="quarter" idx="18"/>
          </p:nvPr>
        </p:nvSpPr>
        <p:spPr>
          <a:xfrm>
            <a:off x="4648200" y="3733800"/>
            <a:ext cx="4038600" cy="2438400"/>
          </a:xfrm>
        </p:spPr>
        <p:txBody>
          <a:bodyPr/>
          <a:lstStyle/>
          <a:p>
            <a:endParaRPr lang="en-US" dirty="0"/>
          </a:p>
        </p:txBody>
      </p:sp>
    </p:spTree>
    <p:extLst>
      <p:ext uri="{BB962C8B-B14F-4D97-AF65-F5344CB8AC3E}">
        <p14:creationId xmlns:p14="http://schemas.microsoft.com/office/powerpoint/2010/main" val="2291543885"/>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idx="1"/>
          </p:nvPr>
        </p:nvSpPr>
        <p:spPr>
          <a:xfrm>
            <a:off x="457200" y="1600201"/>
            <a:ext cx="8229600" cy="457200"/>
          </a:xfrm>
        </p:spPr>
        <p:txBody>
          <a:bodyPr/>
          <a:lstStyle>
            <a:lvl1pPr>
              <a:buClr>
                <a:srgbClr val="007FA3"/>
              </a:buClr>
              <a:buSzPct val="100000"/>
              <a:defRPr sz="1400"/>
            </a:lvl1pPr>
            <a:lvl2pPr>
              <a:buClr>
                <a:srgbClr val="007FA3"/>
              </a:buClr>
              <a:defRPr sz="1400"/>
            </a:lvl2pPr>
            <a:lvl3pPr>
              <a:buClr>
                <a:srgbClr val="007FA3"/>
              </a:buClr>
              <a:defRPr sz="1400"/>
            </a:lvl3pPr>
            <a:lvl4pPr>
              <a:buClr>
                <a:srgbClr val="007FA3"/>
              </a:buClr>
              <a:defRPr sz="1400"/>
            </a:lvl4pPr>
            <a:lvl5pPr>
              <a:buClr>
                <a:srgbClr val="007FA3"/>
              </a:buClr>
              <a:defRPr sz="1400"/>
            </a:lvl5pPr>
            <a:lvl6pPr>
              <a:buClr>
                <a:srgbClr val="007FA3"/>
              </a:buClr>
              <a:defRPr sz="1400"/>
            </a:lvl6pPr>
            <a:lvl7pPr>
              <a:buClr>
                <a:srgbClr val="007FA3"/>
              </a:buClr>
              <a:defRPr sz="1400"/>
            </a:lvl7pPr>
            <a:lvl8pPr>
              <a:buClr>
                <a:srgbClr val="007FA3"/>
              </a:buClr>
              <a:defRPr sz="1400"/>
            </a:lvl8pPr>
            <a:lvl9pPr>
              <a:buClr>
                <a:srgbClr val="007FA3"/>
              </a:buCl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4" name="Content Placeholder 3"/>
          <p:cNvSpPr>
            <a:spLocks noGrp="1"/>
          </p:cNvSpPr>
          <p:nvPr>
            <p:ph sz="quarter" idx="13"/>
          </p:nvPr>
        </p:nvSpPr>
        <p:spPr>
          <a:xfrm>
            <a:off x="457200" y="2209800"/>
            <a:ext cx="8229600" cy="68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Content Placeholder 6"/>
          <p:cNvSpPr>
            <a:spLocks noGrp="1"/>
          </p:cNvSpPr>
          <p:nvPr>
            <p:ph sz="quarter" idx="14"/>
          </p:nvPr>
        </p:nvSpPr>
        <p:spPr>
          <a:xfrm>
            <a:off x="457200" y="3124200"/>
            <a:ext cx="8229600" cy="76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2" name="Content Placeholder 11"/>
          <p:cNvSpPr>
            <a:spLocks noGrp="1"/>
          </p:cNvSpPr>
          <p:nvPr>
            <p:ph sz="quarter" idx="15"/>
          </p:nvPr>
        </p:nvSpPr>
        <p:spPr>
          <a:xfrm>
            <a:off x="457200" y="4114800"/>
            <a:ext cx="8229600" cy="68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4" name="Content Placeholder 13"/>
          <p:cNvSpPr>
            <a:spLocks noGrp="1"/>
          </p:cNvSpPr>
          <p:nvPr>
            <p:ph sz="quarter" idx="16"/>
          </p:nvPr>
        </p:nvSpPr>
        <p:spPr>
          <a:xfrm>
            <a:off x="457200" y="4953000"/>
            <a:ext cx="8229600" cy="99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02078890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ctrTitle" hasCustomPrompt="1"/>
          </p:nvPr>
        </p:nvSpPr>
        <p:spPr>
          <a:xfrm>
            <a:off x="448811" y="762000"/>
            <a:ext cx="4800600" cy="2838451"/>
          </a:xfrm>
        </p:spPr>
        <p:txBody>
          <a:bodyPr anchor="b">
            <a:noAutofit/>
          </a:bodyPr>
          <a:lstStyle>
            <a:lvl1pPr algn="l">
              <a:defRPr sz="3600">
                <a:solidFill>
                  <a:schemeClr val="bg1"/>
                </a:solidFill>
              </a:defRPr>
            </a:lvl1pPr>
          </a:lstStyle>
          <a:p>
            <a:r>
              <a:rPr lang="en-US" dirty="0"/>
              <a:t>Click to edit Master </a:t>
            </a:r>
            <a:r>
              <a:rPr lang="en-US" dirty="0" smtClean="0"/>
              <a:t/>
            </a:r>
            <a:br>
              <a:rPr lang="en-US" dirty="0" smtClean="0"/>
            </a:br>
            <a:r>
              <a:rPr lang="en-US" dirty="0" smtClean="0"/>
              <a:t>title </a:t>
            </a:r>
            <a:r>
              <a:rPr lang="en-US" dirty="0"/>
              <a:t>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5486400" y="1600200"/>
            <a:ext cx="3200400" cy="4495800"/>
          </a:xfrm>
        </p:spPr>
        <p:txBody>
          <a:bodyPr/>
          <a:lstStyle/>
          <a:p>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968258399"/>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4" name="Title 10"/>
          <p:cNvSpPr>
            <a:spLocks noGrp="1"/>
          </p:cNvSpPr>
          <p:nvPr>
            <p:ph type="title" hasCustomPrompt="1"/>
          </p:nvPr>
        </p:nvSpPr>
        <p:spPr>
          <a:xfrm>
            <a:off x="457200" y="260288"/>
            <a:ext cx="7315200" cy="622828"/>
          </a:xfrm>
        </p:spPr>
        <p:txBody>
          <a:bodyPr anchor="t"/>
          <a:lstStyle>
            <a:lvl1pPr>
              <a:defRPr sz="3400">
                <a:latin typeface="Times New Roman" panose="02020603050405020304" pitchFamily="18" charset="0"/>
                <a:cs typeface="Times New Roman" panose="02020603050405020304" pitchFamily="18" charset="0"/>
              </a:defRPr>
            </a:lvl1pPr>
          </a:lstStyle>
          <a:p>
            <a:r>
              <a:rPr lang="en-US" dirty="0" smtClean="0"/>
              <a:t>CHAPTER 1</a:t>
            </a:r>
            <a:endParaRPr lang="en-US" dirty="0"/>
          </a:p>
        </p:txBody>
      </p:sp>
      <p:sp>
        <p:nvSpPr>
          <p:cNvPr id="18" name="Text Placeholder 6"/>
          <p:cNvSpPr>
            <a:spLocks noGrp="1"/>
          </p:cNvSpPr>
          <p:nvPr>
            <p:ph type="body" sz="quarter" idx="13" hasCustomPrompt="1"/>
          </p:nvPr>
        </p:nvSpPr>
        <p:spPr>
          <a:xfrm>
            <a:off x="457200" y="854978"/>
            <a:ext cx="8229600" cy="838199"/>
          </a:xfrm>
        </p:spPr>
        <p:txBody>
          <a:bodyPr>
            <a:noAutofit/>
          </a:bodyPr>
          <a:lstStyle>
            <a:lvl1pPr marL="0" indent="0">
              <a:spcBef>
                <a:spcPts val="0"/>
              </a:spcBef>
              <a:buNone/>
              <a:defRPr sz="3000" b="1">
                <a:solidFill>
                  <a:srgbClr val="007FA3"/>
                </a:solidFill>
                <a:latin typeface="Calibri" panose="020F0502020204030204"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p>
          <a:p>
            <a:pPr lvl="0"/>
            <a:endParaRPr lang="en-US" dirty="0"/>
          </a:p>
        </p:txBody>
      </p:sp>
      <p:sp>
        <p:nvSpPr>
          <p:cNvPr id="6" name="Content Placeholder 5"/>
          <p:cNvSpPr>
            <a:spLocks noGrp="1"/>
          </p:cNvSpPr>
          <p:nvPr>
            <p:ph sz="quarter" idx="17"/>
          </p:nvPr>
        </p:nvSpPr>
        <p:spPr>
          <a:xfrm>
            <a:off x="457200" y="1600200"/>
            <a:ext cx="3810000" cy="44958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5"/>
          <p:cNvSpPr>
            <a:spLocks noGrp="1"/>
          </p:cNvSpPr>
          <p:nvPr>
            <p:ph sz="quarter" idx="18"/>
          </p:nvPr>
        </p:nvSpPr>
        <p:spPr>
          <a:xfrm>
            <a:off x="4875402" y="1600200"/>
            <a:ext cx="3810000" cy="44958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4800" y="2"/>
            <a:ext cx="1219200" cy="759412"/>
          </a:xfrm>
          <a:prstGeom prst="rect">
            <a:avLst/>
          </a:prstGeom>
        </p:spPr>
      </p:pic>
      <p:sp>
        <p:nvSpPr>
          <p:cNvPr id="17" name="TextBox 16"/>
          <p:cNvSpPr txBox="1"/>
          <p:nvPr userDrawn="1"/>
        </p:nvSpPr>
        <p:spPr>
          <a:xfrm>
            <a:off x="1600200" y="6400800"/>
            <a:ext cx="7162800" cy="200055"/>
          </a:xfrm>
          <a:prstGeom prst="rect">
            <a:avLst/>
          </a:prstGeom>
          <a:noFill/>
        </p:spPr>
        <p:txBody>
          <a:bodyPr wrap="square" rtlCol="0">
            <a:spAutoFit/>
          </a:bodyPr>
          <a:lstStyle/>
          <a:p>
            <a:pPr algn="r">
              <a:defRPr/>
            </a:pP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7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439612368"/>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60288"/>
            <a:ext cx="7315200" cy="622828"/>
          </a:xfrm>
        </p:spPr>
        <p:txBody>
          <a:bodyPr anchor="t"/>
          <a:lstStyle>
            <a:lvl1pPr>
              <a:defRPr sz="3400">
                <a:latin typeface="Times New Roman" panose="02020603050405020304" pitchFamily="18" charset="0"/>
                <a:cs typeface="Times New Roman" panose="02020603050405020304" pitchFamily="18" charset="0"/>
              </a:defRPr>
            </a:lvl1pPr>
          </a:lstStyle>
          <a:p>
            <a:r>
              <a:rPr lang="en-US" dirty="0" smtClean="0"/>
              <a:t>CHAPTER 1</a:t>
            </a:r>
            <a:endParaRPr lang="en-US" dirty="0"/>
          </a:p>
        </p:txBody>
      </p:sp>
      <p:sp>
        <p:nvSpPr>
          <p:cNvPr id="7" name="Text Placeholder 6"/>
          <p:cNvSpPr>
            <a:spLocks noGrp="1"/>
          </p:cNvSpPr>
          <p:nvPr>
            <p:ph type="body" sz="quarter" idx="13" hasCustomPrompt="1"/>
          </p:nvPr>
        </p:nvSpPr>
        <p:spPr>
          <a:xfrm>
            <a:off x="457200" y="854978"/>
            <a:ext cx="4114800" cy="1507222"/>
          </a:xfrm>
        </p:spPr>
        <p:txBody>
          <a:bodyPr>
            <a:noAutofit/>
          </a:bodyPr>
          <a:lstStyle>
            <a:lvl1pPr marL="0" indent="0">
              <a:spcBef>
                <a:spcPts val="0"/>
              </a:spcBef>
              <a:buNone/>
              <a:defRPr sz="3000" b="1">
                <a:solidFill>
                  <a:srgbClr val="007FA3"/>
                </a:solidFill>
                <a:latin typeface="Calibri" panose="020F0502020204030204"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p>
          <a:p>
            <a:pPr lvl="0"/>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Content Placeholder 7"/>
          <p:cNvSpPr>
            <a:spLocks noGrp="1"/>
          </p:cNvSpPr>
          <p:nvPr>
            <p:ph sz="quarter" idx="18"/>
          </p:nvPr>
        </p:nvSpPr>
        <p:spPr>
          <a:xfrm>
            <a:off x="457200" y="2514600"/>
            <a:ext cx="3810000" cy="3581400"/>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Content Placeholder 7"/>
          <p:cNvSpPr>
            <a:spLocks noGrp="1"/>
          </p:cNvSpPr>
          <p:nvPr>
            <p:ph sz="quarter" idx="19"/>
          </p:nvPr>
        </p:nvSpPr>
        <p:spPr>
          <a:xfrm>
            <a:off x="4874004" y="759414"/>
            <a:ext cx="3810000" cy="5336586"/>
          </a:xfrm>
        </p:spPr>
        <p:txBody>
          <a:bodyPr/>
          <a:lstStyle>
            <a:lvl1pPr>
              <a:defRPr sz="1400"/>
            </a:lvl1pPr>
            <a:lvl2pPr>
              <a:defRPr sz="1400"/>
            </a:lvl2pPr>
            <a:lvl3pPr>
              <a:defRPr sz="14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4800" y="2"/>
            <a:ext cx="1219200" cy="759412"/>
          </a:xfrm>
          <a:prstGeom prst="rect">
            <a:avLst/>
          </a:prstGeom>
        </p:spPr>
      </p:pic>
      <p:sp>
        <p:nvSpPr>
          <p:cNvPr id="17" name="TextBox 16"/>
          <p:cNvSpPr txBox="1"/>
          <p:nvPr userDrawn="1"/>
        </p:nvSpPr>
        <p:spPr>
          <a:xfrm>
            <a:off x="1600200" y="6400800"/>
            <a:ext cx="7162800" cy="200055"/>
          </a:xfrm>
          <a:prstGeom prst="rect">
            <a:avLst/>
          </a:prstGeom>
          <a:noFill/>
        </p:spPr>
        <p:txBody>
          <a:bodyPr wrap="square" rtlCol="0">
            <a:spAutoFit/>
          </a:bodyPr>
          <a:lstStyle/>
          <a:p>
            <a:pPr algn="r">
              <a:defRPr/>
            </a:pP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7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2227357917"/>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Content Placeholder 2"/>
          <p:cNvSpPr>
            <a:spLocks noGrp="1"/>
          </p:cNvSpPr>
          <p:nvPr>
            <p:ph idx="1"/>
          </p:nvPr>
        </p:nvSpPr>
        <p:spPr/>
        <p:txBody>
          <a:bodyPr/>
          <a:lstStyle>
            <a:lvl1pPr>
              <a:buClr>
                <a:srgbClr val="007FA3"/>
              </a:buClr>
              <a:buSzPct val="100000"/>
              <a:defRPr sz="1400"/>
            </a:lvl1pPr>
            <a:lvl2pPr>
              <a:buClr>
                <a:srgbClr val="007FA3"/>
              </a:buClr>
              <a:defRPr sz="1400"/>
            </a:lvl2pPr>
            <a:lvl3pPr>
              <a:buClr>
                <a:srgbClr val="007FA3"/>
              </a:buClr>
              <a:defRPr sz="1400"/>
            </a:lvl3pPr>
            <a:lvl4pPr>
              <a:buClr>
                <a:srgbClr val="007FA3"/>
              </a:buClr>
              <a:defRPr sz="1400"/>
            </a:lvl4pPr>
            <a:lvl5pPr>
              <a:buClr>
                <a:srgbClr val="007FA3"/>
              </a:buClr>
              <a:defRPr sz="1400"/>
            </a:lvl5pPr>
            <a:lvl6pPr>
              <a:buClr>
                <a:srgbClr val="007FA3"/>
              </a:buClr>
              <a:defRPr sz="1400"/>
            </a:lvl6pPr>
            <a:lvl7pPr>
              <a:buClr>
                <a:srgbClr val="007FA3"/>
              </a:buClr>
              <a:defRPr sz="1400"/>
            </a:lvl7pPr>
            <a:lvl8pPr>
              <a:buClr>
                <a:srgbClr val="007FA3"/>
              </a:buClr>
              <a:defRPr sz="1400"/>
            </a:lvl8pPr>
            <a:lvl9pPr>
              <a:buClr>
                <a:srgbClr val="007FA3"/>
              </a:buCl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6059293"/>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XAMPLE + TITTLE +CONTENT">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
        <p:nvSpPr>
          <p:cNvPr id="7"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1"/>
            <a:ext cx="4114800" cy="2743200"/>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3" name="Picture Placeholder 2"/>
          <p:cNvSpPr>
            <a:spLocks noGrp="1"/>
          </p:cNvSpPr>
          <p:nvPr>
            <p:ph type="pic" sz="quarter" idx="17"/>
          </p:nvPr>
        </p:nvSpPr>
        <p:spPr>
          <a:xfrm>
            <a:off x="4800600" y="1676400"/>
            <a:ext cx="3886200" cy="2667000"/>
          </a:xfrm>
        </p:spPr>
        <p:txBody>
          <a:bodyPr/>
          <a:lstStyle/>
          <a:p>
            <a:endParaRPr lang="en-US" dirty="0"/>
          </a:p>
        </p:txBody>
      </p:sp>
    </p:spTree>
    <p:extLst>
      <p:ext uri="{BB962C8B-B14F-4D97-AF65-F5344CB8AC3E}">
        <p14:creationId xmlns:p14="http://schemas.microsoft.com/office/powerpoint/2010/main" val="2366622107"/>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EXAMPLE + TITTLE +CONTENT">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
        <p:nvSpPr>
          <p:cNvPr id="7"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1"/>
            <a:ext cx="4114800" cy="205739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3657600"/>
            <a:ext cx="4114800" cy="23622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3" name="Picture Placeholder 2"/>
          <p:cNvSpPr>
            <a:spLocks noGrp="1"/>
          </p:cNvSpPr>
          <p:nvPr>
            <p:ph type="pic" sz="quarter" idx="17"/>
          </p:nvPr>
        </p:nvSpPr>
        <p:spPr>
          <a:xfrm>
            <a:off x="4800600" y="1600200"/>
            <a:ext cx="3886200" cy="2057400"/>
          </a:xfrm>
        </p:spPr>
        <p:txBody>
          <a:bodyPr/>
          <a:lstStyle/>
          <a:p>
            <a:endParaRPr lang="en-US" dirty="0"/>
          </a:p>
        </p:txBody>
      </p:sp>
      <p:sp>
        <p:nvSpPr>
          <p:cNvPr id="10" name="Picture Placeholder 2"/>
          <p:cNvSpPr>
            <a:spLocks noGrp="1"/>
          </p:cNvSpPr>
          <p:nvPr>
            <p:ph type="pic" sz="quarter" idx="18"/>
          </p:nvPr>
        </p:nvSpPr>
        <p:spPr>
          <a:xfrm>
            <a:off x="4800600" y="3581400"/>
            <a:ext cx="3886200" cy="2590800"/>
          </a:xfrm>
        </p:spPr>
        <p:txBody>
          <a:bodyPr/>
          <a:lstStyle/>
          <a:p>
            <a:endParaRPr lang="en-US" dirty="0"/>
          </a:p>
        </p:txBody>
      </p:sp>
    </p:spTree>
    <p:extLst>
      <p:ext uri="{BB962C8B-B14F-4D97-AF65-F5344CB8AC3E}">
        <p14:creationId xmlns:p14="http://schemas.microsoft.com/office/powerpoint/2010/main" val="790590983"/>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_EXAMPLE + TITTLE + 2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600200"/>
            <a:ext cx="4114800" cy="449579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3" name="Picture Placeholder 2"/>
          <p:cNvSpPr>
            <a:spLocks noGrp="1"/>
          </p:cNvSpPr>
          <p:nvPr>
            <p:ph type="pic" sz="quarter" idx="17"/>
          </p:nvPr>
        </p:nvSpPr>
        <p:spPr>
          <a:xfrm>
            <a:off x="4800600" y="1676400"/>
            <a:ext cx="3886200" cy="4419600"/>
          </a:xfrm>
        </p:spPr>
        <p:txBody>
          <a:bodyPr/>
          <a:lstStyle/>
          <a:p>
            <a:endParaRPr lang="en-US" dirty="0"/>
          </a:p>
        </p:txBody>
      </p:sp>
      <p:sp>
        <p:nvSpPr>
          <p:cNvPr id="13"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1"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Tree>
    <p:extLst>
      <p:ext uri="{BB962C8B-B14F-4D97-AF65-F5344CB8AC3E}">
        <p14:creationId xmlns:p14="http://schemas.microsoft.com/office/powerpoint/2010/main" val="4276611526"/>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ample + Tittle +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600200"/>
            <a:ext cx="8229600" cy="4495799"/>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5" name="Learning Objectives Placeholder 6"/>
          <p:cNvSpPr>
            <a:spLocks noGrp="1"/>
          </p:cNvSpPr>
          <p:nvPr>
            <p:ph type="body" sz="quarter" idx="13" hasCustomPrompt="1"/>
          </p:nvPr>
        </p:nvSpPr>
        <p:spPr>
          <a:xfrm>
            <a:off x="457200" y="1002386"/>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8" name="Title 7"/>
          <p:cNvSpPr>
            <a:spLocks noGrp="1"/>
          </p:cNvSpPr>
          <p:nvPr>
            <p:ph type="title" hasCustomPrompt="1"/>
          </p:nvPr>
        </p:nvSpPr>
        <p:spPr>
          <a:xfrm>
            <a:off x="457200" y="254903"/>
            <a:ext cx="8229600" cy="622828"/>
          </a:xfrm>
        </p:spPr>
        <p:txBody>
          <a:bodyPr anchor="t"/>
          <a:lstStyle>
            <a:lvl1pPr>
              <a:defRPr baseline="0"/>
            </a:lvl1pPr>
          </a:lstStyle>
          <a:p>
            <a:r>
              <a:rPr lang="en-US" dirty="0" smtClean="0"/>
              <a:t>EXAMPLE 1.1</a:t>
            </a:r>
            <a:endParaRPr lang="en-US" dirty="0"/>
          </a:p>
        </p:txBody>
      </p:sp>
    </p:spTree>
    <p:extLst>
      <p:ext uri="{BB962C8B-B14F-4D97-AF65-F5344CB8AC3E}">
        <p14:creationId xmlns:p14="http://schemas.microsoft.com/office/powerpoint/2010/main" val="3345479337"/>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 Example +  sub tittle and Content">
    <p:spTree>
      <p:nvGrpSpPr>
        <p:cNvPr id="1" name=""/>
        <p:cNvGrpSpPr/>
        <p:nvPr/>
      </p:nvGrpSpPr>
      <p:grpSpPr>
        <a:xfrm>
          <a:off x="0" y="0"/>
          <a:ext cx="0" cy="0"/>
          <a:chOff x="0" y="0"/>
          <a:chExt cx="0" cy="0"/>
        </a:xfrm>
      </p:grpSpPr>
      <p:sp>
        <p:nvSpPr>
          <p:cNvPr id="18" name="Title 7"/>
          <p:cNvSpPr>
            <a:spLocks noGrp="1"/>
          </p:cNvSpPr>
          <p:nvPr>
            <p:ph type="title"/>
          </p:nvPr>
        </p:nvSpPr>
        <p:spPr>
          <a:xfrm>
            <a:off x="457200" y="-152400"/>
            <a:ext cx="8229600" cy="1054636"/>
          </a:xfrm>
        </p:spPr>
        <p:txBody>
          <a:bodyPr/>
          <a:lstStyle>
            <a:lvl1pPr>
              <a:defRPr/>
            </a:lvl1pPr>
          </a:lstStyle>
          <a:p>
            <a:r>
              <a:rPr lang="en-US" dirty="0"/>
              <a:t>Click to edit Master title </a:t>
            </a:r>
            <a:r>
              <a:rPr lang="en-US" dirty="0" smtClean="0"/>
              <a:t>style</a:t>
            </a:r>
            <a:endParaRPr lang="en-US" dirty="0"/>
          </a:p>
        </p:txBody>
      </p:sp>
      <p:sp>
        <p:nvSpPr>
          <p:cNvPr id="4" name="Picture Placeholder 3"/>
          <p:cNvSpPr>
            <a:spLocks noGrp="1"/>
          </p:cNvSpPr>
          <p:nvPr>
            <p:ph type="pic" sz="quarter" idx="18"/>
          </p:nvPr>
        </p:nvSpPr>
        <p:spPr>
          <a:xfrm>
            <a:off x="457200" y="2133600"/>
            <a:ext cx="4114800" cy="2209800"/>
          </a:xfrm>
        </p:spPr>
        <p:txBody>
          <a:bodyPr/>
          <a:lstStyle/>
          <a:p>
            <a:endParaRPr lang="en-US" dirty="0"/>
          </a:p>
        </p:txBody>
      </p:sp>
      <p:sp>
        <p:nvSpPr>
          <p:cNvPr id="6" name="Picture Placeholder 5"/>
          <p:cNvSpPr>
            <a:spLocks noGrp="1"/>
          </p:cNvSpPr>
          <p:nvPr>
            <p:ph type="pic" sz="quarter" idx="19"/>
          </p:nvPr>
        </p:nvSpPr>
        <p:spPr>
          <a:xfrm>
            <a:off x="4800600" y="2133600"/>
            <a:ext cx="3886200" cy="2209800"/>
          </a:xfrm>
        </p:spPr>
        <p:txBody>
          <a:bodyPr/>
          <a:lstStyle/>
          <a:p>
            <a:endParaRPr lang="en-US" dirty="0"/>
          </a:p>
        </p:txBody>
      </p:sp>
      <p:sp>
        <p:nvSpPr>
          <p:cNvPr id="8" name="Content Placeholder 7"/>
          <p:cNvSpPr>
            <a:spLocks noGrp="1"/>
          </p:cNvSpPr>
          <p:nvPr>
            <p:ph sz="quarter" idx="20"/>
          </p:nvPr>
        </p:nvSpPr>
        <p:spPr>
          <a:xfrm>
            <a:off x="457200" y="4572000"/>
            <a:ext cx="8229600" cy="1600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7"/>
          <p:cNvSpPr>
            <a:spLocks noGrp="1"/>
          </p:cNvSpPr>
          <p:nvPr>
            <p:ph sz="quarter" idx="21"/>
          </p:nvPr>
        </p:nvSpPr>
        <p:spPr>
          <a:xfrm>
            <a:off x="452651" y="1104900"/>
            <a:ext cx="8229600" cy="6477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17787348"/>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 Example +  sub tittle and 1 Content ">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626358"/>
            <a:ext cx="7315200" cy="304800"/>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6"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10" name="Content Placeholder 8"/>
          <p:cNvSpPr>
            <a:spLocks noGrp="1"/>
          </p:cNvSpPr>
          <p:nvPr>
            <p:ph sz="quarter" idx="15"/>
          </p:nvPr>
        </p:nvSpPr>
        <p:spPr>
          <a:xfrm>
            <a:off x="609600" y="4335439"/>
            <a:ext cx="7315200" cy="304800"/>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Tree>
    <p:extLst>
      <p:ext uri="{BB962C8B-B14F-4D97-AF65-F5344CB8AC3E}">
        <p14:creationId xmlns:p14="http://schemas.microsoft.com/office/powerpoint/2010/main" val="3526863761"/>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Example +  sub tittle and picture">
    <p:spTree>
      <p:nvGrpSpPr>
        <p:cNvPr id="1" name=""/>
        <p:cNvGrpSpPr/>
        <p:nvPr/>
      </p:nvGrpSpPr>
      <p:grpSpPr>
        <a:xfrm>
          <a:off x="0" y="0"/>
          <a:ext cx="0" cy="0"/>
          <a:chOff x="0" y="0"/>
          <a:chExt cx="0" cy="0"/>
        </a:xfrm>
      </p:grpSpPr>
      <p:sp>
        <p:nvSpPr>
          <p:cNvPr id="7" name="Learning Objectives Placeholder 6"/>
          <p:cNvSpPr>
            <a:spLocks noGrp="1"/>
          </p:cNvSpPr>
          <p:nvPr>
            <p:ph type="body" sz="quarter" idx="13" hasCustomPrompt="1"/>
          </p:nvPr>
        </p:nvSpPr>
        <p:spPr>
          <a:xfrm>
            <a:off x="457200" y="143283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EXAMPLE 1.1</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3" name="Learning Objectives Placeholder 6"/>
          <p:cNvSpPr>
            <a:spLocks noGrp="1"/>
          </p:cNvSpPr>
          <p:nvPr>
            <p:ph type="body" sz="quarter" idx="17" hasCustomPrompt="1"/>
          </p:nvPr>
        </p:nvSpPr>
        <p:spPr>
          <a:xfrm>
            <a:off x="457200" y="183560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edit Tittle</a:t>
            </a:r>
            <a:endParaRPr lang="en-US" dirty="0"/>
          </a:p>
        </p:txBody>
      </p:sp>
      <p:sp>
        <p:nvSpPr>
          <p:cNvPr id="3" name="Picture Placeholder 2"/>
          <p:cNvSpPr>
            <a:spLocks noGrp="1"/>
          </p:cNvSpPr>
          <p:nvPr>
            <p:ph type="pic" sz="quarter" idx="18"/>
          </p:nvPr>
        </p:nvSpPr>
        <p:spPr>
          <a:xfrm>
            <a:off x="457200" y="2209800"/>
            <a:ext cx="8229600" cy="3886200"/>
          </a:xfrm>
        </p:spPr>
        <p:txBody>
          <a:bodyPr/>
          <a:lstStyle/>
          <a:p>
            <a:endParaRPr lang="en-US" dirty="0"/>
          </a:p>
        </p:txBody>
      </p:sp>
      <p:sp>
        <p:nvSpPr>
          <p:cNvPr id="10"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3782757184"/>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ub tittle and Image +Content">
    <p:spTree>
      <p:nvGrpSpPr>
        <p:cNvPr id="1" name=""/>
        <p:cNvGrpSpPr/>
        <p:nvPr/>
      </p:nvGrpSpPr>
      <p:grpSpPr>
        <a:xfrm>
          <a:off x="0" y="0"/>
          <a:ext cx="0" cy="0"/>
          <a:chOff x="0" y="0"/>
          <a:chExt cx="0" cy="0"/>
        </a:xfrm>
      </p:grpSpPr>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6" name="Table Placeholder 5"/>
          <p:cNvSpPr>
            <a:spLocks noGrp="1"/>
          </p:cNvSpPr>
          <p:nvPr>
            <p:ph type="tbl" sz="quarter" idx="17"/>
          </p:nvPr>
        </p:nvSpPr>
        <p:spPr>
          <a:xfrm>
            <a:off x="4876800" y="1987550"/>
            <a:ext cx="3810000" cy="2355850"/>
          </a:xfrm>
        </p:spPr>
        <p:txBody>
          <a:bodyPr/>
          <a:lstStyle/>
          <a:p>
            <a:endParaRPr lang="en-US" dirty="0"/>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10" name="Picture Placeholder 2"/>
          <p:cNvSpPr>
            <a:spLocks noGrp="1"/>
          </p:cNvSpPr>
          <p:nvPr>
            <p:ph type="pic" sz="quarter" idx="18"/>
          </p:nvPr>
        </p:nvSpPr>
        <p:spPr>
          <a:xfrm>
            <a:off x="466224" y="1905662"/>
            <a:ext cx="3962400" cy="2432050"/>
          </a:xfrm>
        </p:spPr>
        <p:txBody>
          <a:bodyPr/>
          <a:lstStyle/>
          <a:p>
            <a:endParaRPr lang="en-US" dirty="0"/>
          </a:p>
        </p:txBody>
      </p:sp>
    </p:spTree>
    <p:extLst>
      <p:ext uri="{BB962C8B-B14F-4D97-AF65-F5344CB8AC3E}">
        <p14:creationId xmlns:p14="http://schemas.microsoft.com/office/powerpoint/2010/main" val="3779307264"/>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 sub tittle and Image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39252"/>
            <a:ext cx="4114800" cy="2260836"/>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1pPr>
              <a:defRPr sz="1400"/>
            </a:lvl1pPr>
            <a:lvl2pPr>
              <a:defRPr sz="1400"/>
            </a:lvl2pPr>
            <a:lvl3pPr>
              <a:defRPr sz="1400"/>
            </a:lvl3pPr>
            <a:lvl4pPr>
              <a:defRPr sz="1400"/>
            </a:lvl4pPr>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13" name="Learning Objectives Placeholder 6"/>
          <p:cNvSpPr>
            <a:spLocks noGrp="1"/>
          </p:cNvSpPr>
          <p:nvPr>
            <p:ph type="body" sz="quarter" idx="13" hasCustomPrompt="1"/>
          </p:nvPr>
        </p:nvSpPr>
        <p:spPr>
          <a:xfrm>
            <a:off x="457200" y="1442109"/>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4"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Picture Placeholder 2"/>
          <p:cNvSpPr>
            <a:spLocks noGrp="1"/>
          </p:cNvSpPr>
          <p:nvPr>
            <p:ph type="pic" sz="quarter" idx="17"/>
          </p:nvPr>
        </p:nvSpPr>
        <p:spPr>
          <a:xfrm>
            <a:off x="4724400" y="1987550"/>
            <a:ext cx="3962400" cy="2432050"/>
          </a:xfrm>
        </p:spPr>
        <p:txBody>
          <a:bodyPr/>
          <a:lstStyle/>
          <a:p>
            <a:endParaRPr lang="en-US" dirty="0"/>
          </a:p>
        </p:txBody>
      </p:sp>
    </p:spTree>
    <p:extLst>
      <p:ext uri="{BB962C8B-B14F-4D97-AF65-F5344CB8AC3E}">
        <p14:creationId xmlns:p14="http://schemas.microsoft.com/office/powerpoint/2010/main" val="1879375490"/>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tle and 1 Content 1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1638300"/>
            <a:ext cx="3962400" cy="4525963"/>
          </a:xfrm>
        </p:spPr>
        <p:txBody>
          <a:bodyPr/>
          <a:lstStyle>
            <a:lvl1pPr marL="118872" indent="-118872">
              <a:buClr>
                <a:srgbClr val="007FA3"/>
              </a:buClr>
              <a:buSzPct val="25000"/>
              <a:defRPr sz="1400"/>
            </a:lvl1pPr>
            <a:lvl2pPr marL="569913" indent="-285750">
              <a:buClr>
                <a:srgbClr val="007FA3"/>
              </a:buClr>
              <a:defRPr sz="1400"/>
            </a:lvl2pPr>
            <a:lvl3pPr>
              <a:buClr>
                <a:srgbClr val="007FA3"/>
              </a:buClr>
              <a:defRPr sz="1400"/>
            </a:lvl3pPr>
            <a:lvl4pPr>
              <a:buClr>
                <a:srgbClr val="007FA3"/>
              </a:buClr>
              <a:defRPr sz="1400"/>
            </a:lvl4pPr>
            <a:lvl5pPr>
              <a:buClr>
                <a:srgbClr val="007FA3"/>
              </a:buClr>
              <a:defRPr sz="1400"/>
            </a:lvl5pPr>
            <a:lvl6pPr>
              <a:buClr>
                <a:srgbClr val="007FA3"/>
              </a:buClr>
              <a:defRPr sz="14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5" name="Picture Placeholder 4"/>
          <p:cNvSpPr>
            <a:spLocks noGrp="1"/>
          </p:cNvSpPr>
          <p:nvPr>
            <p:ph type="pic" sz="quarter" idx="13"/>
          </p:nvPr>
        </p:nvSpPr>
        <p:spPr>
          <a:xfrm>
            <a:off x="4572000" y="1638300"/>
            <a:ext cx="4114800" cy="4419600"/>
          </a:xfrm>
        </p:spPr>
        <p:txBody>
          <a:bodyPr/>
          <a:lstStyle/>
          <a:p>
            <a:endParaRPr lang="en-US" dirty="0"/>
          </a:p>
        </p:txBody>
      </p:sp>
      <p:sp>
        <p:nvSpPr>
          <p:cNvPr id="9"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2724158318"/>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2163763"/>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8"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3417297028"/>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2192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57200" y="2895601"/>
            <a:ext cx="8229600" cy="11430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9" name="Content Placeholder 2"/>
          <p:cNvSpPr>
            <a:spLocks noGrp="1"/>
          </p:cNvSpPr>
          <p:nvPr>
            <p:ph idx="14"/>
          </p:nvPr>
        </p:nvSpPr>
        <p:spPr>
          <a:xfrm>
            <a:off x="457200" y="4191000"/>
            <a:ext cx="8229600" cy="1143000"/>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851112187"/>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mor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114800" cy="2031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7" name="Content Placeholder 2"/>
          <p:cNvSpPr>
            <a:spLocks noGrp="1"/>
          </p:cNvSpPr>
          <p:nvPr>
            <p:ph idx="13"/>
          </p:nvPr>
        </p:nvSpPr>
        <p:spPr>
          <a:xfrm>
            <a:off x="457200" y="4191001"/>
            <a:ext cx="4114800" cy="1904999"/>
          </a:xfrm>
        </p:spPr>
        <p:txBody>
          <a:bodyPr/>
          <a:lstStyle>
            <a:lvl1pPr>
              <a:defRPr sz="1400"/>
            </a:lvl1pPr>
            <a:lvl2pPr>
              <a:defRPr sz="1400"/>
            </a:lvl2pPr>
            <a:lvl3pPr>
              <a:defRPr sz="14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a:t>
            </a:r>
            <a:r>
              <a:rPr lang="en-US" dirty="0" smtClean="0"/>
              <a:t>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5" name="Picture Placeholder 4"/>
          <p:cNvSpPr>
            <a:spLocks noGrp="1"/>
          </p:cNvSpPr>
          <p:nvPr>
            <p:ph type="pic" sz="quarter" idx="14"/>
          </p:nvPr>
        </p:nvSpPr>
        <p:spPr>
          <a:xfrm>
            <a:off x="4648200" y="1676400"/>
            <a:ext cx="4038600" cy="1981200"/>
          </a:xfrm>
        </p:spPr>
        <p:txBody>
          <a:bodyPr/>
          <a:lstStyle/>
          <a:p>
            <a:endParaRPr lang="en-US" dirty="0"/>
          </a:p>
        </p:txBody>
      </p:sp>
      <p:sp>
        <p:nvSpPr>
          <p:cNvPr id="13" name="Picture Placeholder 4"/>
          <p:cNvSpPr>
            <a:spLocks noGrp="1"/>
          </p:cNvSpPr>
          <p:nvPr>
            <p:ph type="pic" sz="quarter" idx="15"/>
          </p:nvPr>
        </p:nvSpPr>
        <p:spPr>
          <a:xfrm>
            <a:off x="4648200" y="4191000"/>
            <a:ext cx="4038600" cy="1905000"/>
          </a:xfrm>
        </p:spPr>
        <p:txBody>
          <a:bodyPr/>
          <a:lstStyle/>
          <a:p>
            <a:endParaRPr lang="en-US" dirty="0"/>
          </a:p>
        </p:txBody>
      </p:sp>
      <p:sp>
        <p:nvSpPr>
          <p:cNvPr id="12"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3772726668"/>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Sub Tittle and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87550"/>
            <a:ext cx="8229600" cy="4138613"/>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0" name="Learning Objectives Placeholder 6"/>
          <p:cNvSpPr>
            <a:spLocks noGrp="1"/>
          </p:cNvSpPr>
          <p:nvPr>
            <p:ph type="body" sz="quarter" idx="13" hasCustomPrompt="1"/>
          </p:nvPr>
        </p:nvSpPr>
        <p:spPr>
          <a:xfrm>
            <a:off x="457200" y="143555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1"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Tree>
    <p:extLst>
      <p:ext uri="{BB962C8B-B14F-4D97-AF65-F5344CB8AC3E}">
        <p14:creationId xmlns:p14="http://schemas.microsoft.com/office/powerpoint/2010/main" val="3402528284"/>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 Sub Tittle and Content">
    <p:spTree>
      <p:nvGrpSpPr>
        <p:cNvPr id="1" name=""/>
        <p:cNvGrpSpPr/>
        <p:nvPr/>
      </p:nvGrpSpPr>
      <p:grpSpPr>
        <a:xfrm>
          <a:off x="0" y="0"/>
          <a:ext cx="0" cy="0"/>
          <a:chOff x="0" y="0"/>
          <a:chExt cx="0" cy="0"/>
        </a:xfrm>
      </p:grpSpPr>
      <p:sp>
        <p:nvSpPr>
          <p:cNvPr id="9" name="Content Placeholder 8"/>
          <p:cNvSpPr>
            <a:spLocks noGrp="1"/>
          </p:cNvSpPr>
          <p:nvPr>
            <p:ph sz="quarter" idx="14"/>
          </p:nvPr>
        </p:nvSpPr>
        <p:spPr>
          <a:xfrm>
            <a:off x="457200" y="1987550"/>
            <a:ext cx="4114800" cy="4138613"/>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0" name="Learning Objectives Placeholder 6"/>
          <p:cNvSpPr>
            <a:spLocks noGrp="1"/>
          </p:cNvSpPr>
          <p:nvPr>
            <p:ph type="body" sz="quarter" idx="13" hasCustomPrompt="1"/>
          </p:nvPr>
        </p:nvSpPr>
        <p:spPr>
          <a:xfrm>
            <a:off x="457200" y="1435555"/>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11" name="Title 7"/>
          <p:cNvSpPr>
            <a:spLocks noGrp="1"/>
          </p:cNvSpPr>
          <p:nvPr>
            <p:ph type="title"/>
          </p:nvPr>
        </p:nvSpPr>
        <p:spPr>
          <a:xfrm>
            <a:off x="457200" y="249153"/>
            <a:ext cx="8229600" cy="1054636"/>
          </a:xfrm>
        </p:spPr>
        <p:txBody>
          <a:bodyPr/>
          <a:lstStyle>
            <a:lvl1pPr>
              <a:defRPr/>
            </a:lvl1pPr>
          </a:lstStyle>
          <a:p>
            <a:r>
              <a:rPr lang="en-US" dirty="0"/>
              <a:t>Click to edit Master title </a:t>
            </a:r>
            <a:r>
              <a:rPr lang="en-US" dirty="0" smtClean="0"/>
              <a:t>style</a:t>
            </a:r>
            <a:endParaRPr lang="en-US" dirty="0"/>
          </a:p>
        </p:txBody>
      </p:sp>
      <p:sp>
        <p:nvSpPr>
          <p:cNvPr id="3" name="Picture Placeholder 2"/>
          <p:cNvSpPr>
            <a:spLocks noGrp="1"/>
          </p:cNvSpPr>
          <p:nvPr>
            <p:ph type="pic" sz="quarter" idx="15"/>
          </p:nvPr>
        </p:nvSpPr>
        <p:spPr>
          <a:xfrm>
            <a:off x="4724400" y="1987550"/>
            <a:ext cx="3962400" cy="4184650"/>
          </a:xfrm>
        </p:spPr>
        <p:txBody>
          <a:bodyPr/>
          <a:lstStyle/>
          <a:p>
            <a:endParaRPr lang="en-US" dirty="0"/>
          </a:p>
        </p:txBody>
      </p:sp>
    </p:spTree>
    <p:extLst>
      <p:ext uri="{BB962C8B-B14F-4D97-AF65-F5344CB8AC3E}">
        <p14:creationId xmlns:p14="http://schemas.microsoft.com/office/powerpoint/2010/main" val="1473376347"/>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itle + Sub Tittle and Content">
    <p:spTree>
      <p:nvGrpSpPr>
        <p:cNvPr id="1" name=""/>
        <p:cNvGrpSpPr/>
        <p:nvPr/>
      </p:nvGrpSpPr>
      <p:grpSpPr>
        <a:xfrm>
          <a:off x="0" y="0"/>
          <a:ext cx="0" cy="0"/>
          <a:chOff x="0" y="0"/>
          <a:chExt cx="0" cy="0"/>
        </a:xfrm>
      </p:grpSpPr>
      <p:sp>
        <p:nvSpPr>
          <p:cNvPr id="13" name="Content Placeholder 8"/>
          <p:cNvSpPr>
            <a:spLocks noGrp="1"/>
          </p:cNvSpPr>
          <p:nvPr>
            <p:ph sz="quarter" idx="14"/>
          </p:nvPr>
        </p:nvSpPr>
        <p:spPr>
          <a:xfrm>
            <a:off x="457200" y="1987550"/>
            <a:ext cx="8229600" cy="4138613"/>
          </a:xfrm>
        </p:spPr>
        <p:txBody>
          <a:bodyPr/>
          <a:lstStyle>
            <a:lvl1pPr>
              <a:defRPr sz="1400"/>
            </a:lvl1pPr>
            <a:lvl2pPr>
              <a:defRPr sz="1400"/>
            </a:lvl2pPr>
            <a:lvl3pPr>
              <a:defRPr sz="1400"/>
            </a:lvl3pPr>
            <a:lvl4pPr>
              <a:defRPr sz="1400"/>
            </a:lvl4pPr>
            <a:lvl5pPr>
              <a:defRPr sz="1400"/>
            </a:lvl5pPr>
            <a:lvl6pPr>
              <a:defRPr sz="1400"/>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Tree>
    <p:extLst>
      <p:ext uri="{BB962C8B-B14F-4D97-AF65-F5344CB8AC3E}">
        <p14:creationId xmlns:p14="http://schemas.microsoft.com/office/powerpoint/2010/main" val="2638653316"/>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1"/>
          <p:cNvSpPr>
            <a:spLocks noGrp="1"/>
          </p:cNvSpPr>
          <p:nvPr>
            <p:ph type="ctrTitle" hasCustomPrompt="1"/>
          </p:nvPr>
        </p:nvSpPr>
        <p:spPr>
          <a:xfrm>
            <a:off x="448811" y="762000"/>
            <a:ext cx="4800600" cy="2838451"/>
          </a:xfrm>
        </p:spPr>
        <p:txBody>
          <a:bodyPr anchor="b">
            <a:noAutofit/>
          </a:bodyPr>
          <a:lstStyle>
            <a:lvl1pPr algn="l">
              <a:defRPr sz="3600">
                <a:solidFill>
                  <a:schemeClr val="bg1"/>
                </a:solidFill>
              </a:defRPr>
            </a:lvl1pPr>
          </a:lstStyle>
          <a:p>
            <a:r>
              <a:rPr lang="en-US" dirty="0"/>
              <a:t>Click to edit Master </a:t>
            </a:r>
            <a:r>
              <a:rPr lang="en-US" dirty="0" smtClean="0"/>
              <a:t/>
            </a:r>
            <a:br>
              <a:rPr lang="en-US" dirty="0" smtClean="0"/>
            </a:br>
            <a:r>
              <a:rPr lang="en-US" dirty="0" smtClean="0"/>
              <a:t>title </a:t>
            </a:r>
            <a:r>
              <a:rPr lang="en-US" dirty="0"/>
              <a:t>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5486400" y="1600200"/>
            <a:ext cx="3200400" cy="4495800"/>
          </a:xfrm>
        </p:spPr>
        <p:txBody>
          <a:bodyPr/>
          <a:lstStyle/>
          <a:p>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2212773204"/>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2719793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457200" y="1752600"/>
            <a:ext cx="8229600" cy="3505200"/>
          </a:xfrm>
        </p:spPr>
        <p:txBody>
          <a:bodyPr/>
          <a:lstStyle/>
          <a:p>
            <a:endParaRPr lang="en-US" dirty="0"/>
          </a:p>
        </p:txBody>
      </p:sp>
    </p:spTree>
    <p:extLst>
      <p:ext uri="{BB962C8B-B14F-4D97-AF65-F5344CB8AC3E}">
        <p14:creationId xmlns:p14="http://schemas.microsoft.com/office/powerpoint/2010/main" val="12734037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Title + sub tittle and Iimage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21578"/>
            <a:ext cx="8229600" cy="622828"/>
          </a:xfrm>
        </p:spPr>
        <p:txBody>
          <a:bodyPr anchor="t"/>
          <a:lstStyle>
            <a:lvl1pPr>
              <a:defRPr baseline="0"/>
            </a:lvl1pPr>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968830"/>
            <a:ext cx="16764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EXAMPLE 1.1</a:t>
            </a:r>
            <a:endParaRPr lang="en-US" dirty="0"/>
          </a:p>
        </p:txBody>
      </p:sp>
      <p:sp>
        <p:nvSpPr>
          <p:cNvPr id="9" name="Content Placeholder 8"/>
          <p:cNvSpPr>
            <a:spLocks noGrp="1"/>
          </p:cNvSpPr>
          <p:nvPr>
            <p:ph sz="quarter" idx="14"/>
          </p:nvPr>
        </p:nvSpPr>
        <p:spPr>
          <a:xfrm>
            <a:off x="457200" y="1828800"/>
            <a:ext cx="4114800" cy="2743200"/>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11" name="Content Placeholder 8"/>
          <p:cNvSpPr>
            <a:spLocks noGrp="1"/>
          </p:cNvSpPr>
          <p:nvPr>
            <p:ph sz="quarter" idx="16"/>
          </p:nvPr>
        </p:nvSpPr>
        <p:spPr>
          <a:xfrm>
            <a:off x="457200" y="4495800"/>
            <a:ext cx="8229600" cy="1524000"/>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a:t>
            </a:r>
            <a:r>
              <a:rPr lang="en-US" dirty="0" smtClean="0"/>
              <a:t>level</a:t>
            </a:r>
            <a:endParaRPr lang="en-US" dirty="0"/>
          </a:p>
        </p:txBody>
      </p:sp>
      <p:sp>
        <p:nvSpPr>
          <p:cNvPr id="13" name="Learning Objectives Placeholder 6"/>
          <p:cNvSpPr>
            <a:spLocks noGrp="1"/>
          </p:cNvSpPr>
          <p:nvPr>
            <p:ph type="body" sz="quarter" idx="17" hasCustomPrompt="1"/>
          </p:nvPr>
        </p:nvSpPr>
        <p:spPr>
          <a:xfrm>
            <a:off x="457200" y="1371600"/>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edit Tittle</a:t>
            </a:r>
            <a:endParaRPr lang="en-US" dirty="0"/>
          </a:p>
        </p:txBody>
      </p:sp>
      <p:sp>
        <p:nvSpPr>
          <p:cNvPr id="14" name="Picture Placeholder 2"/>
          <p:cNvSpPr>
            <a:spLocks noGrp="1"/>
          </p:cNvSpPr>
          <p:nvPr>
            <p:ph type="pic" sz="quarter" idx="18"/>
          </p:nvPr>
        </p:nvSpPr>
        <p:spPr>
          <a:xfrm>
            <a:off x="4800600" y="1676400"/>
            <a:ext cx="3886200" cy="2667000"/>
          </a:xfrm>
        </p:spPr>
        <p:txBody>
          <a:bodyPr/>
          <a:lstStyle/>
          <a:p>
            <a:endParaRPr lang="en-US" dirty="0"/>
          </a:p>
        </p:txBody>
      </p:sp>
    </p:spTree>
    <p:extLst>
      <p:ext uri="{BB962C8B-B14F-4D97-AF65-F5344CB8AC3E}">
        <p14:creationId xmlns:p14="http://schemas.microsoft.com/office/powerpoint/2010/main" val="10417525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itle + sub tittle and Iimage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21578"/>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968830"/>
            <a:ext cx="8229600" cy="402770"/>
          </a:xfrm>
        </p:spPr>
        <p:txBody>
          <a:bodyPr>
            <a:noAutofit/>
          </a:bodyPr>
          <a:lstStyle>
            <a:lvl1pPr marL="0" indent="0">
              <a:spcBef>
                <a:spcPts val="0"/>
              </a:spcBef>
              <a:buNone/>
              <a:defRPr sz="1600" b="1">
                <a:solidFill>
                  <a:schemeClr val="tx1"/>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1"/>
            <a:ext cx="8229600" cy="1981199"/>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smtClean="0"/>
              <a:t>Sixth</a:t>
            </a:r>
            <a:endParaRPr lang="en-US" dirty="0"/>
          </a:p>
        </p:txBody>
      </p:sp>
      <p:sp>
        <p:nvSpPr>
          <p:cNvPr id="6" name="Table Placeholder 5"/>
          <p:cNvSpPr>
            <a:spLocks noGrp="1"/>
          </p:cNvSpPr>
          <p:nvPr>
            <p:ph type="tbl" sz="quarter" idx="15"/>
          </p:nvPr>
        </p:nvSpPr>
        <p:spPr>
          <a:xfrm>
            <a:off x="457200" y="3733800"/>
            <a:ext cx="4114800" cy="2438400"/>
          </a:xfrm>
        </p:spPr>
        <p:txBody>
          <a:bodyPr/>
          <a:lstStyle/>
          <a:p>
            <a:endParaRPr lang="en-US" dirty="0"/>
          </a:p>
        </p:txBody>
      </p:sp>
      <p:sp>
        <p:nvSpPr>
          <p:cNvPr id="13" name="Table Placeholder 12"/>
          <p:cNvSpPr>
            <a:spLocks noGrp="1"/>
          </p:cNvSpPr>
          <p:nvPr>
            <p:ph type="tbl" sz="quarter" idx="16"/>
          </p:nvPr>
        </p:nvSpPr>
        <p:spPr>
          <a:xfrm>
            <a:off x="4724400" y="3733800"/>
            <a:ext cx="3962400" cy="2438400"/>
          </a:xfrm>
        </p:spPr>
        <p:txBody>
          <a:bodyPr/>
          <a:lstStyle/>
          <a:p>
            <a:endParaRPr lang="en-US" dirty="0"/>
          </a:p>
        </p:txBody>
      </p:sp>
    </p:spTree>
    <p:extLst>
      <p:ext uri="{BB962C8B-B14F-4D97-AF65-F5344CB8AC3E}">
        <p14:creationId xmlns:p14="http://schemas.microsoft.com/office/powerpoint/2010/main" val="15906658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TextBox 13"/>
          <p:cNvSpPr txBox="1"/>
          <p:nvPr userDrawn="1"/>
        </p:nvSpPr>
        <p:spPr>
          <a:xfrm>
            <a:off x="1600200" y="6400800"/>
            <a:ext cx="7162800" cy="200055"/>
          </a:xfrm>
          <a:prstGeom prst="rect">
            <a:avLst/>
          </a:prstGeom>
          <a:noFill/>
        </p:spPr>
        <p:txBody>
          <a:bodyPr wrap="square" rtlCol="0">
            <a:spAutoFit/>
          </a:bodyPr>
          <a:lstStyle/>
          <a:p>
            <a:pPr algn="r">
              <a:defRPr/>
            </a:pP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7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18999982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534375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5849637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solidFill>
                  <a:prstClr val="black"/>
                </a:solidFill>
              </a:rPr>
              <a:pPr/>
              <a:t>6/28/2017</a:t>
            </a:fld>
            <a:endParaRPr lang="en-US" dirty="0">
              <a:solidFill>
                <a:prstClr val="black"/>
              </a:solidFill>
            </a:endParaRPr>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solidFill>
                  <a:prstClr val="black"/>
                </a:solidFill>
              </a:rPr>
              <a:pPr/>
              <a:t>‹#›</a:t>
            </a:fld>
            <a:endParaRPr lang="en-US" dirty="0">
              <a:solidFill>
                <a:prstClr val="black"/>
              </a:solidFill>
            </a:endParaRP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2" name="TextBox 11"/>
          <p:cNvSpPr txBox="1"/>
          <p:nvPr userDrawn="1"/>
        </p:nvSpPr>
        <p:spPr>
          <a:xfrm>
            <a:off x="1600200" y="6400800"/>
            <a:ext cx="7162800" cy="200055"/>
          </a:xfrm>
          <a:prstGeom prst="rect">
            <a:avLst/>
          </a:prstGeom>
          <a:noFill/>
        </p:spPr>
        <p:txBody>
          <a:bodyPr wrap="square" rtlCol="0">
            <a:spAutoFit/>
          </a:bodyPr>
          <a:lstStyle/>
          <a:p>
            <a:pPr algn="r">
              <a:defRPr/>
            </a:pP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7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7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14014762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4" name="Date Placeholder 3"/>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1395207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solidFill>
                <a:prstClr val="black"/>
              </a:solidFill>
            </a:endParaRPr>
          </a:p>
        </p:txBody>
      </p:sp>
      <p:sp>
        <p:nvSpPr>
          <p:cNvPr id="3" name="Date Placeholder 2"/>
          <p:cNvSpPr>
            <a:spLocks noGrp="1"/>
          </p:cNvSpPr>
          <p:nvPr>
            <p:ph type="dt" sz="half" idx="10"/>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7344692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copy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endParaRPr lang="en-US" dirty="0">
              <a:solidFill>
                <a:prstClr val="black"/>
              </a:solidFill>
            </a:endParaRPr>
          </a:p>
        </p:txBody>
      </p:sp>
      <p:sp>
        <p:nvSpPr>
          <p:cNvPr id="4" name="Date Placeholder 3"/>
          <p:cNvSpPr>
            <a:spLocks noGrp="1"/>
          </p:cNvSpPr>
          <p:nvPr>
            <p:ph type="dt" sz="half" idx="11"/>
          </p:nvPr>
        </p:nvSpPr>
        <p:spPr/>
        <p:txBody>
          <a:body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5" name="Slide Number Placeholder 4"/>
          <p:cNvSpPr>
            <a:spLocks noGrp="1"/>
          </p:cNvSpPr>
          <p:nvPr>
            <p:ph type="sldNum" sz="quarter" idx="12"/>
          </p:nvPr>
        </p:nvSpPr>
        <p:spPr/>
        <p:txBody>
          <a:bodyPr/>
          <a:lstStyle/>
          <a:p>
            <a:fld id="{200B2350-5261-4F5C-9DF5-EF0D264FC8D2}" type="slidenum">
              <a:rPr lang="en-US" smtClean="0">
                <a:solidFill>
                  <a:prstClr val="white"/>
                </a:solidFill>
              </a:rPr>
              <a:pPr/>
              <a:t>‹#›</a:t>
            </a:fld>
            <a:endParaRPr lang="en-US" dirty="0">
              <a:solidFill>
                <a:prstClr val="white"/>
              </a:solidFill>
            </a:endParaRPr>
          </a:p>
        </p:txBody>
      </p:sp>
      <p:sp>
        <p:nvSpPr>
          <p:cNvPr id="7" name="Picture Placeholder 6"/>
          <p:cNvSpPr>
            <a:spLocks noGrp="1"/>
          </p:cNvSpPr>
          <p:nvPr>
            <p:ph type="pic" sz="quarter" idx="13"/>
          </p:nvPr>
        </p:nvSpPr>
        <p:spPr>
          <a:xfrm>
            <a:off x="457200" y="1752600"/>
            <a:ext cx="8229600" cy="3505200"/>
          </a:xfrm>
        </p:spPr>
        <p:txBody>
          <a:bodyPr/>
          <a:lstStyle/>
          <a:p>
            <a:endParaRPr lang="en-US" dirty="0"/>
          </a:p>
        </p:txBody>
      </p:sp>
    </p:spTree>
    <p:extLst>
      <p:ext uri="{BB962C8B-B14F-4D97-AF65-F5344CB8AC3E}">
        <p14:creationId xmlns:p14="http://schemas.microsoft.com/office/powerpoint/2010/main" val="3640143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1.emf"/><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34" Type="http://schemas.openxmlformats.org/officeDocument/2006/relationships/image" Target="../media/image1.emf"/><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theme" Target="../theme/theme3.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6/28/2017</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725" r:id="rId11"/>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solidFill>
                <a:prstClr val="black"/>
              </a:solidFill>
            </a:endParaRP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solidFill>
                  <a:prstClr val="white"/>
                </a:solidFill>
              </a:rPr>
              <a:pPr/>
              <a:t>‹#›</a:t>
            </a:fld>
            <a:endParaRPr lang="en-US" dirty="0">
              <a:solidFill>
                <a:prstClr val="white"/>
              </a:solidFill>
            </a:endParaRPr>
          </a:p>
        </p:txBody>
      </p:sp>
      <p:pic>
        <p:nvPicPr>
          <p:cNvPr id="7" name="Picture 6" descr="Pearson Logo"/>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84144479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728" r:id="rId18"/>
    <p:sldLayoutId id="2147483727" r:id="rId19"/>
    <p:sldLayoutId id="2147483688" r:id="rId20"/>
    <p:sldLayoutId id="2147483689" r:id="rId21"/>
    <p:sldLayoutId id="2147483690" r:id="rId22"/>
    <p:sldLayoutId id="2147483723" r:id="rId23"/>
  </p:sldLayoutIdLs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solidFill>
                <a:prstClr val="black"/>
              </a:solidFill>
            </a:endParaRP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solidFill>
                  <a:prstClr val="white"/>
                </a:solidFill>
              </a:rPr>
              <a:pPr/>
              <a:t>6/28/2017</a:t>
            </a:fld>
            <a:endParaRPr lang="en-US" dirty="0">
              <a:solidFill>
                <a:prstClr val="white"/>
              </a:solidFill>
            </a:endParaRPr>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solidFill>
                  <a:prstClr val="white"/>
                </a:solidFill>
              </a:rPr>
              <a:pPr/>
              <a:t>‹#›</a:t>
            </a:fld>
            <a:endParaRPr lang="en-US" dirty="0">
              <a:solidFill>
                <a:prstClr val="white"/>
              </a:solidFill>
            </a:endParaRPr>
          </a:p>
        </p:txBody>
      </p:sp>
      <p:pic>
        <p:nvPicPr>
          <p:cNvPr id="7" name="Picture 6" descr="Pearson Logo"/>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400800"/>
            <a:ext cx="7162800" cy="276999"/>
          </a:xfrm>
          <a:prstGeom prst="rect">
            <a:avLst/>
          </a:prstGeom>
          <a:noFill/>
        </p:spPr>
        <p:txBody>
          <a:bodyPr wrap="square" rtlCol="0">
            <a:spAutoFit/>
          </a:bodyPr>
          <a:lstStyle/>
          <a:p>
            <a:pPr algn="r">
              <a:defRPr/>
            </a:pP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solidFill>
                  <a:prstClr val="black"/>
                </a:solidFill>
                <a:latin typeface="Verdana" panose="020B0604030504040204" pitchFamily="34" charset="0"/>
                <a:ea typeface="Verdana" panose="020B0604030504040204" pitchFamily="34" charset="0"/>
                <a:cs typeface="Verdana" panose="020B0604030504040204" pitchFamily="34" charset="0"/>
              </a:rPr>
              <a:t>2016, </a:t>
            </a:r>
            <a:r>
              <a:rPr lang="en-US" altLang="en-US" sz="1200" b="0" dirty="0">
                <a:solidFill>
                  <a:prstClr val="black"/>
                </a:solidFill>
                <a:latin typeface="Verdana" panose="020B0604030504040204" pitchFamily="34" charset="0"/>
                <a:ea typeface="Verdana" panose="020B0604030504040204" pitchFamily="34" charset="0"/>
                <a:cs typeface="Verdana" panose="020B0604030504040204" pitchFamily="34" charset="0"/>
              </a:rPr>
              <a:t>2012, 2009 Pearson Education, Inc. All Rights Reserved</a:t>
            </a:r>
          </a:p>
        </p:txBody>
      </p:sp>
    </p:spTree>
    <p:extLst>
      <p:ext uri="{BB962C8B-B14F-4D97-AF65-F5344CB8AC3E}">
        <p14:creationId xmlns:p14="http://schemas.microsoft.com/office/powerpoint/2010/main" val="979274910"/>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6" r:id="rId32"/>
  </p:sldLayoutIdLs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1.xml"/><Relationship Id="rId7" Type="http://schemas.openxmlformats.org/officeDocument/2006/relationships/image" Target="../media/image19.wmf"/><Relationship Id="rId2" Type="http://schemas.openxmlformats.org/officeDocument/2006/relationships/slideLayout" Target="../slideLayouts/slideLayout34.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20.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vmlDrawing" Target="../drawings/vmlDrawing2.vml"/><Relationship Id="rId5" Type="http://schemas.openxmlformats.org/officeDocument/2006/relationships/image" Target="../media/image22.wmf"/><Relationship Id="rId4"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8811" y="1685925"/>
            <a:ext cx="4800600" cy="677108"/>
          </a:xfrm>
        </p:spPr>
        <p:txBody>
          <a:bodyPr>
            <a:spAutoFit/>
          </a:bodyPr>
          <a:lstStyle/>
          <a:p>
            <a:r>
              <a:rPr lang="en-US" sz="4400" dirty="0" smtClean="0">
                <a:latin typeface="Calibri" panose="020F0502020204030204" pitchFamily="34" charset="0"/>
              </a:rPr>
              <a:t>MICROECONOMICS</a:t>
            </a:r>
            <a:endParaRPr lang="en-US" sz="1600" dirty="0"/>
          </a:p>
        </p:txBody>
      </p:sp>
      <p:sp>
        <p:nvSpPr>
          <p:cNvPr id="3" name="Text Placeholder 2"/>
          <p:cNvSpPr>
            <a:spLocks noGrp="1"/>
          </p:cNvSpPr>
          <p:nvPr>
            <p:ph type="body" sz="quarter" idx="14"/>
          </p:nvPr>
        </p:nvSpPr>
        <p:spPr>
          <a:xfrm>
            <a:off x="457200" y="2314575"/>
            <a:ext cx="3276600" cy="923330"/>
          </a:xfrm>
        </p:spPr>
        <p:txBody>
          <a:bodyPr wrap="square">
            <a:spAutoFit/>
          </a:bodyPr>
          <a:lstStyle/>
          <a:p>
            <a:pPr marL="0" indent="0">
              <a:buNone/>
            </a:pPr>
            <a:r>
              <a:rPr lang="en-US" b="1" dirty="0" smtClean="0"/>
              <a:t>by Robert S. </a:t>
            </a:r>
            <a:r>
              <a:rPr lang="en-US" b="1" dirty="0" smtClean="0"/>
              <a:t>Pindyck</a:t>
            </a:r>
            <a:r>
              <a:rPr lang="en-US" b="1" dirty="0" smtClean="0"/>
              <a:t> Daniel Rubinfeld</a:t>
            </a:r>
            <a:endParaRPr lang="en-US" b="1" dirty="0"/>
          </a:p>
        </p:txBody>
      </p:sp>
      <p:sp>
        <p:nvSpPr>
          <p:cNvPr id="4" name="Text Placeholder 3"/>
          <p:cNvSpPr>
            <a:spLocks noGrp="1"/>
          </p:cNvSpPr>
          <p:nvPr>
            <p:ph type="body" sz="quarter" idx="16"/>
          </p:nvPr>
        </p:nvSpPr>
        <p:spPr>
          <a:xfrm>
            <a:off x="457200" y="3209925"/>
            <a:ext cx="4800600" cy="533400"/>
          </a:xfrm>
        </p:spPr>
        <p:txBody>
          <a:bodyPr>
            <a:spAutoFit/>
          </a:bodyPr>
          <a:lstStyle/>
          <a:p>
            <a:pPr marL="0" indent="0">
              <a:buNone/>
            </a:pPr>
            <a:r>
              <a:rPr lang="en-US" b="1" dirty="0" smtClean="0"/>
              <a:t>Ninth Edition</a:t>
            </a:r>
            <a:endParaRPr lang="en-US" b="1" dirty="0"/>
          </a:p>
        </p:txBody>
      </p:sp>
      <p:pic>
        <p:nvPicPr>
          <p:cNvPr id="5" name="Picture Placeholder 4" descr="MICROECONOMICS Nith edition by Robert s. Pindyck Daniel Rubinfeld"/>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960" r="2960"/>
          <a:stretch>
            <a:fillRect/>
          </a:stretch>
        </p:blipFill>
        <p:spPr/>
      </p:pic>
      <p:sp>
        <p:nvSpPr>
          <p:cNvPr id="7" name="Content Placeholder 6"/>
          <p:cNvSpPr>
            <a:spLocks noGrp="1"/>
          </p:cNvSpPr>
          <p:nvPr>
            <p:ph sz="quarter" idx="17"/>
          </p:nvPr>
        </p:nvSpPr>
        <p:spPr>
          <a:xfrm>
            <a:off x="2886075" y="6443663"/>
            <a:ext cx="5810250" cy="184666"/>
          </a:xfrm>
        </p:spPr>
        <p:txBody>
          <a:bodyPr wrap="square">
            <a:spAutoFit/>
          </a:bodyPr>
          <a:lstStyle/>
          <a:p>
            <a:pPr marL="0" indent="0">
              <a:buNone/>
            </a:pPr>
            <a:r>
              <a:rPr lang="en-US" sz="1200" dirty="0">
                <a:latin typeface="Verdana" panose="020B0604030504040204" pitchFamily="34" charset="0"/>
                <a:ea typeface="Verdana" panose="020B0604030504040204" pitchFamily="34" charset="0"/>
                <a:cs typeface="Verdana" panose="020B0604030504040204" pitchFamily="34" charset="0"/>
              </a:rPr>
              <a:t>Copyright © 2016, 2012, 2009 Pearson Education, Inc. All Rights Reserved</a:t>
            </a:r>
          </a:p>
        </p:txBody>
      </p:sp>
    </p:spTree>
    <p:extLst>
      <p:ext uri="{BB962C8B-B14F-4D97-AF65-F5344CB8AC3E}">
        <p14:creationId xmlns:p14="http://schemas.microsoft.com/office/powerpoint/2010/main" val="34604509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457200" y="260288"/>
            <a:ext cx="7315200" cy="523220"/>
          </a:xfrm>
        </p:spPr>
        <p:txBody>
          <a:bodyPr>
            <a:spAutoFit/>
          </a:bodyPr>
          <a:lstStyle/>
          <a:p>
            <a:r>
              <a:rPr lang="en-US" dirty="0" smtClean="0"/>
              <a:t>Chapter </a:t>
            </a:r>
            <a:r>
              <a:rPr lang="en-US" dirty="0"/>
              <a:t>18</a:t>
            </a:r>
          </a:p>
        </p:txBody>
      </p:sp>
      <p:sp>
        <p:nvSpPr>
          <p:cNvPr id="14" name="Text Placeholder 13"/>
          <p:cNvSpPr>
            <a:spLocks noGrp="1"/>
          </p:cNvSpPr>
          <p:nvPr>
            <p:ph type="body" sz="quarter" idx="13"/>
          </p:nvPr>
        </p:nvSpPr>
        <p:spPr>
          <a:xfrm>
            <a:off x="457200" y="756384"/>
            <a:ext cx="8229600" cy="492443"/>
          </a:xfrm>
        </p:spPr>
        <p:txBody>
          <a:bodyPr>
            <a:spAutoFit/>
          </a:bodyPr>
          <a:lstStyle/>
          <a:p>
            <a:r>
              <a:rPr lang="en-US" sz="3200" dirty="0" smtClean="0">
                <a:latin typeface="Times New Roman" panose="02020603050405020304" pitchFamily="18" charset="0"/>
                <a:cs typeface="Times New Roman" panose="02020603050405020304" pitchFamily="18" charset="0"/>
              </a:rPr>
              <a:t>Externalities and </a:t>
            </a:r>
            <a:r>
              <a:rPr lang="en-US" sz="3200" dirty="0">
                <a:latin typeface="Times New Roman" panose="02020603050405020304" pitchFamily="18" charset="0"/>
                <a:cs typeface="Times New Roman" panose="02020603050405020304" pitchFamily="18" charset="0"/>
              </a:rPr>
              <a:t>Public Goods </a:t>
            </a:r>
            <a:r>
              <a:rPr lang="en-US" sz="3200" dirty="0" smtClean="0">
                <a:latin typeface="Times New Roman" panose="02020603050405020304" pitchFamily="18" charset="0"/>
                <a:cs typeface="Times New Roman" panose="02020603050405020304" pitchFamily="18" charset="0"/>
              </a:rPr>
              <a:t>(1 of </a:t>
            </a:r>
            <a:r>
              <a:rPr lang="en-US" sz="3200" dirty="0">
                <a:latin typeface="Times New Roman" panose="02020603050405020304" pitchFamily="18" charset="0"/>
                <a:cs typeface="Times New Roman" panose="02020603050405020304" pitchFamily="18" charset="0"/>
              </a:rPr>
              <a:t>2) </a:t>
            </a:r>
          </a:p>
        </p:txBody>
      </p:sp>
      <p:sp>
        <p:nvSpPr>
          <p:cNvPr id="16" name="Content Placeholder 15"/>
          <p:cNvSpPr>
            <a:spLocks noGrp="1"/>
          </p:cNvSpPr>
          <p:nvPr>
            <p:ph sz="quarter" idx="17"/>
          </p:nvPr>
        </p:nvSpPr>
        <p:spPr>
          <a:xfrm>
            <a:off x="457200" y="1600200"/>
            <a:ext cx="3810000" cy="3262432"/>
          </a:xfrm>
          <a:prstGeom prst="rect">
            <a:avLst/>
          </a:prstGeom>
        </p:spPr>
        <p:txBody>
          <a:bodyPr wrap="square">
            <a:spAutoFit/>
          </a:bodyPr>
          <a:lstStyle/>
          <a:p>
            <a:pPr marL="0" lvl="0" indent="0">
              <a:buClrTx/>
              <a:buNone/>
            </a:pPr>
            <a:r>
              <a:rPr lang="en-US" sz="1600" b="1" dirty="0"/>
              <a:t>CHAPTER </a:t>
            </a:r>
            <a:r>
              <a:rPr lang="en-US" sz="1600" b="1" dirty="0" smtClean="0"/>
              <a:t>OUTLINE</a:t>
            </a:r>
            <a:endParaRPr lang="en-US" sz="1600" b="1" dirty="0"/>
          </a:p>
          <a:p>
            <a:pPr marL="0" lvl="0" indent="0" eaLnBrk="0" hangingPunct="0">
              <a:spcAft>
                <a:spcPts val="600"/>
              </a:spcAft>
              <a:buClrTx/>
              <a:buNone/>
              <a:tabLst>
                <a:tab pos="577850" algn="l"/>
              </a:tabLst>
            </a:pPr>
            <a:r>
              <a:rPr lang="en-US" altLang="en-US" sz="1600" dirty="0" smtClean="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Externalities</a:t>
            </a:r>
            <a:endParaRPr lang="en-US" altLang="en-US" sz="1600" dirty="0">
              <a:solidFill>
                <a:srgbClr val="231F20"/>
              </a:solidFill>
              <a:ea typeface="Book Antiqua" panose="02040602050305030304" pitchFamily="18" charset="0"/>
              <a:cs typeface="Book Antiqua" panose="02040602050305030304" pitchFamily="18" charset="0"/>
            </a:endParaRPr>
          </a:p>
          <a:p>
            <a:pPr marL="0" lvl="0" indent="0" eaLnBrk="0" hangingPunct="0">
              <a:spcAft>
                <a:spcPts val="600"/>
              </a:spcAft>
              <a:buClrTx/>
              <a:buNone/>
              <a:tabLst>
                <a:tab pos="577850" algn="l"/>
              </a:tabLst>
            </a:pPr>
            <a:r>
              <a:rPr lang="en-US" altLang="en-US" sz="1600" dirty="0" smtClean="0">
                <a:solidFill>
                  <a:schemeClr val="bg2"/>
                </a:solidFill>
                <a:ea typeface="Book Antiqua" panose="02040602050305030304" pitchFamily="18" charset="0"/>
                <a:cs typeface="Book Antiqua" panose="02040602050305030304" pitchFamily="18" charset="0"/>
              </a:rPr>
              <a:t>18.2 </a:t>
            </a:r>
            <a:r>
              <a:rPr lang="en-US" altLang="en-US" sz="1600" dirty="0" smtClean="0">
                <a:solidFill>
                  <a:srgbClr val="231F20"/>
                </a:solidFill>
                <a:ea typeface="Book Antiqua" panose="02040602050305030304" pitchFamily="18" charset="0"/>
                <a:cs typeface="Book Antiqua" panose="02040602050305030304" pitchFamily="18" charset="0"/>
              </a:rPr>
              <a:t>Ways </a:t>
            </a:r>
            <a:r>
              <a:rPr lang="en-US" altLang="en-US" sz="1600" dirty="0">
                <a:solidFill>
                  <a:srgbClr val="231F20"/>
                </a:solidFill>
                <a:ea typeface="Book Antiqua" panose="02040602050305030304" pitchFamily="18" charset="0"/>
                <a:cs typeface="Book Antiqua" panose="02040602050305030304" pitchFamily="18" charset="0"/>
              </a:rPr>
              <a:t>of Correcting Market Failure</a:t>
            </a:r>
          </a:p>
          <a:p>
            <a:pPr marL="0" lvl="0" indent="0" eaLnBrk="0" hangingPunct="0">
              <a:spcAft>
                <a:spcPts val="600"/>
              </a:spcAft>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18.2 </a:t>
            </a:r>
            <a:r>
              <a:rPr lang="en-US" altLang="en-US" sz="1600" dirty="0" smtClean="0">
                <a:solidFill>
                  <a:srgbClr val="231F20"/>
                </a:solidFill>
                <a:ea typeface="Book Antiqua" panose="02040602050305030304" pitchFamily="18" charset="0"/>
                <a:cs typeface="Book Antiqua" panose="02040602050305030304" pitchFamily="18" charset="0"/>
              </a:rPr>
              <a:t>Stock </a:t>
            </a:r>
            <a:r>
              <a:rPr lang="en-US" altLang="en-US" sz="1600" dirty="0">
                <a:solidFill>
                  <a:srgbClr val="231F20"/>
                </a:solidFill>
                <a:ea typeface="Book Antiqua" panose="02040602050305030304" pitchFamily="18" charset="0"/>
                <a:cs typeface="Book Antiqua" panose="02040602050305030304" pitchFamily="18" charset="0"/>
              </a:rPr>
              <a:t>Externalities</a:t>
            </a:r>
          </a:p>
          <a:p>
            <a:pPr marL="0" lvl="0" indent="0" eaLnBrk="0" hangingPunct="0">
              <a:spcAft>
                <a:spcPts val="600"/>
              </a:spcAft>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18.2 </a:t>
            </a:r>
            <a:r>
              <a:rPr lang="en-US" altLang="en-US" sz="1600" dirty="0" smtClean="0">
                <a:solidFill>
                  <a:srgbClr val="231F20"/>
                </a:solidFill>
                <a:ea typeface="Book Antiqua" panose="02040602050305030304" pitchFamily="18" charset="0"/>
                <a:cs typeface="Book Antiqua" panose="02040602050305030304" pitchFamily="18" charset="0"/>
              </a:rPr>
              <a:t>Externalities </a:t>
            </a:r>
            <a:r>
              <a:rPr lang="en-US" altLang="en-US" sz="1600" dirty="0">
                <a:solidFill>
                  <a:srgbClr val="231F20"/>
                </a:solidFill>
                <a:ea typeface="Book Antiqua" panose="02040602050305030304" pitchFamily="18" charset="0"/>
                <a:cs typeface="Book Antiqua" panose="02040602050305030304" pitchFamily="18" charset="0"/>
              </a:rPr>
              <a:t>and Property Rights</a:t>
            </a:r>
          </a:p>
          <a:p>
            <a:pPr marL="0" lvl="0" indent="0" eaLnBrk="0" hangingPunct="0">
              <a:spcAft>
                <a:spcPts val="600"/>
              </a:spcAft>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18.2 </a:t>
            </a:r>
            <a:r>
              <a:rPr lang="en-US" altLang="en-US" sz="1600" dirty="0" smtClean="0">
                <a:solidFill>
                  <a:srgbClr val="231F20"/>
                </a:solidFill>
                <a:ea typeface="Book Antiqua" panose="02040602050305030304" pitchFamily="18" charset="0"/>
                <a:cs typeface="Book Antiqua" panose="02040602050305030304" pitchFamily="18" charset="0"/>
              </a:rPr>
              <a:t>Common </a:t>
            </a:r>
            <a:r>
              <a:rPr lang="en-US" altLang="en-US" sz="1600" dirty="0">
                <a:solidFill>
                  <a:srgbClr val="231F20"/>
                </a:solidFill>
                <a:ea typeface="Book Antiqua" panose="02040602050305030304" pitchFamily="18" charset="0"/>
                <a:cs typeface="Book Antiqua" panose="02040602050305030304" pitchFamily="18" charset="0"/>
              </a:rPr>
              <a:t>Property Resources</a:t>
            </a:r>
          </a:p>
          <a:p>
            <a:pPr marL="0" lvl="0" indent="0" eaLnBrk="0" hangingPunct="0">
              <a:spcAft>
                <a:spcPts val="600"/>
              </a:spcAft>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18.2 </a:t>
            </a:r>
            <a:r>
              <a:rPr lang="en-US" altLang="en-US" sz="1600" dirty="0" smtClean="0">
                <a:solidFill>
                  <a:srgbClr val="231F20"/>
                </a:solidFill>
                <a:ea typeface="Book Antiqua" panose="02040602050305030304" pitchFamily="18" charset="0"/>
                <a:cs typeface="Book Antiqua" panose="02040602050305030304" pitchFamily="18" charset="0"/>
              </a:rPr>
              <a:t>Public </a:t>
            </a:r>
            <a:r>
              <a:rPr lang="en-US" altLang="en-US" sz="1600" dirty="0">
                <a:solidFill>
                  <a:srgbClr val="231F20"/>
                </a:solidFill>
                <a:ea typeface="Book Antiqua" panose="02040602050305030304" pitchFamily="18" charset="0"/>
                <a:cs typeface="Book Antiqua" panose="02040602050305030304" pitchFamily="18" charset="0"/>
              </a:rPr>
              <a:t>Goods</a:t>
            </a:r>
            <a:endParaRPr lang="en-US" sz="1600" dirty="0">
              <a:solidFill>
                <a:prstClr val="black"/>
              </a:solidFill>
            </a:endParaRPr>
          </a:p>
        </p:txBody>
      </p:sp>
      <p:sp>
        <p:nvSpPr>
          <p:cNvPr id="17" name="Content Placeholder 16"/>
          <p:cNvSpPr>
            <a:spLocks noGrp="1"/>
          </p:cNvSpPr>
          <p:nvPr>
            <p:ph sz="quarter" idx="18"/>
          </p:nvPr>
        </p:nvSpPr>
        <p:spPr>
          <a:xfrm>
            <a:off x="4875402" y="1600200"/>
            <a:ext cx="3810000" cy="3562514"/>
          </a:xfrm>
          <a:prstGeom prst="rect">
            <a:avLst/>
          </a:prstGeom>
        </p:spPr>
        <p:txBody>
          <a:bodyPr wrap="square">
            <a:spAutoFit/>
          </a:bodyPr>
          <a:lstStyle/>
          <a:p>
            <a:pPr marL="0" indent="0" eaLnBrk="0" hangingPunct="0">
              <a:buClrTx/>
              <a:buNone/>
              <a:tabLst>
                <a:tab pos="577850" algn="l"/>
              </a:tabLst>
            </a:pPr>
            <a:r>
              <a:rPr lang="en-US" sz="1600" b="1" dirty="0"/>
              <a:t>LIST OF </a:t>
            </a:r>
            <a:r>
              <a:rPr lang="en-US" sz="1600" b="1" dirty="0" smtClean="0"/>
              <a:t>EXAMPLES</a:t>
            </a:r>
            <a:endParaRPr lang="en-US" altLang="en-US" sz="1600" dirty="0" smtClean="0">
              <a:solidFill>
                <a:srgbClr val="231F20"/>
              </a:solidFill>
              <a:ea typeface="Book Antiqua" panose="02040602050305030304" pitchFamily="18" charset="0"/>
              <a:cs typeface="Book Antiqua" panose="02040602050305030304" pitchFamily="18" charset="0"/>
            </a:endParaRPr>
          </a:p>
          <a:p>
            <a:pPr marL="457200" lvl="0" indent="-45720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The </a:t>
            </a:r>
            <a:r>
              <a:rPr lang="en-US" altLang="en-US" sz="1600" dirty="0">
                <a:solidFill>
                  <a:srgbClr val="231F20"/>
                </a:solidFill>
                <a:ea typeface="Book Antiqua" panose="02040602050305030304" pitchFamily="18" charset="0"/>
                <a:cs typeface="Book Antiqua" panose="02040602050305030304" pitchFamily="18" charset="0"/>
              </a:rPr>
              <a:t>Costs and Benefits of Sulfur </a:t>
            </a:r>
            <a:r>
              <a:rPr lang="en-US" altLang="en-US" sz="1600" dirty="0" smtClean="0">
                <a:solidFill>
                  <a:srgbClr val="231F20"/>
                </a:solidFill>
                <a:ea typeface="Book Antiqua" panose="02040602050305030304" pitchFamily="18" charset="0"/>
                <a:cs typeface="Book Antiqua" panose="02040602050305030304" pitchFamily="18" charset="0"/>
              </a:rPr>
              <a:t>Dioxide Emissions</a:t>
            </a:r>
            <a:endParaRPr lang="en-US" altLang="en-US" sz="1600" dirty="0">
              <a:solidFill>
                <a:srgbClr val="231F20"/>
              </a:solidFill>
              <a:ea typeface="Book Antiqua" panose="02040602050305030304" pitchFamily="18" charset="0"/>
              <a:cs typeface="Book Antiqua" panose="02040602050305030304" pitchFamily="18" charset="0"/>
            </a:endParaRP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Emissions </a:t>
            </a:r>
            <a:r>
              <a:rPr lang="en-US" altLang="en-US" sz="1600" dirty="0">
                <a:solidFill>
                  <a:srgbClr val="231F20"/>
                </a:solidFill>
                <a:ea typeface="Book Antiqua" panose="02040602050305030304" pitchFamily="18" charset="0"/>
                <a:cs typeface="Book Antiqua" panose="02040602050305030304" pitchFamily="18" charset="0"/>
              </a:rPr>
              <a:t>Trading and Clean Air</a:t>
            </a: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Regulating </a:t>
            </a:r>
            <a:r>
              <a:rPr lang="en-US" altLang="en-US" sz="1600" dirty="0">
                <a:solidFill>
                  <a:srgbClr val="231F20"/>
                </a:solidFill>
                <a:ea typeface="Book Antiqua" panose="02040602050305030304" pitchFamily="18" charset="0"/>
                <a:cs typeface="Book Antiqua" panose="02040602050305030304" pitchFamily="18" charset="0"/>
              </a:rPr>
              <a:t>Municipal Solid Wastes</a:t>
            </a: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Global </a:t>
            </a:r>
            <a:r>
              <a:rPr lang="en-US" altLang="en-US" sz="1600" dirty="0">
                <a:solidFill>
                  <a:srgbClr val="231F20"/>
                </a:solidFill>
                <a:ea typeface="Book Antiqua" panose="02040602050305030304" pitchFamily="18" charset="0"/>
                <a:cs typeface="Book Antiqua" panose="02040602050305030304" pitchFamily="18" charset="0"/>
              </a:rPr>
              <a:t>Warming</a:t>
            </a: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The </a:t>
            </a:r>
            <a:r>
              <a:rPr lang="en-US" altLang="en-US" sz="1600" dirty="0">
                <a:solidFill>
                  <a:srgbClr val="231F20"/>
                </a:solidFill>
                <a:ea typeface="Book Antiqua" panose="02040602050305030304" pitchFamily="18" charset="0"/>
                <a:cs typeface="Book Antiqua" panose="02040602050305030304" pitchFamily="18" charset="0"/>
              </a:rPr>
              <a:t>Coase Theorem at Work</a:t>
            </a: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Crawfish </a:t>
            </a:r>
            <a:r>
              <a:rPr lang="en-US" altLang="en-US" sz="1600" dirty="0">
                <a:solidFill>
                  <a:srgbClr val="231F20"/>
                </a:solidFill>
                <a:ea typeface="Book Antiqua" panose="02040602050305030304" pitchFamily="18" charset="0"/>
                <a:cs typeface="Book Antiqua" panose="02040602050305030304" pitchFamily="18" charset="0"/>
              </a:rPr>
              <a:t>Fishing in Louisiana</a:t>
            </a:r>
          </a:p>
          <a:p>
            <a:pPr marL="0" lvl="0" indent="0" eaLnBrk="0" hangingPunct="0">
              <a:buClrTx/>
              <a:buNone/>
              <a:tabLst>
                <a:tab pos="577850" algn="l"/>
              </a:tabLst>
            </a:pPr>
            <a:r>
              <a:rPr lang="en-US" altLang="en-US" sz="1600" dirty="0">
                <a:solidFill>
                  <a:schemeClr val="bg2"/>
                </a:solidFill>
                <a:ea typeface="Book Antiqua" panose="02040602050305030304" pitchFamily="18" charset="0"/>
                <a:cs typeface="Book Antiqua" panose="02040602050305030304" pitchFamily="18" charset="0"/>
              </a:rPr>
              <a:t>18.1 </a:t>
            </a:r>
            <a:r>
              <a:rPr lang="en-US" altLang="en-US" sz="1600" dirty="0" smtClean="0">
                <a:solidFill>
                  <a:srgbClr val="231F20"/>
                </a:solidFill>
                <a:ea typeface="Book Antiqua" panose="02040602050305030304" pitchFamily="18" charset="0"/>
                <a:cs typeface="Book Antiqua" panose="02040602050305030304" pitchFamily="18" charset="0"/>
              </a:rPr>
              <a:t>The </a:t>
            </a:r>
            <a:r>
              <a:rPr lang="en-US" altLang="en-US" sz="1600" dirty="0">
                <a:solidFill>
                  <a:srgbClr val="231F20"/>
                </a:solidFill>
                <a:ea typeface="Book Antiqua" panose="02040602050305030304" pitchFamily="18" charset="0"/>
                <a:cs typeface="Book Antiqua" panose="02040602050305030304" pitchFamily="18" charset="0"/>
              </a:rPr>
              <a:t>Demand for Clean Air</a:t>
            </a:r>
            <a:endParaRPr lang="en-US" sz="1600" dirty="0">
              <a:solidFill>
                <a:srgbClr val="231F20"/>
              </a:solidFill>
            </a:endParaRPr>
          </a:p>
        </p:txBody>
      </p:sp>
    </p:spTree>
    <p:extLst>
      <p:ext uri="{BB962C8B-B14F-4D97-AF65-F5344CB8AC3E}">
        <p14:creationId xmlns:p14="http://schemas.microsoft.com/office/powerpoint/2010/main" val="7181870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8119"/>
            <a:ext cx="8229600" cy="461665"/>
          </a:xfrm>
        </p:spPr>
        <p:txBody>
          <a:bodyPr>
            <a:spAutoFit/>
          </a:bodyPr>
          <a:lstStyle/>
          <a:p>
            <a:r>
              <a:rPr lang="en-US" sz="3000" dirty="0">
                <a:cs typeface="Calibri" panose="020F0502020204030204" pitchFamily="34" charset="0"/>
              </a:rPr>
              <a:t>Externalities and Public </a:t>
            </a:r>
            <a:r>
              <a:rPr lang="en-US" sz="3000" dirty="0" smtClean="0">
                <a:cs typeface="Calibri" panose="020F0502020204030204" pitchFamily="34" charset="0"/>
              </a:rPr>
              <a:t>Goods (2 of 2)</a:t>
            </a:r>
            <a:endParaRPr lang="en-US" sz="3000" dirty="0"/>
          </a:p>
        </p:txBody>
      </p:sp>
      <p:sp>
        <p:nvSpPr>
          <p:cNvPr id="11" name="Content Placeholder 10"/>
          <p:cNvSpPr>
            <a:spLocks noGrp="1"/>
          </p:cNvSpPr>
          <p:nvPr>
            <p:ph idx="1"/>
          </p:nvPr>
        </p:nvSpPr>
        <p:spPr>
          <a:xfrm>
            <a:off x="457200" y="1600200"/>
            <a:ext cx="8229600" cy="2354491"/>
          </a:xfrm>
        </p:spPr>
        <p:txBody>
          <a:bodyPr>
            <a:spAutoFit/>
          </a:bodyPr>
          <a:lstStyle/>
          <a:p>
            <a:pPr marL="0" lvl="0" indent="0">
              <a:buClrTx/>
              <a:buSzTx/>
              <a:buNone/>
            </a:pPr>
            <a:r>
              <a:rPr lang="en-US" dirty="0">
                <a:solidFill>
                  <a:prstClr val="black"/>
                </a:solidFill>
              </a:rPr>
              <a:t>In this chapter we study </a:t>
            </a:r>
            <a:r>
              <a:rPr lang="en-US" i="1" dirty="0">
                <a:solidFill>
                  <a:prstClr val="black"/>
                </a:solidFill>
              </a:rPr>
              <a:t>externalities</a:t>
            </a:r>
            <a:r>
              <a:rPr lang="en-US" dirty="0">
                <a:solidFill>
                  <a:prstClr val="black"/>
                </a:solidFill>
              </a:rPr>
              <a:t>—the effects of production and consumption activities not directly reflected in the market—and </a:t>
            </a:r>
            <a:r>
              <a:rPr lang="en-US" i="1" dirty="0">
                <a:solidFill>
                  <a:prstClr val="black"/>
                </a:solidFill>
              </a:rPr>
              <a:t>public goods</a:t>
            </a:r>
            <a:r>
              <a:rPr lang="en-US" dirty="0">
                <a:solidFill>
                  <a:prstClr val="black"/>
                </a:solidFill>
              </a:rPr>
              <a:t>—goods that benefit all consumers but that the market either undersupplies or does not supply at all</a:t>
            </a:r>
            <a:r>
              <a:rPr lang="en-US" dirty="0" smtClean="0">
                <a:solidFill>
                  <a:prstClr val="black"/>
                </a:solidFill>
              </a:rPr>
              <a:t>.</a:t>
            </a:r>
            <a:endParaRPr lang="en-US" dirty="0">
              <a:solidFill>
                <a:prstClr val="black"/>
              </a:solidFill>
            </a:endParaRPr>
          </a:p>
          <a:p>
            <a:pPr marL="0" lvl="0" indent="0">
              <a:buClrTx/>
              <a:buSzTx/>
              <a:buNone/>
            </a:pPr>
            <a:r>
              <a:rPr lang="en-US" dirty="0">
                <a:solidFill>
                  <a:prstClr val="black"/>
                </a:solidFill>
              </a:rPr>
              <a:t>When externalities are present, the price of a good need not reflect its social value. As a result, firms may produce too much or too little, so that the market outcome is inefficient</a:t>
            </a:r>
            <a:r>
              <a:rPr lang="en-US" dirty="0" smtClean="0">
                <a:solidFill>
                  <a:prstClr val="black"/>
                </a:solidFill>
              </a:rPr>
              <a:t>.</a:t>
            </a:r>
            <a:endParaRPr lang="en-US" dirty="0">
              <a:solidFill>
                <a:prstClr val="black"/>
              </a:solidFill>
            </a:endParaRPr>
          </a:p>
          <a:p>
            <a:pPr marL="0" lvl="0" indent="0">
              <a:buClrTx/>
              <a:buSzTx/>
              <a:buNone/>
            </a:pPr>
            <a:r>
              <a:rPr lang="en-US" dirty="0">
                <a:solidFill>
                  <a:prstClr val="black"/>
                </a:solidFill>
              </a:rPr>
              <a:t>The marginal cost of providing a public good to an additional consumer is zero, and people cannot be prevented from consuming it. We distinguish between those goods that are difficult to provide privately and those that could have been provided by the market</a:t>
            </a:r>
            <a:r>
              <a:rPr lang="en-US" dirty="0" smtClean="0">
                <a:solidFill>
                  <a:prstClr val="black"/>
                </a:solidFill>
              </a:rPr>
              <a:t>.</a:t>
            </a:r>
            <a:endParaRPr lang="en-US" dirty="0">
              <a:solidFill>
                <a:prstClr val="black"/>
              </a:solidFill>
            </a:endParaRPr>
          </a:p>
        </p:txBody>
      </p:sp>
    </p:spTree>
    <p:extLst>
      <p:ext uri="{BB962C8B-B14F-4D97-AF65-F5344CB8AC3E}">
        <p14:creationId xmlns:p14="http://schemas.microsoft.com/office/powerpoint/2010/main" val="6029506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5030"/>
            <a:ext cx="8229600" cy="523220"/>
          </a:xfrm>
        </p:spPr>
        <p:txBody>
          <a:bodyPr>
            <a:spAutoFit/>
          </a:bodyPr>
          <a:lstStyle/>
          <a:p>
            <a:r>
              <a:rPr lang="en-US" dirty="0"/>
              <a:t>18.1 </a:t>
            </a:r>
            <a:r>
              <a:rPr lang="en-US" dirty="0" smtClean="0"/>
              <a:t>Externalities (1 </a:t>
            </a:r>
            <a:r>
              <a:rPr lang="en-US" dirty="0">
                <a:cs typeface="Calibri" panose="020F0502020204030204" pitchFamily="34" charset="0"/>
              </a:rPr>
              <a:t>of</a:t>
            </a:r>
            <a:r>
              <a:rPr lang="en-US" dirty="0" smtClean="0"/>
              <a:t> 4)</a:t>
            </a:r>
            <a:endParaRPr lang="en-US" dirty="0"/>
          </a:p>
        </p:txBody>
      </p:sp>
      <p:sp>
        <p:nvSpPr>
          <p:cNvPr id="4" name="Content Placeholder 3"/>
          <p:cNvSpPr>
            <a:spLocks noGrp="1"/>
          </p:cNvSpPr>
          <p:nvPr>
            <p:ph idx="1"/>
          </p:nvPr>
        </p:nvSpPr>
        <p:spPr>
          <a:xfrm>
            <a:off x="457200" y="1600200"/>
            <a:ext cx="8229600" cy="2985433"/>
          </a:xfrm>
        </p:spPr>
        <p:txBody>
          <a:bodyPr>
            <a:spAutoFit/>
          </a:bodyPr>
          <a:lstStyle/>
          <a:p>
            <a:pPr marL="0" indent="0">
              <a:buNone/>
            </a:pPr>
            <a:r>
              <a:rPr lang="en-US" sz="1600" b="1" dirty="0"/>
              <a:t>externality </a:t>
            </a:r>
            <a:r>
              <a:rPr lang="en-US" sz="1600" dirty="0" smtClean="0"/>
              <a:t>Action </a:t>
            </a:r>
            <a:r>
              <a:rPr lang="en-US" sz="1600" dirty="0"/>
              <a:t>by either a producer or a consumer </a:t>
            </a:r>
            <a:r>
              <a:rPr lang="en-US" sz="1600" dirty="0" smtClean="0"/>
              <a:t>which affects </a:t>
            </a:r>
            <a:r>
              <a:rPr lang="en-US" sz="1600" dirty="0"/>
              <a:t>other producers or consumers, but is not accounted for in the market price</a:t>
            </a:r>
            <a:r>
              <a:rPr lang="en-US" sz="1600" dirty="0" smtClean="0"/>
              <a:t>.</a:t>
            </a:r>
          </a:p>
          <a:p>
            <a:pPr marL="0" indent="0">
              <a:buNone/>
            </a:pPr>
            <a:r>
              <a:rPr lang="en-US" sz="1600" dirty="0"/>
              <a:t>Externalities can be </a:t>
            </a:r>
            <a:r>
              <a:rPr lang="en-US" sz="1600" i="1" dirty="0"/>
              <a:t>negative</a:t>
            </a:r>
            <a:r>
              <a:rPr lang="en-US" sz="1600" dirty="0"/>
              <a:t>—when the action of one party imposes costs on another party—or </a:t>
            </a:r>
            <a:r>
              <a:rPr lang="en-US" sz="1600" i="1" dirty="0"/>
              <a:t>positive</a:t>
            </a:r>
            <a:r>
              <a:rPr lang="en-US" sz="1600" dirty="0"/>
              <a:t>—when the action of one party benefits another party.</a:t>
            </a:r>
          </a:p>
          <a:p>
            <a:pPr marL="0" indent="0">
              <a:buNone/>
            </a:pPr>
            <a:r>
              <a:rPr lang="en-US" sz="1600" b="1" dirty="0"/>
              <a:t>Negative Externalities and Inefficiency</a:t>
            </a:r>
          </a:p>
          <a:p>
            <a:pPr marL="0" indent="0">
              <a:buNone/>
            </a:pPr>
            <a:r>
              <a:rPr lang="en-US" sz="1600" b="1" dirty="0"/>
              <a:t>marginal external cost </a:t>
            </a:r>
            <a:r>
              <a:rPr lang="en-US" sz="1600" dirty="0" smtClean="0"/>
              <a:t>Increase </a:t>
            </a:r>
            <a:r>
              <a:rPr lang="en-US" sz="1600" dirty="0"/>
              <a:t>in cost imposed externally as one or more firms increase output by one unit.</a:t>
            </a:r>
          </a:p>
          <a:p>
            <a:pPr marL="0" indent="0">
              <a:buNone/>
            </a:pPr>
            <a:r>
              <a:rPr lang="en-US" sz="1600" b="1" dirty="0"/>
              <a:t>marginal social cost </a:t>
            </a:r>
            <a:r>
              <a:rPr lang="en-US" sz="1600" dirty="0" smtClean="0"/>
              <a:t>Sum </a:t>
            </a:r>
            <a:r>
              <a:rPr lang="en-US" sz="1600" dirty="0"/>
              <a:t>of the marginal cost of production and the marginal external cost</a:t>
            </a:r>
            <a:r>
              <a:rPr lang="en-US" sz="1600" dirty="0" smtClean="0"/>
              <a:t>.</a:t>
            </a:r>
            <a:endParaRPr lang="en-US" sz="1600" dirty="0"/>
          </a:p>
        </p:txBody>
      </p:sp>
    </p:spTree>
    <p:extLst>
      <p:ext uri="{BB962C8B-B14F-4D97-AF65-F5344CB8AC3E}">
        <p14:creationId xmlns:p14="http://schemas.microsoft.com/office/powerpoint/2010/main" val="32140957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8119"/>
            <a:ext cx="8229600" cy="461665"/>
          </a:xfrm>
        </p:spPr>
        <p:txBody>
          <a:bodyPr>
            <a:spAutoFit/>
          </a:bodyPr>
          <a:lstStyle/>
          <a:p>
            <a:r>
              <a:rPr lang="en-US" sz="3000" dirty="0"/>
              <a:t>18.1 </a:t>
            </a:r>
            <a:r>
              <a:rPr lang="en-US" sz="3000" dirty="0" smtClean="0"/>
              <a:t>Externalities (2 </a:t>
            </a:r>
            <a:r>
              <a:rPr lang="en-US" sz="3000" dirty="0">
                <a:cs typeface="Calibri" panose="020F0502020204030204" pitchFamily="34" charset="0"/>
              </a:rPr>
              <a:t>of</a:t>
            </a:r>
            <a:r>
              <a:rPr lang="en-US" sz="3000" dirty="0" smtClean="0"/>
              <a:t> 4)</a:t>
            </a:r>
            <a:endParaRPr lang="en-US" sz="3000" dirty="0"/>
          </a:p>
        </p:txBody>
      </p:sp>
      <p:pic>
        <p:nvPicPr>
          <p:cNvPr id="8" name="Picture Placeholder 7" descr="Graph a:  X-axis depicts Firm output marked as q* and q1 .  Y-axis depicts Price marked as P1. Two parallel upward sloping curves for marginal cost labeled MC and for marginal social cost labeled MSC are drawn from Y axis. Point (q1, P1) marked on curve MC and point (q*, P1) on MSC. One upward sloping curve labeled MEC is drawn from zero. A horizontal line is drawn from P1 intersecting MSC and MC.&#10;"/>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tretch>
            <a:fillRect/>
          </a:stretch>
        </p:blipFill>
        <p:spPr>
          <a:xfrm>
            <a:off x="457200" y="1600200"/>
            <a:ext cx="5245584" cy="2390024"/>
          </a:xfrm>
        </p:spPr>
      </p:pic>
      <p:sp>
        <p:nvSpPr>
          <p:cNvPr id="10" name="Content Placeholder 9"/>
          <p:cNvSpPr>
            <a:spLocks noGrp="1"/>
          </p:cNvSpPr>
          <p:nvPr>
            <p:ph idx="1"/>
          </p:nvPr>
        </p:nvSpPr>
        <p:spPr>
          <a:xfrm>
            <a:off x="453887" y="4048125"/>
            <a:ext cx="8229599" cy="2117503"/>
          </a:xfrm>
        </p:spPr>
        <p:txBody>
          <a:bodyPr wrap="square">
            <a:spAutoFit/>
          </a:bodyPr>
          <a:lstStyle/>
          <a:p>
            <a:pPr marL="342900" lvl="0" indent="-342900">
              <a:spcBef>
                <a:spcPct val="20000"/>
              </a:spcBef>
              <a:buClrTx/>
              <a:buSzTx/>
              <a:buNone/>
            </a:pPr>
            <a:r>
              <a:rPr lang="en-US" sz="1600" b="1" dirty="0"/>
              <a:t>FIGURE 18.1 </a:t>
            </a:r>
            <a:r>
              <a:rPr lang="en-US" sz="1600" b="1" dirty="0" smtClean="0"/>
              <a:t>(</a:t>
            </a:r>
            <a:r>
              <a:rPr lang="en-US" sz="1600" b="1" dirty="0"/>
              <a:t>1 of 2)</a:t>
            </a:r>
          </a:p>
          <a:p>
            <a:pPr marL="342900" lvl="0" indent="-342900">
              <a:spcBef>
                <a:spcPct val="20000"/>
              </a:spcBef>
              <a:buClrTx/>
              <a:buSzTx/>
              <a:buNone/>
            </a:pPr>
            <a:r>
              <a:rPr lang="en-US" sz="1600" b="1" dirty="0" smtClean="0"/>
              <a:t>EXTERNAL COST</a:t>
            </a:r>
          </a:p>
          <a:p>
            <a:pPr marL="0" lvl="0" indent="0">
              <a:spcBef>
                <a:spcPct val="20000"/>
              </a:spcBef>
              <a:spcAft>
                <a:spcPct val="20000"/>
              </a:spcAft>
              <a:buClrTx/>
              <a:buSzTx/>
              <a:buNone/>
            </a:pPr>
            <a:r>
              <a:rPr lang="en-US" altLang="zh-CN" sz="1600" dirty="0">
                <a:ea typeface="SimSun" pitchFamily="2" charset="-122"/>
              </a:rPr>
              <a:t>When there are negative externalities, the marginal social cost MSC is higher than the marginal cost MC</a:t>
            </a:r>
            <a:r>
              <a:rPr lang="en-US" altLang="zh-CN" sz="1600" dirty="0" smtClean="0">
                <a:ea typeface="SimSun" pitchFamily="2" charset="-122"/>
              </a:rPr>
              <a:t>.</a:t>
            </a:r>
            <a:endParaRPr lang="en-US" altLang="zh-CN" sz="1600" dirty="0">
              <a:ea typeface="SimSun" pitchFamily="2" charset="-122"/>
            </a:endParaRPr>
          </a:p>
          <a:p>
            <a:pPr marL="0" lvl="0" indent="0">
              <a:spcBef>
                <a:spcPct val="20000"/>
              </a:spcBef>
              <a:spcAft>
                <a:spcPct val="20000"/>
              </a:spcAft>
              <a:buClrTx/>
              <a:buSzTx/>
              <a:buNone/>
            </a:pPr>
            <a:r>
              <a:rPr lang="en-US" altLang="zh-CN" sz="1600" dirty="0">
                <a:ea typeface="SimSun" pitchFamily="2" charset="-122"/>
              </a:rPr>
              <a:t>The difference is the marginal external cost MEC. </a:t>
            </a:r>
          </a:p>
          <a:p>
            <a:pPr marL="0" lvl="0" indent="0">
              <a:spcBef>
                <a:spcPct val="20000"/>
              </a:spcBef>
              <a:spcAft>
                <a:spcPct val="20000"/>
              </a:spcAft>
              <a:buClrTx/>
              <a:buSzTx/>
              <a:buNone/>
            </a:pPr>
            <a:r>
              <a:rPr lang="en-US" altLang="zh-CN" sz="1600" dirty="0">
                <a:ea typeface="SimSun" pitchFamily="2" charset="-122"/>
              </a:rPr>
              <a:t>In </a:t>
            </a:r>
            <a:r>
              <a:rPr lang="en-US" altLang="zh-CN" sz="1600" b="1" dirty="0">
                <a:ea typeface="SimSun" pitchFamily="2" charset="-122"/>
              </a:rPr>
              <a:t>(a), </a:t>
            </a:r>
            <a:r>
              <a:rPr lang="en-US" altLang="zh-CN" sz="1600" dirty="0">
                <a:ea typeface="SimSun" pitchFamily="2" charset="-122"/>
              </a:rPr>
              <a:t>a profit-maximizing firm produces at </a:t>
            </a:r>
            <a:r>
              <a:rPr lang="en-US" altLang="zh-CN" sz="1600" i="1" dirty="0">
                <a:ea typeface="SimSun" pitchFamily="2" charset="-122"/>
              </a:rPr>
              <a:t>q</a:t>
            </a:r>
            <a:r>
              <a:rPr lang="en-US" altLang="zh-CN" sz="1600" baseline="-25000" dirty="0">
                <a:ea typeface="SimSun" pitchFamily="2" charset="-122"/>
              </a:rPr>
              <a:t>1</a:t>
            </a:r>
            <a:r>
              <a:rPr lang="en-US" altLang="zh-CN" sz="1600" dirty="0">
                <a:ea typeface="SimSun" pitchFamily="2" charset="-122"/>
              </a:rPr>
              <a:t>, where price is equal to MC.</a:t>
            </a:r>
          </a:p>
          <a:p>
            <a:pPr marL="0" lvl="0" indent="0">
              <a:spcBef>
                <a:spcPct val="20000"/>
              </a:spcBef>
              <a:spcAft>
                <a:spcPct val="20000"/>
              </a:spcAft>
              <a:buClrTx/>
              <a:buSzTx/>
              <a:buNone/>
            </a:pPr>
            <a:r>
              <a:rPr lang="en-US" altLang="zh-CN" sz="1600" dirty="0">
                <a:ea typeface="SimSun" pitchFamily="2" charset="-122"/>
              </a:rPr>
              <a:t>The efficient output is </a:t>
            </a:r>
            <a:r>
              <a:rPr lang="en-US" altLang="zh-CN" sz="1600" i="1" dirty="0">
                <a:ea typeface="SimSun" pitchFamily="2" charset="-122"/>
              </a:rPr>
              <a:t>q</a:t>
            </a:r>
            <a:r>
              <a:rPr lang="en-US" altLang="zh-CN" sz="1600" dirty="0">
                <a:ea typeface="SimSun" pitchFamily="2" charset="-122"/>
              </a:rPr>
              <a:t>*, at which price equals MSC</a:t>
            </a:r>
            <a:r>
              <a:rPr lang="en-US" altLang="zh-CN" sz="1600" dirty="0" smtClean="0">
                <a:ea typeface="SimSun" pitchFamily="2" charset="-122"/>
              </a:rPr>
              <a:t>.</a:t>
            </a:r>
            <a:endParaRPr lang="en-US" altLang="zh-CN" sz="1600" dirty="0">
              <a:ea typeface="SimSun" pitchFamily="2" charset="-122"/>
            </a:endParaRPr>
          </a:p>
        </p:txBody>
      </p:sp>
    </p:spTree>
    <p:extLst>
      <p:ext uri="{BB962C8B-B14F-4D97-AF65-F5344CB8AC3E}">
        <p14:creationId xmlns:p14="http://schemas.microsoft.com/office/powerpoint/2010/main" val="17592343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768118"/>
            <a:ext cx="8229600" cy="461665"/>
          </a:xfrm>
        </p:spPr>
        <p:txBody>
          <a:bodyPr>
            <a:spAutoFit/>
          </a:bodyPr>
          <a:lstStyle/>
          <a:p>
            <a:r>
              <a:rPr lang="en-US" sz="3000" dirty="0"/>
              <a:t>18.1 </a:t>
            </a:r>
            <a:r>
              <a:rPr lang="en-US" sz="3000" dirty="0" smtClean="0"/>
              <a:t>Externalities (3 </a:t>
            </a:r>
            <a:r>
              <a:rPr lang="en-US" sz="3000" dirty="0">
                <a:cs typeface="Calibri" panose="020F0502020204030204" pitchFamily="34" charset="0"/>
              </a:rPr>
              <a:t>of</a:t>
            </a:r>
            <a:r>
              <a:rPr lang="en-US" sz="3000" dirty="0" smtClean="0"/>
              <a:t> </a:t>
            </a:r>
            <a:r>
              <a:rPr lang="en-US" sz="3000" dirty="0"/>
              <a:t>4</a:t>
            </a:r>
            <a:r>
              <a:rPr lang="en-US" sz="3000" dirty="0" smtClean="0"/>
              <a:t>)</a:t>
            </a:r>
            <a:endParaRPr lang="en-US" sz="3000" dirty="0"/>
          </a:p>
        </p:txBody>
      </p:sp>
      <p:pic>
        <p:nvPicPr>
          <p:cNvPr id="8" name="Picture Placeholder 7" descr="Graph a:  X-axis depicts Firm output marked as q* and q1 .  Y-axis depicts Price marked as P1. Two parallel upward sloping curves for marginal cost labeled MC and for marginal social cost labeled MSC are drawn from Y axis. Point (q1, P1) marked on curve MC and point (q*, P1) on MSC. One upward sloping curve labeled MEC is drawn from zero. A horizontal line is drawn from P1 intersecting MSC and MC.&#10;Graph b: X-axis depicts Industry output marked as Q* and Q1 .  Y-axis depicts Price marked as P1 and P*. Supply curve labeled &quot;S = MC1&quot;  is drawn  intersecting a demand curve labeled D at point (Q1, P1). An upward sloping curve labeled MSC1 is drawn above Supply curve starting from same Price as supply curve. Curve MSC1 intersects D at (Q*, P*). An upward sloping curves labeled MEC1 is drawn from zero."/>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475411" y="1524000"/>
            <a:ext cx="6992188" cy="3183763"/>
          </a:xfrm>
        </p:spPr>
      </p:pic>
      <p:sp>
        <p:nvSpPr>
          <p:cNvPr id="10" name="Content Placeholder 9"/>
          <p:cNvSpPr>
            <a:spLocks noGrp="1"/>
          </p:cNvSpPr>
          <p:nvPr>
            <p:ph idx="1"/>
          </p:nvPr>
        </p:nvSpPr>
        <p:spPr>
          <a:xfrm>
            <a:off x="457200" y="4829175"/>
            <a:ext cx="8229600" cy="1336776"/>
          </a:xfrm>
        </p:spPr>
        <p:txBody>
          <a:bodyPr>
            <a:spAutoFit/>
          </a:bodyPr>
          <a:lstStyle/>
          <a:p>
            <a:pPr marL="342900" lvl="0" indent="-342900">
              <a:spcBef>
                <a:spcPts val="500"/>
              </a:spcBef>
              <a:buClrTx/>
              <a:buSzTx/>
              <a:buNone/>
            </a:pPr>
            <a:r>
              <a:rPr lang="en-US" sz="1300" b="1" dirty="0"/>
              <a:t>FIGURE 18.1 </a:t>
            </a:r>
            <a:r>
              <a:rPr lang="en-US" sz="1300" b="1" dirty="0" smtClean="0"/>
              <a:t>(</a:t>
            </a:r>
            <a:r>
              <a:rPr lang="en-US" sz="1300" b="1" dirty="0"/>
              <a:t>2 of 2)</a:t>
            </a:r>
          </a:p>
          <a:p>
            <a:pPr marL="342900" lvl="0" indent="-342900">
              <a:spcBef>
                <a:spcPts val="500"/>
              </a:spcBef>
              <a:buClrTx/>
              <a:buSzTx/>
              <a:buNone/>
            </a:pPr>
            <a:r>
              <a:rPr lang="en-US" sz="1300" b="1" dirty="0"/>
              <a:t>EXTERNAL COST</a:t>
            </a:r>
          </a:p>
          <a:p>
            <a:pPr marL="0" lvl="0" indent="0">
              <a:spcBef>
                <a:spcPts val="500"/>
              </a:spcBef>
              <a:spcAft>
                <a:spcPct val="20000"/>
              </a:spcAft>
              <a:buClrTx/>
              <a:buSzTx/>
              <a:buNone/>
            </a:pPr>
            <a:r>
              <a:rPr lang="en-US" altLang="zh-CN" sz="1300" dirty="0">
                <a:solidFill>
                  <a:prstClr val="black"/>
                </a:solidFill>
                <a:ea typeface="SimSun" pitchFamily="2" charset="-122"/>
              </a:rPr>
              <a:t>In </a:t>
            </a:r>
            <a:r>
              <a:rPr lang="en-US" altLang="zh-CN" sz="1300" b="1" dirty="0">
                <a:solidFill>
                  <a:prstClr val="black"/>
                </a:solidFill>
                <a:ea typeface="SimSun" pitchFamily="2" charset="-122"/>
              </a:rPr>
              <a:t>(b), </a:t>
            </a:r>
            <a:r>
              <a:rPr lang="en-US" altLang="zh-CN" sz="1300" dirty="0">
                <a:solidFill>
                  <a:prstClr val="black"/>
                </a:solidFill>
                <a:ea typeface="SimSun" pitchFamily="2" charset="-122"/>
              </a:rPr>
              <a:t>the industry’s competitive output is </a:t>
            </a:r>
            <a:r>
              <a:rPr lang="en-US" altLang="zh-CN" sz="1300" i="1" dirty="0">
                <a:solidFill>
                  <a:prstClr val="black"/>
                </a:solidFill>
                <a:ea typeface="SimSun" pitchFamily="2" charset="-122"/>
              </a:rPr>
              <a:t>Q</a:t>
            </a:r>
            <a:r>
              <a:rPr lang="en-US" altLang="zh-CN" sz="1300" baseline="-25000" dirty="0">
                <a:solidFill>
                  <a:prstClr val="black"/>
                </a:solidFill>
                <a:ea typeface="SimSun" pitchFamily="2" charset="-122"/>
              </a:rPr>
              <a:t>1</a:t>
            </a:r>
            <a:r>
              <a:rPr lang="en-US" altLang="zh-CN" sz="1300" dirty="0">
                <a:solidFill>
                  <a:prstClr val="black"/>
                </a:solidFill>
                <a:ea typeface="SimSun" pitchFamily="2" charset="-122"/>
              </a:rPr>
              <a:t>, at the intersection of industry supply </a:t>
            </a:r>
            <a:r>
              <a:rPr lang="en-US" altLang="zh-CN" sz="1300" i="1" dirty="0">
                <a:solidFill>
                  <a:prstClr val="black"/>
                </a:solidFill>
                <a:ea typeface="SimSun" pitchFamily="2" charset="-122"/>
              </a:rPr>
              <a:t>MC</a:t>
            </a:r>
            <a:r>
              <a:rPr lang="en-US" altLang="zh-CN" sz="1300" dirty="0">
                <a:solidFill>
                  <a:prstClr val="black"/>
                </a:solidFill>
                <a:ea typeface="SimSun" pitchFamily="2" charset="-122"/>
              </a:rPr>
              <a:t> and demand </a:t>
            </a:r>
            <a:r>
              <a:rPr lang="en-US" altLang="zh-CN" sz="1300" i="1" dirty="0">
                <a:solidFill>
                  <a:prstClr val="black"/>
                </a:solidFill>
                <a:ea typeface="SimSun" pitchFamily="2" charset="-122"/>
              </a:rPr>
              <a:t>D</a:t>
            </a:r>
            <a:r>
              <a:rPr lang="en-US" altLang="zh-CN" sz="1300" dirty="0">
                <a:solidFill>
                  <a:prstClr val="black"/>
                </a:solidFill>
                <a:ea typeface="SimSun" pitchFamily="2" charset="-122"/>
              </a:rPr>
              <a:t>. </a:t>
            </a:r>
          </a:p>
          <a:p>
            <a:pPr marL="0" lvl="0" indent="0">
              <a:spcBef>
                <a:spcPts val="500"/>
              </a:spcBef>
              <a:spcAft>
                <a:spcPct val="20000"/>
              </a:spcAft>
              <a:buClrTx/>
              <a:buSzTx/>
              <a:buNone/>
            </a:pPr>
            <a:r>
              <a:rPr lang="en-US" altLang="zh-CN" sz="1300" dirty="0">
                <a:solidFill>
                  <a:prstClr val="black"/>
                </a:solidFill>
                <a:ea typeface="SimSun" pitchFamily="2" charset="-122"/>
              </a:rPr>
              <a:t>However, the efficient output </a:t>
            </a:r>
            <a:r>
              <a:rPr lang="en-US" altLang="zh-CN" sz="1300" i="1" dirty="0">
                <a:solidFill>
                  <a:prstClr val="black"/>
                </a:solidFill>
                <a:ea typeface="SimSun" pitchFamily="2" charset="-122"/>
              </a:rPr>
              <a:t>Q</a:t>
            </a:r>
            <a:r>
              <a:rPr lang="en-US" altLang="zh-CN" sz="1300" dirty="0">
                <a:solidFill>
                  <a:prstClr val="black"/>
                </a:solidFill>
                <a:ea typeface="SimSun" pitchFamily="2" charset="-122"/>
              </a:rPr>
              <a:t>* is lower, at the intersection of demand and marginal social cost MSC</a:t>
            </a:r>
            <a:r>
              <a:rPr lang="en-US" altLang="zh-CN" sz="1300" dirty="0" smtClean="0">
                <a:solidFill>
                  <a:prstClr val="black"/>
                </a:solidFill>
                <a:ea typeface="SimSun" pitchFamily="2" charset="-122"/>
              </a:rPr>
              <a:t>.</a:t>
            </a:r>
          </a:p>
          <a:p>
            <a:pPr marL="0" indent="0">
              <a:spcBef>
                <a:spcPts val="500"/>
              </a:spcBef>
              <a:spcAft>
                <a:spcPct val="20000"/>
              </a:spcAft>
              <a:buClrTx/>
              <a:buSzTx/>
              <a:buNone/>
            </a:pPr>
            <a:r>
              <a:rPr lang="en-US" sz="1300" dirty="0"/>
              <a:t>The aggregate social cost is as the shaded triangle between MSC</a:t>
            </a:r>
            <a:r>
              <a:rPr lang="en-US" sz="1300" baseline="30000" dirty="0"/>
              <a:t>I</a:t>
            </a:r>
            <a:r>
              <a:rPr lang="en-US" sz="1300" dirty="0"/>
              <a:t>, </a:t>
            </a:r>
            <a:r>
              <a:rPr lang="en-US" sz="1300" i="1" dirty="0"/>
              <a:t>D</a:t>
            </a:r>
            <a:r>
              <a:rPr lang="en-US" sz="1300" dirty="0"/>
              <a:t>, and output </a:t>
            </a:r>
            <a:r>
              <a:rPr lang="en-US" sz="1300" i="1" dirty="0"/>
              <a:t>Q</a:t>
            </a:r>
            <a:r>
              <a:rPr lang="en-US" sz="1300" baseline="-25000" dirty="0"/>
              <a:t>1</a:t>
            </a:r>
            <a:r>
              <a:rPr lang="en-US" sz="1300" dirty="0" smtClean="0"/>
              <a:t>.</a:t>
            </a:r>
            <a:endParaRPr lang="en-US" sz="1300" dirty="0"/>
          </a:p>
        </p:txBody>
      </p:sp>
    </p:spTree>
    <p:extLst>
      <p:ext uri="{BB962C8B-B14F-4D97-AF65-F5344CB8AC3E}">
        <p14:creationId xmlns:p14="http://schemas.microsoft.com/office/powerpoint/2010/main" val="1986994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8119"/>
            <a:ext cx="8229600" cy="461665"/>
          </a:xfrm>
        </p:spPr>
        <p:txBody>
          <a:bodyPr>
            <a:spAutoFit/>
          </a:bodyPr>
          <a:lstStyle/>
          <a:p>
            <a:r>
              <a:rPr lang="en-US" sz="3000" dirty="0"/>
              <a:t>18.1 </a:t>
            </a:r>
            <a:r>
              <a:rPr lang="en-US" sz="3000" dirty="0" smtClean="0"/>
              <a:t>Externalities (4 </a:t>
            </a:r>
            <a:r>
              <a:rPr lang="en-US" sz="3000" dirty="0">
                <a:cs typeface="Calibri" panose="020F0502020204030204" pitchFamily="34" charset="0"/>
              </a:rPr>
              <a:t>of</a:t>
            </a:r>
            <a:r>
              <a:rPr lang="en-US" sz="3000" dirty="0" smtClean="0"/>
              <a:t> 4)</a:t>
            </a:r>
            <a:endParaRPr lang="en-US" sz="3000" dirty="0"/>
          </a:p>
        </p:txBody>
      </p:sp>
      <p:sp>
        <p:nvSpPr>
          <p:cNvPr id="7" name="Text Placeholder 6"/>
          <p:cNvSpPr>
            <a:spLocks noGrp="1"/>
          </p:cNvSpPr>
          <p:nvPr>
            <p:ph type="body" sz="quarter" idx="13"/>
          </p:nvPr>
        </p:nvSpPr>
        <p:spPr>
          <a:xfrm>
            <a:off x="457200" y="1343025"/>
            <a:ext cx="8229600" cy="246221"/>
          </a:xfrm>
        </p:spPr>
        <p:txBody>
          <a:bodyPr>
            <a:spAutoFit/>
          </a:bodyPr>
          <a:lstStyle/>
          <a:p>
            <a:r>
              <a:rPr lang="en-US" dirty="0"/>
              <a:t>Positive Externalities and </a:t>
            </a:r>
            <a:r>
              <a:rPr lang="en-US" dirty="0" smtClean="0"/>
              <a:t>Inefficiency</a:t>
            </a:r>
            <a:endParaRPr lang="en-US" dirty="0"/>
          </a:p>
        </p:txBody>
      </p:sp>
      <p:sp>
        <p:nvSpPr>
          <p:cNvPr id="8" name="Content Placeholder 7"/>
          <p:cNvSpPr>
            <a:spLocks noGrp="1"/>
          </p:cNvSpPr>
          <p:nvPr>
            <p:ph sz="quarter" idx="14"/>
          </p:nvPr>
        </p:nvSpPr>
        <p:spPr>
          <a:xfrm>
            <a:off x="461217" y="1871950"/>
            <a:ext cx="4653708" cy="4139595"/>
          </a:xfrm>
        </p:spPr>
        <p:txBody>
          <a:bodyPr wrap="square">
            <a:spAutoFit/>
          </a:bodyPr>
          <a:lstStyle/>
          <a:p>
            <a:pPr marL="0" indent="0">
              <a:buClrTx/>
              <a:buNone/>
            </a:pPr>
            <a:r>
              <a:rPr lang="en-US" sz="1500" b="1" dirty="0"/>
              <a:t>marginal external benefit </a:t>
            </a:r>
            <a:r>
              <a:rPr lang="en-US" sz="1500" dirty="0" smtClean="0"/>
              <a:t>Increased </a:t>
            </a:r>
            <a:r>
              <a:rPr lang="en-US" sz="1500" dirty="0"/>
              <a:t>benefit that accrues to other parties as a firm increases output by one uni</a:t>
            </a:r>
            <a:r>
              <a:rPr lang="en-US" sz="1500" dirty="0">
                <a:solidFill>
                  <a:prstClr val="black"/>
                </a:solidFill>
              </a:rPr>
              <a:t>t</a:t>
            </a:r>
            <a:r>
              <a:rPr lang="en-US" sz="1500" dirty="0" smtClean="0">
                <a:solidFill>
                  <a:prstClr val="black"/>
                </a:solidFill>
              </a:rPr>
              <a:t>.</a:t>
            </a:r>
            <a:endParaRPr lang="en-US" sz="1500" dirty="0">
              <a:solidFill>
                <a:prstClr val="black"/>
              </a:solidFill>
            </a:endParaRPr>
          </a:p>
          <a:p>
            <a:pPr marL="0" indent="0">
              <a:buClrTx/>
              <a:buNone/>
            </a:pPr>
            <a:r>
              <a:rPr lang="en-US" sz="1500" b="1" dirty="0">
                <a:solidFill>
                  <a:prstClr val="black"/>
                </a:solidFill>
              </a:rPr>
              <a:t>marginal</a:t>
            </a:r>
            <a:r>
              <a:rPr lang="en-US" sz="1500" dirty="0">
                <a:solidFill>
                  <a:prstClr val="black"/>
                </a:solidFill>
              </a:rPr>
              <a:t> </a:t>
            </a:r>
            <a:r>
              <a:rPr lang="en-US" sz="1500" b="1" dirty="0"/>
              <a:t>social benefit </a:t>
            </a:r>
            <a:r>
              <a:rPr lang="en-US" sz="1500" dirty="0" smtClean="0"/>
              <a:t>Sum </a:t>
            </a:r>
            <a:r>
              <a:rPr lang="en-US" sz="1500" dirty="0"/>
              <a:t>of the marginal private benefit plus the marginal external benef</a:t>
            </a:r>
            <a:r>
              <a:rPr lang="en-US" sz="1500" dirty="0">
                <a:solidFill>
                  <a:prstClr val="black"/>
                </a:solidFill>
              </a:rPr>
              <a:t>it</a:t>
            </a:r>
            <a:r>
              <a:rPr lang="en-US" sz="1500" dirty="0" smtClean="0">
                <a:solidFill>
                  <a:prstClr val="black"/>
                </a:solidFill>
              </a:rPr>
              <a:t>.</a:t>
            </a:r>
            <a:endParaRPr lang="en-US" sz="1500" dirty="0">
              <a:solidFill>
                <a:prstClr val="black"/>
              </a:solidFill>
            </a:endParaRPr>
          </a:p>
          <a:p>
            <a:pPr marL="0" indent="0">
              <a:buClrTx/>
              <a:buNone/>
            </a:pPr>
            <a:r>
              <a:rPr lang="en-US" sz="1500" b="1" dirty="0">
                <a:solidFill>
                  <a:prstClr val="black"/>
                </a:solidFill>
              </a:rPr>
              <a:t>FIGURE</a:t>
            </a:r>
            <a:r>
              <a:rPr lang="en-US" sz="1500" dirty="0">
                <a:solidFill>
                  <a:prstClr val="black"/>
                </a:solidFill>
              </a:rPr>
              <a:t> </a:t>
            </a:r>
            <a:r>
              <a:rPr lang="en-US" sz="1500" b="1" dirty="0" smtClean="0"/>
              <a:t>18.2</a:t>
            </a:r>
          </a:p>
          <a:p>
            <a:pPr marL="0" indent="0">
              <a:spcBef>
                <a:spcPts val="0"/>
              </a:spcBef>
              <a:buClrTx/>
              <a:buNone/>
            </a:pPr>
            <a:r>
              <a:rPr lang="en-US" sz="1500" b="1" dirty="0" smtClean="0"/>
              <a:t>EXTERNAL BENEFITS</a:t>
            </a:r>
            <a:endParaRPr lang="en-US" altLang="zh-CN" sz="1500" dirty="0" smtClean="0">
              <a:ea typeface="SimSun" pitchFamily="2" charset="-122"/>
              <a:cs typeface="Arial" pitchFamily="34" charset="0"/>
            </a:endParaRPr>
          </a:p>
          <a:p>
            <a:pPr marL="0" lvl="0" indent="0">
              <a:spcBef>
                <a:spcPts val="0"/>
              </a:spcBef>
              <a:buClrTx/>
              <a:buNone/>
            </a:pPr>
            <a:r>
              <a:rPr lang="en-US" altLang="zh-CN" sz="1500" dirty="0" smtClean="0">
                <a:ea typeface="SimSun" pitchFamily="2" charset="-122"/>
                <a:cs typeface="Arial" pitchFamily="34" charset="0"/>
              </a:rPr>
              <a:t>When </a:t>
            </a:r>
            <a:r>
              <a:rPr lang="en-US" altLang="zh-CN" sz="1500" dirty="0">
                <a:ea typeface="SimSun" pitchFamily="2" charset="-122"/>
                <a:cs typeface="Arial" pitchFamily="34" charset="0"/>
              </a:rPr>
              <a:t>there are positive externalities, marginal social benefits MSB are higher than marginal benefits </a:t>
            </a:r>
            <a:r>
              <a:rPr lang="en-US" altLang="zh-CN" sz="1500" i="1" dirty="0">
                <a:ea typeface="SimSun" pitchFamily="2" charset="-122"/>
                <a:cs typeface="Arial" pitchFamily="34" charset="0"/>
              </a:rPr>
              <a:t>D</a:t>
            </a:r>
            <a:r>
              <a:rPr lang="en-US" altLang="zh-CN" sz="1500" dirty="0">
                <a:ea typeface="SimSun" pitchFamily="2" charset="-122"/>
                <a:cs typeface="Arial" pitchFamily="34" charset="0"/>
              </a:rPr>
              <a:t>.</a:t>
            </a:r>
          </a:p>
          <a:p>
            <a:pPr marL="0" lvl="0" indent="0">
              <a:spcBef>
                <a:spcPts val="0"/>
              </a:spcBef>
              <a:buClrTx/>
              <a:buNone/>
            </a:pPr>
            <a:r>
              <a:rPr lang="en-US" altLang="zh-CN" sz="1500" dirty="0">
                <a:ea typeface="SimSun" pitchFamily="2" charset="-122"/>
                <a:cs typeface="Arial" pitchFamily="34" charset="0"/>
              </a:rPr>
              <a:t>The difference is the marginal external benefit MEB</a:t>
            </a:r>
            <a:r>
              <a:rPr lang="en-US" altLang="zh-CN" sz="1500" dirty="0" smtClean="0">
                <a:ea typeface="SimSun" pitchFamily="2" charset="-122"/>
                <a:cs typeface="Arial" pitchFamily="34" charset="0"/>
              </a:rPr>
              <a:t>.</a:t>
            </a:r>
            <a:endParaRPr lang="en-US" altLang="zh-CN" sz="1500" dirty="0">
              <a:ea typeface="SimSun" pitchFamily="2" charset="-122"/>
              <a:cs typeface="Arial" pitchFamily="34" charset="0"/>
            </a:endParaRPr>
          </a:p>
          <a:p>
            <a:pPr marL="0" lvl="0" indent="0">
              <a:spcBef>
                <a:spcPts val="0"/>
              </a:spcBef>
              <a:buClrTx/>
              <a:buNone/>
            </a:pPr>
            <a:r>
              <a:rPr lang="en-US" altLang="zh-CN" sz="1500" dirty="0">
                <a:ea typeface="SimSun" pitchFamily="2" charset="-122"/>
                <a:cs typeface="Arial" pitchFamily="34" charset="0"/>
              </a:rPr>
              <a:t>A self-interested homeowner invests </a:t>
            </a:r>
            <a:r>
              <a:rPr lang="en-US" altLang="zh-CN" sz="1500" i="1" dirty="0">
                <a:ea typeface="SimSun" pitchFamily="2" charset="-122"/>
                <a:cs typeface="Arial" pitchFamily="34" charset="0"/>
              </a:rPr>
              <a:t>q</a:t>
            </a:r>
            <a:r>
              <a:rPr lang="en-US" altLang="zh-CN" sz="1500" baseline="-25000" dirty="0">
                <a:ea typeface="SimSun" pitchFamily="2" charset="-122"/>
                <a:cs typeface="Arial" pitchFamily="34" charset="0"/>
              </a:rPr>
              <a:t>1</a:t>
            </a:r>
            <a:r>
              <a:rPr lang="en-US" altLang="zh-CN" sz="1500" dirty="0">
                <a:ea typeface="SimSun" pitchFamily="2" charset="-122"/>
                <a:cs typeface="Arial" pitchFamily="34" charset="0"/>
              </a:rPr>
              <a:t> in repairs, determined by the intersection of the marginal benefit curve </a:t>
            </a:r>
            <a:r>
              <a:rPr lang="en-US" altLang="zh-CN" sz="1500" i="1" dirty="0">
                <a:ea typeface="SimSun" pitchFamily="2" charset="-122"/>
                <a:cs typeface="Arial" pitchFamily="34" charset="0"/>
              </a:rPr>
              <a:t>D</a:t>
            </a:r>
            <a:r>
              <a:rPr lang="en-US" altLang="zh-CN" sz="1500" dirty="0">
                <a:ea typeface="SimSun" pitchFamily="2" charset="-122"/>
                <a:cs typeface="Arial" pitchFamily="34" charset="0"/>
              </a:rPr>
              <a:t> and the marginal cost curve </a:t>
            </a:r>
            <a:r>
              <a:rPr lang="en-US" altLang="zh-CN" sz="1500" dirty="0" smtClean="0">
                <a:ea typeface="SimSun" pitchFamily="2" charset="-122"/>
                <a:cs typeface="Arial" pitchFamily="34" charset="0"/>
              </a:rPr>
              <a:t>MC.</a:t>
            </a:r>
            <a:endParaRPr lang="en-US" altLang="zh-CN" sz="1500" dirty="0">
              <a:ea typeface="SimSun" pitchFamily="2" charset="-122"/>
              <a:cs typeface="Arial" pitchFamily="34" charset="0"/>
            </a:endParaRPr>
          </a:p>
          <a:p>
            <a:pPr marL="0" lvl="0" indent="0">
              <a:spcBef>
                <a:spcPts val="0"/>
              </a:spcBef>
              <a:buClrTx/>
              <a:buNone/>
            </a:pPr>
            <a:r>
              <a:rPr lang="en-US" altLang="zh-CN" sz="1500" dirty="0">
                <a:ea typeface="SimSun" pitchFamily="2" charset="-122"/>
                <a:cs typeface="Arial" pitchFamily="34" charset="0"/>
              </a:rPr>
              <a:t>The efficient level of repair </a:t>
            </a:r>
            <a:r>
              <a:rPr lang="en-US" altLang="zh-CN" sz="1500" i="1" dirty="0">
                <a:ea typeface="SimSun" pitchFamily="2" charset="-122"/>
                <a:cs typeface="Arial" pitchFamily="34" charset="0"/>
              </a:rPr>
              <a:t>q</a:t>
            </a:r>
            <a:r>
              <a:rPr lang="en-US" altLang="zh-CN" sz="1500" dirty="0">
                <a:ea typeface="SimSun" pitchFamily="2" charset="-122"/>
                <a:cs typeface="Arial" pitchFamily="34" charset="0"/>
              </a:rPr>
              <a:t>* is higher and is given by the intersection of the marginal social benefit and marginal cost curves</a:t>
            </a:r>
            <a:r>
              <a:rPr lang="en-US" altLang="zh-CN" sz="1500" dirty="0" smtClean="0">
                <a:ea typeface="SimSun" pitchFamily="2" charset="-122"/>
                <a:cs typeface="Arial" pitchFamily="34" charset="0"/>
              </a:rPr>
              <a:t>.</a:t>
            </a:r>
            <a:endParaRPr lang="en-US" altLang="zh-CN" sz="1500" dirty="0">
              <a:ea typeface="SimSun" pitchFamily="2" charset="-122"/>
              <a:cs typeface="Arial" pitchFamily="34" charset="0"/>
            </a:endParaRPr>
          </a:p>
        </p:txBody>
      </p:sp>
      <p:pic>
        <p:nvPicPr>
          <p:cNvPr id="12" name="Picture Placeholder 11" descr="X-axis depicts Quantity in dollars marked as q* and q1.  Y-axis depicts Price marked as P* and P1. A marginal cost curve labeled MC is drawn from Y = P1. Two parallel downward sloping curves for demand labeled D and for marginal social benefits labeled MSC are drawn from Y axis. Both Curves meet each other at a higher value on X axis. At point (q1, P1) D intersects MC and at point (Q*, P1) MC intersects MSC. One downward sloping curve labeled MEB is drawn from Y axis at a lower price to ending at a higher quantity on X axis. Difference between ending point of MEB and curves D and MSB meeting point is labeled as &quot;Repair level&quot;."/>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5427473" y="2240973"/>
            <a:ext cx="3259327" cy="3304665"/>
          </a:xfrm>
        </p:spPr>
      </p:pic>
    </p:spTree>
    <p:extLst>
      <p:ext uri="{BB962C8B-B14F-4D97-AF65-F5344CB8AC3E}">
        <p14:creationId xmlns:p14="http://schemas.microsoft.com/office/powerpoint/2010/main" val="31283672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762"/>
            <a:ext cx="8458200" cy="923330"/>
          </a:xfrm>
        </p:spPr>
        <p:txBody>
          <a:bodyPr wrap="square">
            <a:spAutoFit/>
          </a:bodyPr>
          <a:lstStyle/>
          <a:p>
            <a:r>
              <a:rPr lang="en-US" sz="3000" dirty="0"/>
              <a:t>EXAMPLE 18.1 THE COSTS AND B</a:t>
            </a:r>
            <a:r>
              <a:rPr lang="en-US" sz="3000" dirty="0" smtClean="0"/>
              <a:t>ENEFITS </a:t>
            </a:r>
            <a:r>
              <a:rPr lang="en-US" sz="3000" dirty="0"/>
              <a:t>OF SULFUR </a:t>
            </a:r>
            <a:r>
              <a:rPr lang="en-US" sz="3000" dirty="0" smtClean="0"/>
              <a:t>DIOXIDE EMISSIONS</a:t>
            </a:r>
            <a:endParaRPr lang="en-US" sz="3000" dirty="0"/>
          </a:p>
        </p:txBody>
      </p:sp>
      <p:sp>
        <p:nvSpPr>
          <p:cNvPr id="4" name="Content Placeholder 3"/>
          <p:cNvSpPr>
            <a:spLocks noGrp="1"/>
          </p:cNvSpPr>
          <p:nvPr>
            <p:ph sz="quarter" idx="14"/>
          </p:nvPr>
        </p:nvSpPr>
        <p:spPr>
          <a:xfrm>
            <a:off x="457200" y="1590675"/>
            <a:ext cx="8229600" cy="984885"/>
          </a:xfrm>
        </p:spPr>
        <p:txBody>
          <a:bodyPr wrap="square">
            <a:spAutoFit/>
          </a:bodyPr>
          <a:lstStyle/>
          <a:p>
            <a:pPr marL="0" indent="0">
              <a:buClrTx/>
              <a:buNone/>
            </a:pPr>
            <a:r>
              <a:rPr lang="en-US" sz="1600" dirty="0" smtClean="0">
                <a:solidFill>
                  <a:prstClr val="black"/>
                </a:solidFill>
              </a:rPr>
              <a:t>Although </a:t>
            </a:r>
            <a:r>
              <a:rPr lang="en-US" sz="1600" dirty="0">
                <a:solidFill>
                  <a:prstClr val="black"/>
                </a:solidFill>
              </a:rPr>
              <a:t>sulfur dioxide gas can be produced naturally by volcanoes, almost two-thirds of all sulfur dioxide emissions in the United States come from electric power generation that depends on burning fossil fuels such as coal and petroleum. In addition to human health, acid rain causes damage to water and forests as well as to man-made structures.</a:t>
            </a:r>
            <a:r>
              <a:rPr lang="en-US" sz="1600" dirty="0"/>
              <a:t> </a:t>
            </a:r>
            <a:endParaRPr lang="en-US" sz="1600" dirty="0">
              <a:solidFill>
                <a:prstClr val="black"/>
              </a:solidFill>
            </a:endParaRPr>
          </a:p>
        </p:txBody>
      </p:sp>
      <p:sp>
        <p:nvSpPr>
          <p:cNvPr id="5" name="Content Placeholder 4"/>
          <p:cNvSpPr>
            <a:spLocks noGrp="1"/>
          </p:cNvSpPr>
          <p:nvPr>
            <p:ph sz="quarter" idx="16"/>
          </p:nvPr>
        </p:nvSpPr>
        <p:spPr>
          <a:xfrm>
            <a:off x="457200" y="3048000"/>
            <a:ext cx="4591050" cy="2546851"/>
          </a:xfrm>
        </p:spPr>
        <p:txBody>
          <a:bodyPr wrap="square">
            <a:spAutoFit/>
          </a:bodyPr>
          <a:lstStyle/>
          <a:p>
            <a:pPr marL="0" indent="0">
              <a:buNone/>
            </a:pPr>
            <a:r>
              <a:rPr lang="en-US" sz="1600" b="1" dirty="0"/>
              <a:t>FIGURE 18.3</a:t>
            </a:r>
          </a:p>
          <a:p>
            <a:pPr marL="0" indent="0">
              <a:buNone/>
            </a:pPr>
            <a:r>
              <a:rPr lang="en-US" sz="1600" b="1" dirty="0"/>
              <a:t>SULFUR DIOXIDE EMISSIONS REDUCTIONS</a:t>
            </a:r>
          </a:p>
          <a:p>
            <a:pPr marL="0" indent="0">
              <a:buNone/>
            </a:pPr>
            <a:r>
              <a:rPr lang="en-US" altLang="zh-CN" sz="1600" dirty="0">
                <a:ea typeface="SimSun" pitchFamily="2" charset="-122"/>
                <a:cs typeface="Arial" pitchFamily="34" charset="0"/>
              </a:rPr>
              <a:t>The efficient sulfur dioxide concentration equates the marginal abatement cost to the marginal external cost.</a:t>
            </a:r>
          </a:p>
          <a:p>
            <a:pPr marL="0" lvl="0" indent="0">
              <a:buClrTx/>
              <a:buNone/>
            </a:pPr>
            <a:r>
              <a:rPr lang="en-US" altLang="zh-CN" sz="1600" dirty="0">
                <a:ea typeface="SimSun" pitchFamily="2" charset="-122"/>
                <a:cs typeface="Arial" pitchFamily="34" charset="0"/>
              </a:rPr>
              <a:t>Here the marginal abatement cost curve is a series of steps, each representing the use </a:t>
            </a:r>
            <a:br>
              <a:rPr lang="en-US" altLang="zh-CN" sz="1600" dirty="0">
                <a:ea typeface="SimSun" pitchFamily="2" charset="-122"/>
                <a:cs typeface="Arial" pitchFamily="34" charset="0"/>
              </a:rPr>
            </a:br>
            <a:r>
              <a:rPr lang="en-US" altLang="zh-CN" sz="1600" dirty="0">
                <a:ea typeface="SimSun" pitchFamily="2" charset="-122"/>
                <a:cs typeface="Arial" pitchFamily="34" charset="0"/>
              </a:rPr>
              <a:t>of a different abatement technology.</a:t>
            </a:r>
          </a:p>
        </p:txBody>
      </p:sp>
      <p:pic>
        <p:nvPicPr>
          <p:cNvPr id="8" name="Picture Placeholder 7" descr="X-axis depicts Sulfur dioxide concentration in ppm ranging from 0 to 0.08 in increments of 0.02. Y-axis depicts Dollars per unit of reduction ranging from 0 to 60 in increments of 20. A step curve labeled &quot;Marginal Abatement Cost&quot; is drawn from Y = 58, Y = 34, and Y = 12 to X = 0 to 0.02, X = 0.2 to 0.03, and X = 0.3 to 0.08. An upward slope curve labeled &quot;Marginal External Cost&quot; drawn from Zero, increasing till intersecting first curve at a Y = 20 and then remains there till end."/>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tretch>
            <a:fillRect/>
          </a:stretch>
        </p:blipFill>
        <p:spPr>
          <a:xfrm>
            <a:off x="5185838" y="2895600"/>
            <a:ext cx="3500962" cy="2535832"/>
          </a:xfrm>
        </p:spPr>
      </p:pic>
    </p:spTree>
    <p:extLst>
      <p:ext uri="{BB962C8B-B14F-4D97-AF65-F5344CB8AC3E}">
        <p14:creationId xmlns:p14="http://schemas.microsoft.com/office/powerpoint/2010/main" val="5952475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2"/>
            <a:ext cx="8229600" cy="1046440"/>
          </a:xfrm>
        </p:spPr>
        <p:txBody>
          <a:bodyPr>
            <a:spAutoFit/>
          </a:bodyPr>
          <a:lstStyle/>
          <a:p>
            <a:pPr marL="857250" indent="-857250"/>
            <a:r>
              <a:rPr lang="en-US" dirty="0"/>
              <a:t>18.2 </a:t>
            </a:r>
            <a:r>
              <a:rPr lang="en-US" dirty="0" smtClean="0"/>
              <a:t>Ways </a:t>
            </a:r>
            <a:r>
              <a:rPr lang="en-US" dirty="0"/>
              <a:t>of Correcting Market </a:t>
            </a:r>
            <a:r>
              <a:rPr lang="en-US" dirty="0" smtClean="0"/>
              <a:t>Failure</a:t>
            </a:r>
            <a:br>
              <a:rPr lang="en-US" dirty="0" smtClean="0"/>
            </a:br>
            <a:r>
              <a:rPr lang="en-US" dirty="0" smtClean="0"/>
              <a:t>(1 </a:t>
            </a:r>
            <a:r>
              <a:rPr lang="en-US" dirty="0">
                <a:cs typeface="Calibri" panose="020F0502020204030204" pitchFamily="34" charset="0"/>
              </a:rPr>
              <a:t>of</a:t>
            </a:r>
            <a:r>
              <a:rPr lang="en-US" dirty="0" smtClean="0"/>
              <a:t> 6)</a:t>
            </a:r>
            <a:endParaRPr lang="en-US" dirty="0"/>
          </a:p>
        </p:txBody>
      </p:sp>
      <p:sp>
        <p:nvSpPr>
          <p:cNvPr id="4" name="Content Placeholder 3"/>
          <p:cNvSpPr>
            <a:spLocks noGrp="1"/>
          </p:cNvSpPr>
          <p:nvPr>
            <p:ph sz="quarter" idx="14"/>
          </p:nvPr>
        </p:nvSpPr>
        <p:spPr>
          <a:xfrm>
            <a:off x="457200" y="1600200"/>
            <a:ext cx="4114800" cy="2885405"/>
          </a:xfrm>
        </p:spPr>
        <p:txBody>
          <a:bodyPr>
            <a:spAutoFit/>
          </a:bodyPr>
          <a:lstStyle/>
          <a:p>
            <a:pPr marL="0" indent="0">
              <a:buNone/>
            </a:pPr>
            <a:r>
              <a:rPr lang="en-US" sz="1500" b="1" dirty="0"/>
              <a:t>FIGURE </a:t>
            </a:r>
            <a:r>
              <a:rPr lang="en-US" sz="1500" b="1" dirty="0" smtClean="0"/>
              <a:t>18.4</a:t>
            </a:r>
          </a:p>
          <a:p>
            <a:pPr marL="0" indent="0">
              <a:buNone/>
            </a:pPr>
            <a:r>
              <a:rPr lang="en-US" sz="1500" b="1" dirty="0"/>
              <a:t>THE EFFICIENT LEVEL OF EMISSIONS</a:t>
            </a:r>
          </a:p>
          <a:p>
            <a:pPr marL="0" lvl="0" indent="0">
              <a:buClrTx/>
              <a:buNone/>
            </a:pPr>
            <a:r>
              <a:rPr lang="en-US" altLang="zh-CN" sz="1500" dirty="0">
                <a:solidFill>
                  <a:prstClr val="black"/>
                </a:solidFill>
                <a:ea typeface="SimSun" pitchFamily="2" charset="-122"/>
                <a:cs typeface="Arial" pitchFamily="34" charset="0"/>
              </a:rPr>
              <a:t>The efficient level of factory emissions is the level that equates the marginal external cost of emissions MEC to the benefit associated with lower abatement costs </a:t>
            </a:r>
            <a:r>
              <a:rPr lang="en-US" altLang="zh-CN" sz="1500" dirty="0" smtClean="0">
                <a:solidFill>
                  <a:prstClr val="black"/>
                </a:solidFill>
                <a:ea typeface="SimSun" pitchFamily="2" charset="-122"/>
                <a:cs typeface="Arial" pitchFamily="34" charset="0"/>
              </a:rPr>
              <a:t>MCA. The </a:t>
            </a:r>
            <a:r>
              <a:rPr lang="en-US" altLang="zh-CN" sz="1500" dirty="0">
                <a:solidFill>
                  <a:prstClr val="black"/>
                </a:solidFill>
                <a:ea typeface="SimSun" pitchFamily="2" charset="-122"/>
                <a:cs typeface="Arial" pitchFamily="34" charset="0"/>
              </a:rPr>
              <a:t>efficient level of 12 units is </a:t>
            </a:r>
            <a:r>
              <a:rPr lang="en-US" altLang="zh-CN" sz="1500" i="1" dirty="0">
                <a:solidFill>
                  <a:prstClr val="black"/>
                </a:solidFill>
                <a:ea typeface="SimSun" pitchFamily="2" charset="-122"/>
                <a:cs typeface="Arial" pitchFamily="34" charset="0"/>
              </a:rPr>
              <a:t>E*.</a:t>
            </a:r>
            <a:endParaRPr lang="zh-CN" altLang="en-US" sz="1500" dirty="0">
              <a:solidFill>
                <a:prstClr val="black"/>
              </a:solidFill>
              <a:ea typeface="SimSun" pitchFamily="2" charset="-122"/>
              <a:cs typeface="Arial" pitchFamily="34" charset="0"/>
            </a:endParaRPr>
          </a:p>
          <a:p>
            <a:pPr marL="0" lvl="0" indent="0">
              <a:buClrTx/>
              <a:buNone/>
            </a:pPr>
            <a:r>
              <a:rPr lang="en-US" altLang="zh-CN" sz="1500" dirty="0" smtClean="0">
                <a:ea typeface="SimSun" pitchFamily="2" charset="-122"/>
                <a:cs typeface="Arial" pitchFamily="34" charset="0"/>
              </a:rPr>
              <a:t>Here </a:t>
            </a:r>
            <a:r>
              <a:rPr lang="en-US" altLang="zh-CN" sz="1500" dirty="0">
                <a:ea typeface="SimSun" pitchFamily="2" charset="-122"/>
                <a:cs typeface="Arial" pitchFamily="34" charset="0"/>
              </a:rPr>
              <a:t>the marginal abatement cost curve is a series of steps, each representing the use of a different abatement technology</a:t>
            </a:r>
            <a:r>
              <a:rPr lang="en-US" altLang="zh-CN" sz="1500" dirty="0" smtClean="0">
                <a:ea typeface="SimSun" pitchFamily="2" charset="-122"/>
                <a:cs typeface="Arial" pitchFamily="34" charset="0"/>
              </a:rPr>
              <a:t>.</a:t>
            </a:r>
            <a:endParaRPr lang="en-US" altLang="zh-CN" sz="1500" dirty="0">
              <a:ea typeface="SimSun" pitchFamily="2" charset="-122"/>
              <a:cs typeface="Arial" pitchFamily="34" charset="0"/>
            </a:endParaRPr>
          </a:p>
        </p:txBody>
      </p:sp>
      <p:pic>
        <p:nvPicPr>
          <p:cNvPr id="8" name="Picture Placeholder 7" descr="X-axis depicts Level of emissions ranging from 0 to 26 in increments of 2. X axis E0 = 6, E* = 12 and E1 = 18 are marked. Y-axis depicts Dollars per unit of emissions ranging from 0 to 6 in increments of 2. An upward slope curve labeled MEC is drawn on graph. Another downward slope curve labeled MCA drawn intersecting MEC at point (E*, 3)."/>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5081828" y="1600200"/>
            <a:ext cx="3604972" cy="2438400"/>
          </a:xfrm>
        </p:spPr>
      </p:pic>
      <p:sp>
        <p:nvSpPr>
          <p:cNvPr id="5" name="Content Placeholder 4"/>
          <p:cNvSpPr>
            <a:spLocks noGrp="1"/>
          </p:cNvSpPr>
          <p:nvPr>
            <p:ph sz="quarter" idx="16"/>
          </p:nvPr>
        </p:nvSpPr>
        <p:spPr>
          <a:xfrm>
            <a:off x="457200" y="4724400"/>
            <a:ext cx="8229600" cy="1115690"/>
          </a:xfrm>
        </p:spPr>
        <p:txBody>
          <a:bodyPr>
            <a:spAutoFit/>
          </a:bodyPr>
          <a:lstStyle/>
          <a:p>
            <a:pPr marL="0" indent="0">
              <a:buNone/>
            </a:pPr>
            <a:r>
              <a:rPr lang="en-US" sz="1500" dirty="0"/>
              <a:t>With no effort at abatement, the firm’s profit-maximizing level of emissions is 26, the level at which the marginal cost of abatement is </a:t>
            </a:r>
            <a:r>
              <a:rPr lang="en-US" sz="1500" dirty="0" smtClean="0"/>
              <a:t>zero.</a:t>
            </a:r>
          </a:p>
          <a:p>
            <a:pPr marL="0" indent="0">
              <a:buNone/>
            </a:pPr>
            <a:r>
              <a:rPr lang="en-US" sz="1500" dirty="0" smtClean="0"/>
              <a:t>We </a:t>
            </a:r>
            <a:r>
              <a:rPr lang="en-US" sz="1500" dirty="0"/>
              <a:t>can encourage the firm to reduce emissions to </a:t>
            </a:r>
            <a:r>
              <a:rPr lang="en-US" sz="1500" i="1" dirty="0"/>
              <a:t>E</a:t>
            </a:r>
            <a:r>
              <a:rPr lang="en-US" sz="1500" dirty="0"/>
              <a:t>* in three ways: (1) emissions standards; (2) emissions fees; and (3) transferable emissions permits.</a:t>
            </a:r>
          </a:p>
        </p:txBody>
      </p:sp>
    </p:spTree>
    <p:extLst>
      <p:ext uri="{BB962C8B-B14F-4D97-AF65-F5344CB8AC3E}">
        <p14:creationId xmlns:p14="http://schemas.microsoft.com/office/powerpoint/2010/main" val="10420330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(2 </a:t>
            </a:r>
            <a:r>
              <a:rPr lang="en-US" sz="3000" dirty="0">
                <a:cs typeface="Calibri" panose="020F0502020204030204" pitchFamily="34" charset="0"/>
              </a:rPr>
              <a:t>of</a:t>
            </a:r>
            <a:r>
              <a:rPr lang="en-US" sz="3000" dirty="0" smtClean="0"/>
              <a:t> </a:t>
            </a:r>
            <a:r>
              <a:rPr lang="en-US" sz="3000" dirty="0"/>
              <a:t>6)</a:t>
            </a:r>
          </a:p>
        </p:txBody>
      </p:sp>
      <p:sp>
        <p:nvSpPr>
          <p:cNvPr id="4" name="Content Placeholder 3"/>
          <p:cNvSpPr>
            <a:spLocks noGrp="1"/>
          </p:cNvSpPr>
          <p:nvPr>
            <p:ph idx="1"/>
          </p:nvPr>
        </p:nvSpPr>
        <p:spPr>
          <a:xfrm>
            <a:off x="457200" y="1600200"/>
            <a:ext cx="8229600" cy="2931572"/>
          </a:xfrm>
        </p:spPr>
        <p:txBody>
          <a:bodyPr>
            <a:spAutoFit/>
          </a:bodyPr>
          <a:lstStyle/>
          <a:p>
            <a:pPr marL="0" indent="0">
              <a:buNone/>
            </a:pPr>
            <a:r>
              <a:rPr lang="en-US" sz="1600" b="1" dirty="0"/>
              <a:t>An Emissions </a:t>
            </a:r>
            <a:r>
              <a:rPr lang="en-US" sz="1600" b="1" dirty="0" smtClean="0"/>
              <a:t>Standard</a:t>
            </a:r>
          </a:p>
          <a:p>
            <a:pPr marL="0" indent="0">
              <a:buNone/>
            </a:pPr>
            <a:r>
              <a:rPr lang="en-US" sz="1600" b="1" dirty="0"/>
              <a:t>emissions standard </a:t>
            </a:r>
            <a:r>
              <a:rPr lang="en-US" sz="1600" dirty="0" smtClean="0"/>
              <a:t>Legal </a:t>
            </a:r>
            <a:r>
              <a:rPr lang="en-US" sz="1600" dirty="0"/>
              <a:t>limit on the amount of pollutants that a firm can emit.</a:t>
            </a:r>
          </a:p>
          <a:p>
            <a:pPr marL="0" lvl="0" indent="0">
              <a:buClrTx/>
              <a:buSzTx/>
              <a:buNone/>
            </a:pPr>
            <a:r>
              <a:rPr lang="en-US" sz="1600" dirty="0"/>
              <a:t>The standard ensures that the firm produces efficiently. The firm meets </a:t>
            </a:r>
            <a:r>
              <a:rPr lang="en-US" sz="1600" dirty="0" smtClean="0"/>
              <a:t>the standard </a:t>
            </a:r>
            <a:r>
              <a:rPr lang="en-US" sz="1600" dirty="0"/>
              <a:t>by installing pollution-abatement equipment. Firms will find it profitable to enter the industry only if the price of the product is greater than the average cost of production plus abatement—the efficient condition for the industry</a:t>
            </a:r>
            <a:r>
              <a:rPr lang="en-US" sz="1600" dirty="0" smtClean="0"/>
              <a:t>.</a:t>
            </a:r>
          </a:p>
          <a:p>
            <a:pPr marL="0" indent="0">
              <a:buClrTx/>
              <a:buSzTx/>
              <a:buNone/>
            </a:pPr>
            <a:r>
              <a:rPr lang="en-US" sz="1600" b="1" dirty="0" smtClean="0"/>
              <a:t>An </a:t>
            </a:r>
            <a:r>
              <a:rPr lang="en-US" sz="1600" b="1" dirty="0"/>
              <a:t>Emissions Fee</a:t>
            </a:r>
          </a:p>
          <a:p>
            <a:pPr marL="0" lvl="0" indent="0">
              <a:buSzTx/>
              <a:buNone/>
            </a:pPr>
            <a:r>
              <a:rPr lang="en-US" sz="1600" b="1" dirty="0" smtClean="0"/>
              <a:t>emissions </a:t>
            </a:r>
            <a:r>
              <a:rPr lang="en-US" sz="1600" b="1" dirty="0"/>
              <a:t>fee </a:t>
            </a:r>
            <a:r>
              <a:rPr lang="en-US" sz="1600" dirty="0" smtClean="0"/>
              <a:t>Charge </a:t>
            </a:r>
            <a:r>
              <a:rPr lang="en-US" sz="1600" dirty="0"/>
              <a:t>levied on each unit of a firm’s emissions</a:t>
            </a:r>
            <a:r>
              <a:rPr lang="en-US" sz="1600" dirty="0" smtClean="0"/>
              <a:t>.</a:t>
            </a:r>
            <a:endParaRPr lang="en-US" sz="1600" dirty="0"/>
          </a:p>
        </p:txBody>
      </p:sp>
    </p:spTree>
    <p:extLst>
      <p:ext uri="{BB962C8B-B14F-4D97-AF65-F5344CB8AC3E}">
        <p14:creationId xmlns:p14="http://schemas.microsoft.com/office/powerpoint/2010/main" val="16513808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618"/>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(3 </a:t>
            </a:r>
            <a:r>
              <a:rPr lang="en-US" sz="3000" dirty="0">
                <a:cs typeface="Calibri" panose="020F0502020204030204" pitchFamily="34" charset="0"/>
              </a:rPr>
              <a:t>of</a:t>
            </a:r>
            <a:r>
              <a:rPr lang="en-US" sz="3000" dirty="0" smtClean="0"/>
              <a:t> </a:t>
            </a:r>
            <a:r>
              <a:rPr lang="en-US" sz="3000" dirty="0"/>
              <a:t>6)</a:t>
            </a:r>
          </a:p>
        </p:txBody>
      </p:sp>
      <p:sp>
        <p:nvSpPr>
          <p:cNvPr id="8" name="Content Placeholder 7"/>
          <p:cNvSpPr>
            <a:spLocks noGrp="1"/>
          </p:cNvSpPr>
          <p:nvPr>
            <p:ph sz="quarter" idx="14"/>
          </p:nvPr>
        </p:nvSpPr>
        <p:spPr>
          <a:xfrm>
            <a:off x="457200" y="1600200"/>
            <a:ext cx="4114800" cy="3724096"/>
          </a:xfrm>
        </p:spPr>
        <p:txBody>
          <a:bodyPr>
            <a:spAutoFit/>
          </a:bodyPr>
          <a:lstStyle/>
          <a:p>
            <a:pPr marL="0" indent="0">
              <a:spcBef>
                <a:spcPts val="0"/>
              </a:spcBef>
              <a:buClrTx/>
              <a:buNone/>
            </a:pPr>
            <a:r>
              <a:rPr lang="en-US" sz="1600" b="1" dirty="0"/>
              <a:t>FIGURE </a:t>
            </a:r>
            <a:r>
              <a:rPr lang="en-US" sz="1600" b="1" dirty="0" smtClean="0"/>
              <a:t>18.5</a:t>
            </a:r>
          </a:p>
          <a:p>
            <a:pPr marL="0" indent="0">
              <a:buClrTx/>
              <a:buNone/>
            </a:pPr>
            <a:r>
              <a:rPr lang="en-US" sz="1600" b="1" dirty="0" smtClean="0"/>
              <a:t>STANDARDS </a:t>
            </a:r>
            <a:r>
              <a:rPr lang="en-US" sz="1600" b="1" dirty="0"/>
              <a:t>AND </a:t>
            </a:r>
            <a:r>
              <a:rPr lang="en-US" sz="1600" b="1" dirty="0" smtClean="0"/>
              <a:t>FEES</a:t>
            </a:r>
            <a:endParaRPr lang="en-US" altLang="zh-CN" sz="1600" dirty="0">
              <a:solidFill>
                <a:prstClr val="black"/>
              </a:solidFill>
            </a:endParaRPr>
          </a:p>
          <a:p>
            <a:pPr marL="0" indent="0">
              <a:buClrTx/>
              <a:buNone/>
            </a:pPr>
            <a:r>
              <a:rPr lang="en-US" altLang="zh-CN" sz="1600" dirty="0">
                <a:solidFill>
                  <a:prstClr val="black"/>
                </a:solidFill>
              </a:rPr>
              <a:t>The</a:t>
            </a:r>
            <a:r>
              <a:rPr lang="en-US" altLang="zh-CN" sz="1600" dirty="0" smtClean="0">
                <a:ea typeface="SimSun" pitchFamily="2" charset="-122"/>
              </a:rPr>
              <a:t> </a:t>
            </a:r>
            <a:r>
              <a:rPr lang="en-US" altLang="zh-CN" sz="1600" dirty="0">
                <a:ea typeface="SimSun" pitchFamily="2" charset="-122"/>
              </a:rPr>
              <a:t>efficient level of emissions at </a:t>
            </a:r>
            <a:r>
              <a:rPr lang="en-US" altLang="zh-CN" sz="1600" i="1" dirty="0">
                <a:ea typeface="SimSun" pitchFamily="2" charset="-122"/>
              </a:rPr>
              <a:t>E</a:t>
            </a:r>
            <a:r>
              <a:rPr lang="en-US" altLang="zh-CN" sz="1600" dirty="0">
                <a:ea typeface="SimSun" pitchFamily="2" charset="-122"/>
              </a:rPr>
              <a:t>* can be achieved through either an emissions fee or an emissions </a:t>
            </a:r>
            <a:r>
              <a:rPr lang="en-US" altLang="zh-CN" sz="1600" dirty="0" smtClean="0">
                <a:ea typeface="SimSun" pitchFamily="2" charset="-122"/>
              </a:rPr>
              <a:t>standard</a:t>
            </a:r>
            <a:r>
              <a:rPr lang="en-US" altLang="zh-CN" sz="1600" dirty="0" smtClean="0">
                <a:solidFill>
                  <a:prstClr val="black"/>
                </a:solidFill>
              </a:rPr>
              <a:t>.</a:t>
            </a:r>
            <a:endParaRPr lang="en-US" altLang="zh-CN" sz="1600" dirty="0">
              <a:solidFill>
                <a:prstClr val="black"/>
              </a:solidFill>
            </a:endParaRPr>
          </a:p>
          <a:p>
            <a:pPr marL="0" indent="0">
              <a:buClrTx/>
              <a:buNone/>
            </a:pPr>
            <a:r>
              <a:rPr lang="en-US" altLang="zh-CN" sz="1600" dirty="0">
                <a:solidFill>
                  <a:prstClr val="black"/>
                </a:solidFill>
              </a:rPr>
              <a:t>Facing </a:t>
            </a:r>
            <a:r>
              <a:rPr lang="en-US" altLang="zh-CN" sz="1600" dirty="0" smtClean="0">
                <a:ea typeface="SimSun" pitchFamily="2" charset="-122"/>
              </a:rPr>
              <a:t>a fee of $3 per unit of emissions, a firm reduces emissions to the point at which the fee is equal to the marginal cost of abatement</a:t>
            </a:r>
            <a:r>
              <a:rPr lang="en-US" altLang="zh-CN" sz="1600" dirty="0" smtClean="0">
                <a:solidFill>
                  <a:prstClr val="black"/>
                </a:solidFill>
              </a:rPr>
              <a:t>.</a:t>
            </a:r>
          </a:p>
          <a:p>
            <a:pPr marL="0" indent="0">
              <a:buClrTx/>
              <a:buNone/>
            </a:pPr>
            <a:r>
              <a:rPr lang="en-US" altLang="zh-CN" sz="1600" dirty="0" smtClean="0">
                <a:solidFill>
                  <a:prstClr val="black"/>
                </a:solidFill>
              </a:rPr>
              <a:t>The </a:t>
            </a:r>
            <a:r>
              <a:rPr lang="en-US" altLang="zh-CN" sz="1600" dirty="0">
                <a:ea typeface="SimSun" pitchFamily="2" charset="-122"/>
              </a:rPr>
              <a:t>same level of emissions reduction can be achieved with a standard that limits emissions to 12 units.</a:t>
            </a:r>
            <a:endParaRPr lang="zh-CN" altLang="en-US" sz="1600" dirty="0">
              <a:ea typeface="SimSun" pitchFamily="2" charset="-122"/>
            </a:endParaRPr>
          </a:p>
        </p:txBody>
      </p:sp>
      <p:pic>
        <p:nvPicPr>
          <p:cNvPr id="12" name="Picture Placeholder 11" descr="X-axis depicts Level of emissions marked as E* = 12. Y-axis depicts Dollars per unit of  emissions marked at 3. An upward slope curve labeled MEC is drawn on graph. Another downward slope curve labeled MCA drawn intersecting MEC at point (E*, 3). Horizontal curve at Y = 3 is labeled as Fee&quot; and vertical curve at X = 12 is labeled as &quot;Standard&quot;."/>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4743014" y="1600200"/>
            <a:ext cx="3943786" cy="2952306"/>
          </a:xfrm>
        </p:spPr>
      </p:pic>
    </p:spTree>
    <p:extLst>
      <p:ext uri="{BB962C8B-B14F-4D97-AF65-F5344CB8AC3E}">
        <p14:creationId xmlns:p14="http://schemas.microsoft.com/office/powerpoint/2010/main" val="3950193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(4 </a:t>
            </a:r>
            <a:r>
              <a:rPr lang="en-US" sz="3000" dirty="0">
                <a:cs typeface="Calibri" panose="020F0502020204030204" pitchFamily="34" charset="0"/>
              </a:rPr>
              <a:t>of</a:t>
            </a:r>
            <a:r>
              <a:rPr lang="en-US" sz="3000" dirty="0" smtClean="0"/>
              <a:t> </a:t>
            </a:r>
            <a:r>
              <a:rPr lang="en-US" sz="3000" dirty="0"/>
              <a:t>6)</a:t>
            </a:r>
          </a:p>
        </p:txBody>
      </p:sp>
      <p:sp>
        <p:nvSpPr>
          <p:cNvPr id="8" name="Content Placeholder 7"/>
          <p:cNvSpPr>
            <a:spLocks noGrp="1"/>
          </p:cNvSpPr>
          <p:nvPr>
            <p:ph sz="quarter" idx="14"/>
          </p:nvPr>
        </p:nvSpPr>
        <p:spPr>
          <a:xfrm>
            <a:off x="457200" y="1600200"/>
            <a:ext cx="4114800" cy="3521477"/>
          </a:xfrm>
        </p:spPr>
        <p:txBody>
          <a:bodyPr>
            <a:spAutoFit/>
          </a:bodyPr>
          <a:lstStyle/>
          <a:p>
            <a:pPr marL="0" indent="0">
              <a:spcBef>
                <a:spcPts val="500"/>
              </a:spcBef>
              <a:buClrTx/>
              <a:buNone/>
            </a:pPr>
            <a:r>
              <a:rPr lang="en-US" sz="1600" b="1" dirty="0"/>
              <a:t>THE CASE FOR </a:t>
            </a:r>
            <a:r>
              <a:rPr lang="en-US" sz="1600" b="1" dirty="0" smtClean="0"/>
              <a:t>FEES</a:t>
            </a:r>
          </a:p>
          <a:p>
            <a:pPr marL="0" indent="0">
              <a:spcBef>
                <a:spcPts val="500"/>
              </a:spcBef>
              <a:buClrTx/>
              <a:buNone/>
            </a:pPr>
            <a:r>
              <a:rPr lang="en-US" sz="1600" b="1" dirty="0" smtClean="0"/>
              <a:t>FIGURE 18.6</a:t>
            </a:r>
          </a:p>
          <a:p>
            <a:pPr marL="0" indent="0">
              <a:spcBef>
                <a:spcPts val="500"/>
              </a:spcBef>
              <a:buClrTx/>
              <a:buNone/>
            </a:pPr>
            <a:r>
              <a:rPr lang="en-US" sz="1600" b="1" dirty="0"/>
              <a:t>THE CASE FOR FEES</a:t>
            </a:r>
          </a:p>
          <a:p>
            <a:pPr marL="0" lvl="0" indent="0">
              <a:spcBef>
                <a:spcPts val="500"/>
              </a:spcBef>
              <a:buClrTx/>
              <a:buNone/>
            </a:pPr>
            <a:r>
              <a:rPr lang="en-US" altLang="zh-CN" sz="1600" dirty="0" smtClean="0">
                <a:solidFill>
                  <a:prstClr val="black"/>
                </a:solidFill>
                <a:ea typeface="SimSun" pitchFamily="2" charset="-122"/>
                <a:cs typeface="Arial" pitchFamily="34" charset="0"/>
              </a:rPr>
              <a:t>With </a:t>
            </a:r>
            <a:r>
              <a:rPr lang="en-US" altLang="zh-CN" sz="1600" dirty="0">
                <a:solidFill>
                  <a:prstClr val="black"/>
                </a:solidFill>
                <a:ea typeface="SimSun" pitchFamily="2" charset="-122"/>
                <a:cs typeface="Arial" pitchFamily="34" charset="0"/>
              </a:rPr>
              <a:t>limited information, a policymaker may be faced with the choice of either a single emissions fee or a single emissions standard for all firms.</a:t>
            </a:r>
          </a:p>
          <a:p>
            <a:pPr marL="0" lvl="0" indent="0">
              <a:spcBef>
                <a:spcPts val="500"/>
              </a:spcBef>
              <a:buClrTx/>
              <a:buNone/>
            </a:pPr>
            <a:r>
              <a:rPr lang="en-US" altLang="zh-CN" sz="1600" dirty="0" smtClean="0">
                <a:solidFill>
                  <a:prstClr val="black"/>
                </a:solidFill>
                <a:ea typeface="SimSun" pitchFamily="2" charset="-122"/>
                <a:cs typeface="Arial" pitchFamily="34" charset="0"/>
              </a:rPr>
              <a:t>The </a:t>
            </a:r>
            <a:r>
              <a:rPr lang="en-US" altLang="zh-CN" sz="1600" dirty="0">
                <a:solidFill>
                  <a:prstClr val="black"/>
                </a:solidFill>
                <a:ea typeface="SimSun" pitchFamily="2" charset="-122"/>
                <a:cs typeface="Arial" pitchFamily="34" charset="0"/>
              </a:rPr>
              <a:t>fee of $3 achieves a total emissions level of 14 units more cheaply than a </a:t>
            </a:r>
            <a:r>
              <a:rPr lang="en-US" altLang="zh-CN" sz="1600" dirty="0" smtClean="0">
                <a:solidFill>
                  <a:prstClr val="black"/>
                </a:solidFill>
                <a:ea typeface="SimSun" pitchFamily="2" charset="-122"/>
                <a:cs typeface="Arial" pitchFamily="34" charset="0"/>
              </a:rPr>
              <a:t>7-unit-per-firm </a:t>
            </a:r>
            <a:r>
              <a:rPr lang="en-US" altLang="zh-CN" sz="1600" dirty="0">
                <a:solidFill>
                  <a:prstClr val="black"/>
                </a:solidFill>
                <a:ea typeface="SimSun" pitchFamily="2" charset="-122"/>
                <a:cs typeface="Arial" pitchFamily="34" charset="0"/>
              </a:rPr>
              <a:t>emissions </a:t>
            </a:r>
            <a:r>
              <a:rPr lang="en-US" altLang="zh-CN" sz="1600" dirty="0" smtClean="0">
                <a:solidFill>
                  <a:prstClr val="black"/>
                </a:solidFill>
                <a:ea typeface="SimSun" pitchFamily="2" charset="-122"/>
                <a:cs typeface="Arial" pitchFamily="34" charset="0"/>
              </a:rPr>
              <a:t>standard. </a:t>
            </a:r>
          </a:p>
          <a:p>
            <a:pPr marL="0" lvl="0" indent="0">
              <a:spcBef>
                <a:spcPts val="500"/>
              </a:spcBef>
              <a:buClrTx/>
              <a:buNone/>
            </a:pPr>
            <a:r>
              <a:rPr lang="en-US" altLang="zh-CN" sz="1600" dirty="0" smtClean="0">
                <a:solidFill>
                  <a:prstClr val="black"/>
                </a:solidFill>
                <a:ea typeface="SimSun" pitchFamily="2" charset="-122"/>
                <a:cs typeface="Arial" pitchFamily="34" charset="0"/>
              </a:rPr>
              <a:t>With </a:t>
            </a:r>
            <a:r>
              <a:rPr lang="en-US" altLang="zh-CN" sz="1600" dirty="0">
                <a:solidFill>
                  <a:prstClr val="black"/>
                </a:solidFill>
                <a:ea typeface="SimSun" pitchFamily="2" charset="-122"/>
                <a:cs typeface="Arial" pitchFamily="34" charset="0"/>
              </a:rPr>
              <a:t>the fee, the firm with a lower abatement cost curve (Firm 2) reduces emissions more than the firm with a higher cost curve (Firm 1).</a:t>
            </a:r>
            <a:endParaRPr lang="zh-CN" altLang="en-US" sz="1600" dirty="0">
              <a:solidFill>
                <a:prstClr val="black"/>
              </a:solidFill>
              <a:ea typeface="SimSun" pitchFamily="2" charset="-122"/>
              <a:cs typeface="Arial" pitchFamily="34" charset="0"/>
            </a:endParaRPr>
          </a:p>
        </p:txBody>
      </p:sp>
      <p:pic>
        <p:nvPicPr>
          <p:cNvPr id="12" name="Picture Placeholder 11" descr="X-axis depicts Level of emissions ranging from 0 to 14 in increments of 1. Y-axis depicts Dollars per unit of emissions ranging from 0 to 6 in increments of 2. Two downward slope curves labeled MCA1 and MCA2 drawn intersecting horizontal curve drawn at Y = 3. Region between X value from 6 to 7, till Y value 3 and below MCA2 is shaded and labeled as &quot;Firm 2's Reduced Abatement Costs&quot;. Region between X value from 7 to 8, till Y value 3.75 and below MCA1 is shaded and labeled as &quot;Firm 1's Increased Abatement Costs&quot;. "/>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4748981" y="1600200"/>
            <a:ext cx="3931852" cy="2952306"/>
          </a:xfrm>
        </p:spPr>
      </p:pic>
    </p:spTree>
    <p:extLst>
      <p:ext uri="{BB962C8B-B14F-4D97-AF65-F5344CB8AC3E}">
        <p14:creationId xmlns:p14="http://schemas.microsoft.com/office/powerpoint/2010/main" val="2615946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smtClean="0"/>
              <a:t>18.2 </a:t>
            </a:r>
            <a:r>
              <a:rPr lang="en-US" sz="3000" dirty="0"/>
              <a:t>Ways of Correcting Market </a:t>
            </a:r>
            <a:r>
              <a:rPr lang="en-US" sz="3000" dirty="0" smtClean="0"/>
              <a:t>Failure (5 </a:t>
            </a:r>
            <a:r>
              <a:rPr lang="en-US" sz="3000" dirty="0">
                <a:cs typeface="Calibri" panose="020F0502020204030204" pitchFamily="34" charset="0"/>
              </a:rPr>
              <a:t>of</a:t>
            </a:r>
            <a:r>
              <a:rPr lang="en-US" sz="3000" dirty="0" smtClean="0"/>
              <a:t> </a:t>
            </a:r>
            <a:r>
              <a:rPr lang="en-US" sz="3000" dirty="0"/>
              <a:t>6)</a:t>
            </a:r>
          </a:p>
        </p:txBody>
      </p:sp>
      <p:sp>
        <p:nvSpPr>
          <p:cNvPr id="8" name="Content Placeholder 7"/>
          <p:cNvSpPr>
            <a:spLocks noGrp="1"/>
          </p:cNvSpPr>
          <p:nvPr>
            <p:ph sz="quarter" idx="14"/>
          </p:nvPr>
        </p:nvSpPr>
        <p:spPr>
          <a:xfrm>
            <a:off x="457200" y="1600200"/>
            <a:ext cx="4724400" cy="4162678"/>
          </a:xfrm>
        </p:spPr>
        <p:txBody>
          <a:bodyPr wrap="square">
            <a:spAutoFit/>
          </a:bodyPr>
          <a:lstStyle/>
          <a:p>
            <a:pPr marL="0" indent="0">
              <a:buClrTx/>
              <a:buNone/>
            </a:pPr>
            <a:r>
              <a:rPr lang="en-US" sz="1600" b="1" dirty="0"/>
              <a:t>THE CASE FOR </a:t>
            </a:r>
            <a:r>
              <a:rPr lang="en-US" sz="1600" b="1" dirty="0" smtClean="0"/>
              <a:t>STANDARD</a:t>
            </a:r>
            <a:r>
              <a:rPr lang="en-US" sz="1600" b="1" dirty="0" smtClean="0">
                <a:solidFill>
                  <a:prstClr val="black"/>
                </a:solidFill>
              </a:rPr>
              <a:t>S</a:t>
            </a:r>
            <a:endParaRPr lang="en-US" sz="1600" b="1" dirty="0">
              <a:solidFill>
                <a:prstClr val="black"/>
              </a:solidFill>
            </a:endParaRPr>
          </a:p>
          <a:p>
            <a:pPr marL="0" indent="0">
              <a:buClrTx/>
              <a:buNone/>
            </a:pPr>
            <a:r>
              <a:rPr lang="en-US" sz="1600" b="1" dirty="0">
                <a:solidFill>
                  <a:prstClr val="black"/>
                </a:solidFill>
              </a:rPr>
              <a:t>FIGURE</a:t>
            </a:r>
            <a:r>
              <a:rPr lang="en-US" sz="1600" dirty="0">
                <a:solidFill>
                  <a:prstClr val="black"/>
                </a:solidFill>
              </a:rPr>
              <a:t> </a:t>
            </a:r>
            <a:r>
              <a:rPr lang="en-US" sz="1600" b="1" dirty="0"/>
              <a:t>18.7</a:t>
            </a:r>
          </a:p>
          <a:p>
            <a:pPr marL="0" indent="0">
              <a:buClrTx/>
              <a:buNone/>
            </a:pPr>
            <a:r>
              <a:rPr lang="en-US" sz="1600" b="1" dirty="0"/>
              <a:t>THE CASE FOR </a:t>
            </a:r>
            <a:r>
              <a:rPr lang="en-US" sz="1600" b="1" dirty="0" smtClean="0"/>
              <a:t>STANDARD</a:t>
            </a:r>
            <a:r>
              <a:rPr lang="en-US" sz="1600" b="1" dirty="0" smtClean="0">
                <a:solidFill>
                  <a:prstClr val="black"/>
                </a:solidFill>
              </a:rPr>
              <a:t>S</a:t>
            </a:r>
            <a:endParaRPr lang="en-US" altLang="zh-CN" sz="1600" b="1" dirty="0">
              <a:solidFill>
                <a:prstClr val="black"/>
              </a:solidFill>
            </a:endParaRPr>
          </a:p>
          <a:p>
            <a:pPr marL="0" indent="0">
              <a:buClrTx/>
              <a:buNone/>
            </a:pPr>
            <a:r>
              <a:rPr lang="en-US" altLang="zh-CN" sz="1600" dirty="0">
                <a:solidFill>
                  <a:prstClr val="black"/>
                </a:solidFill>
              </a:rPr>
              <a:t>When </a:t>
            </a:r>
            <a:r>
              <a:rPr lang="en-US" altLang="zh-CN" sz="1600" dirty="0">
                <a:solidFill>
                  <a:prstClr val="black"/>
                </a:solidFill>
                <a:ea typeface="SimSun" pitchFamily="2" charset="-122"/>
                <a:cs typeface="Arial" pitchFamily="34" charset="0"/>
              </a:rPr>
              <a:t>the government has limited information about the costs and benefits of </a:t>
            </a:r>
            <a:r>
              <a:rPr lang="en-US" altLang="zh-CN" sz="1600" dirty="0" smtClean="0">
                <a:solidFill>
                  <a:prstClr val="black"/>
                </a:solidFill>
                <a:ea typeface="SimSun" pitchFamily="2" charset="-122"/>
                <a:cs typeface="Arial" pitchFamily="34" charset="0"/>
              </a:rPr>
              <a:t>pollution abatement</a:t>
            </a:r>
            <a:r>
              <a:rPr lang="en-US" altLang="zh-CN" sz="1600" dirty="0">
                <a:solidFill>
                  <a:prstClr val="black"/>
                </a:solidFill>
                <a:ea typeface="SimSun" pitchFamily="2" charset="-122"/>
                <a:cs typeface="Arial" pitchFamily="34" charset="0"/>
              </a:rPr>
              <a:t>, either a standard or a fee </a:t>
            </a:r>
            <a:r>
              <a:rPr lang="en-US" altLang="zh-CN" sz="1600" dirty="0" smtClean="0">
                <a:solidFill>
                  <a:prstClr val="black"/>
                </a:solidFill>
                <a:ea typeface="SimSun" pitchFamily="2" charset="-122"/>
                <a:cs typeface="Arial" pitchFamily="34" charset="0"/>
              </a:rPr>
              <a:t>may be preferable. The </a:t>
            </a:r>
            <a:r>
              <a:rPr lang="en-US" altLang="zh-CN" sz="1600" dirty="0">
                <a:solidFill>
                  <a:prstClr val="black"/>
                </a:solidFill>
                <a:ea typeface="SimSun" pitchFamily="2" charset="-122"/>
                <a:cs typeface="Arial" pitchFamily="34" charset="0"/>
              </a:rPr>
              <a:t>standard is preferable when the marginal external cost curve is steep and the marginal abatement cost </a:t>
            </a:r>
            <a:r>
              <a:rPr lang="en-US" altLang="zh-CN" sz="1600" dirty="0" smtClean="0">
                <a:solidFill>
                  <a:prstClr val="black"/>
                </a:solidFill>
                <a:ea typeface="SimSun" pitchFamily="2" charset="-122"/>
                <a:cs typeface="Arial" pitchFamily="34" charset="0"/>
              </a:rPr>
              <a:t>curve </a:t>
            </a:r>
            <a:r>
              <a:rPr lang="en-US" altLang="zh-CN" sz="1600" dirty="0">
                <a:solidFill>
                  <a:prstClr val="black"/>
                </a:solidFill>
                <a:ea typeface="SimSun" pitchFamily="2" charset="-122"/>
                <a:cs typeface="Arial" pitchFamily="34" charset="0"/>
              </a:rPr>
              <a:t>is relatively flat</a:t>
            </a:r>
            <a:r>
              <a:rPr lang="en-US" altLang="zh-CN" sz="1600" dirty="0" smtClean="0">
                <a:solidFill>
                  <a:prstClr val="black"/>
                </a:solidFill>
              </a:rPr>
              <a:t>.</a:t>
            </a:r>
            <a:endParaRPr lang="en-US" altLang="zh-CN" sz="1600" dirty="0">
              <a:solidFill>
                <a:prstClr val="black"/>
              </a:solidFill>
            </a:endParaRPr>
          </a:p>
          <a:p>
            <a:pPr marL="0" indent="0">
              <a:buClrTx/>
              <a:buNone/>
            </a:pPr>
            <a:r>
              <a:rPr lang="en-US" altLang="zh-CN" sz="1600" dirty="0">
                <a:solidFill>
                  <a:prstClr val="black"/>
                </a:solidFill>
              </a:rPr>
              <a:t>Here </a:t>
            </a:r>
            <a:r>
              <a:rPr lang="en-US" altLang="zh-CN" sz="1600" dirty="0">
                <a:solidFill>
                  <a:prstClr val="black"/>
                </a:solidFill>
                <a:ea typeface="SimSun" pitchFamily="2" charset="-122"/>
                <a:cs typeface="Arial" pitchFamily="34" charset="0"/>
              </a:rPr>
              <a:t>a 12.5 percent error in setting the standard leads to extra social costs of triangle </a:t>
            </a:r>
            <a:r>
              <a:rPr lang="en-US" altLang="zh-CN" sz="1600" i="1" dirty="0">
                <a:solidFill>
                  <a:prstClr val="black"/>
                </a:solidFill>
                <a:ea typeface="SimSun" pitchFamily="2" charset="-122"/>
                <a:cs typeface="Arial" pitchFamily="34" charset="0"/>
              </a:rPr>
              <a:t>ADE</a:t>
            </a:r>
            <a:r>
              <a:rPr lang="en-US" altLang="zh-CN" sz="1600" dirty="0" smtClean="0">
                <a:solidFill>
                  <a:prstClr val="black"/>
                </a:solidFill>
              </a:rPr>
              <a:t>.</a:t>
            </a:r>
            <a:endParaRPr lang="en-US" altLang="zh-CN" sz="1600" dirty="0">
              <a:solidFill>
                <a:prstClr val="black"/>
              </a:solidFill>
            </a:endParaRPr>
          </a:p>
          <a:p>
            <a:pPr marL="0" indent="0">
              <a:buClrTx/>
              <a:buNone/>
            </a:pPr>
            <a:r>
              <a:rPr lang="en-US" altLang="zh-CN" sz="1600" dirty="0">
                <a:solidFill>
                  <a:prstClr val="black"/>
                </a:solidFill>
              </a:rPr>
              <a:t>The </a:t>
            </a:r>
            <a:r>
              <a:rPr lang="en-US" altLang="zh-CN" sz="1600" dirty="0">
                <a:solidFill>
                  <a:prstClr val="black"/>
                </a:solidFill>
                <a:ea typeface="SimSun" pitchFamily="2" charset="-122"/>
                <a:cs typeface="Arial" pitchFamily="34" charset="0"/>
              </a:rPr>
              <a:t>same percentage error in setting a fee would result in excess costs of </a:t>
            </a:r>
            <a:r>
              <a:rPr lang="en-US" altLang="zh-CN" sz="1600" i="1" dirty="0">
                <a:solidFill>
                  <a:prstClr val="black"/>
                </a:solidFill>
                <a:ea typeface="SimSun" pitchFamily="2" charset="-122"/>
                <a:cs typeface="Arial" pitchFamily="34" charset="0"/>
              </a:rPr>
              <a:t>ABC</a:t>
            </a:r>
            <a:r>
              <a:rPr lang="en-US" altLang="zh-CN" sz="1600" dirty="0">
                <a:solidFill>
                  <a:prstClr val="black"/>
                </a:solidFill>
                <a:ea typeface="SimSun" pitchFamily="2" charset="-122"/>
                <a:cs typeface="Arial" pitchFamily="34" charset="0"/>
              </a:rPr>
              <a:t>.</a:t>
            </a:r>
            <a:endParaRPr lang="zh-CN" altLang="en-US" sz="1600" dirty="0">
              <a:solidFill>
                <a:prstClr val="black"/>
              </a:solidFill>
              <a:ea typeface="SimSun" pitchFamily="2" charset="-122"/>
              <a:cs typeface="Arial" pitchFamily="34" charset="0"/>
            </a:endParaRPr>
          </a:p>
        </p:txBody>
      </p:sp>
      <p:pic>
        <p:nvPicPr>
          <p:cNvPr id="12" name="Picture Placeholder 11" descr="X-axis depicts Level of emissions ranging from 0 to 16 in increments of 2. Y-axis depicts Dollars per unit of emissions ranging from 2 to 16 in increments of 2. An upward slope curve labeled &quot;Marginal External Cost&quot; is drawn on graph. Another downward slope curve labeled &quot;Marginal Cost of Abatement&quot; drawn intersecting MEC at point labeled A (8, 8). More points are marked on both curves with details as follows&quot;&#10;B: (11, 7) marked on MCA&#10;C: (11, 16) marked on MEC&#10;D: X = 9 and marked on MCA&#10;E: X = 9 and marked on MEC&#10;Region between AED and BCDE are shaded in different colors."/>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5357604" y="1600200"/>
            <a:ext cx="3329196" cy="2952306"/>
          </a:xfrm>
        </p:spPr>
      </p:pic>
    </p:spTree>
    <p:extLst>
      <p:ext uri="{BB962C8B-B14F-4D97-AF65-F5344CB8AC3E}">
        <p14:creationId xmlns:p14="http://schemas.microsoft.com/office/powerpoint/2010/main" val="31857812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(6 </a:t>
            </a:r>
            <a:r>
              <a:rPr lang="en-US" sz="3000" dirty="0">
                <a:cs typeface="Calibri" panose="020F0502020204030204" pitchFamily="34" charset="0"/>
              </a:rPr>
              <a:t>of</a:t>
            </a:r>
            <a:r>
              <a:rPr lang="en-US" sz="3000" dirty="0" smtClean="0"/>
              <a:t> </a:t>
            </a:r>
            <a:r>
              <a:rPr lang="en-US" sz="3000" dirty="0"/>
              <a:t>6)</a:t>
            </a:r>
          </a:p>
        </p:txBody>
      </p:sp>
      <p:sp>
        <p:nvSpPr>
          <p:cNvPr id="4" name="Content Placeholder 3"/>
          <p:cNvSpPr>
            <a:spLocks noGrp="1"/>
          </p:cNvSpPr>
          <p:nvPr>
            <p:ph idx="1"/>
          </p:nvPr>
        </p:nvSpPr>
        <p:spPr>
          <a:xfrm>
            <a:off x="457200" y="1600200"/>
            <a:ext cx="8229600" cy="3777957"/>
          </a:xfrm>
        </p:spPr>
        <p:txBody>
          <a:bodyPr>
            <a:spAutoFit/>
          </a:bodyPr>
          <a:lstStyle/>
          <a:p>
            <a:pPr marL="0" indent="0">
              <a:buNone/>
            </a:pPr>
            <a:r>
              <a:rPr lang="en-US" sz="1600" b="1" dirty="0"/>
              <a:t>Tradable Emissions Permits</a:t>
            </a:r>
          </a:p>
          <a:p>
            <a:pPr marL="0" indent="0">
              <a:buClrTx/>
              <a:buNone/>
              <a:tabLst>
                <a:tab pos="3548063" algn="l"/>
              </a:tabLst>
            </a:pPr>
            <a:r>
              <a:rPr lang="en-US" sz="1600" b="1" dirty="0"/>
              <a:t>tradable emissions permits </a:t>
            </a:r>
            <a:r>
              <a:rPr lang="en-US" sz="1600" dirty="0" smtClean="0"/>
              <a:t>System </a:t>
            </a:r>
            <a:r>
              <a:rPr lang="en-US" sz="1600" dirty="0"/>
              <a:t>of marketable permits, allocated among </a:t>
            </a:r>
            <a:r>
              <a:rPr lang="en-US" sz="1600" dirty="0" smtClean="0"/>
              <a:t>firms, specifying </a:t>
            </a:r>
            <a:r>
              <a:rPr lang="en-US" sz="1600" dirty="0"/>
              <a:t>the maximum level of emissions that can be generate</a:t>
            </a:r>
            <a:r>
              <a:rPr lang="en-US" sz="1600" dirty="0">
                <a:solidFill>
                  <a:prstClr val="black"/>
                </a:solidFill>
              </a:rPr>
              <a:t>d</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Each permit specifies the number of units of emissions that the firm is allowed to put out. Excess emissions are subject to substantial monetary sanctions. The total number of permits is chosen to achieve the desired maximum level of emissions. Permits are marketable: They can be bought and sold</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If there are enough firms and permits, a competitive market will develop. In equilibrium, </a:t>
            </a:r>
            <a:r>
              <a:rPr lang="en-US" sz="1600" dirty="0" smtClean="0">
                <a:solidFill>
                  <a:prstClr val="black"/>
                </a:solidFill>
              </a:rPr>
              <a:t/>
            </a:r>
            <a:br>
              <a:rPr lang="en-US" sz="1600" dirty="0" smtClean="0">
                <a:solidFill>
                  <a:prstClr val="black"/>
                </a:solidFill>
              </a:rPr>
            </a:br>
            <a:r>
              <a:rPr lang="en-US" sz="1600" dirty="0" smtClean="0">
                <a:solidFill>
                  <a:prstClr val="black"/>
                </a:solidFill>
              </a:rPr>
              <a:t>the </a:t>
            </a:r>
            <a:r>
              <a:rPr lang="en-US" sz="1600" dirty="0">
                <a:solidFill>
                  <a:prstClr val="black"/>
                </a:solidFill>
              </a:rPr>
              <a:t>price of a permit equals the marginal cost of abatement for all firms; otherwise, a firm will find it advantageous to buy more permits. The level of emissions chosen by the government will be achieved at minimum cost. Those firms with relatively low marginal cost of abatement curves will be reducing emissions the most, and those with relatively high marginal cost of abatement will be buying more permits and reducing emissions the least.</a:t>
            </a:r>
          </a:p>
        </p:txBody>
      </p:sp>
    </p:spTree>
    <p:extLst>
      <p:ext uri="{BB962C8B-B14F-4D97-AF65-F5344CB8AC3E}">
        <p14:creationId xmlns:p14="http://schemas.microsoft.com/office/powerpoint/2010/main" val="21443893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9497"/>
            <a:ext cx="8229600" cy="923330"/>
          </a:xfrm>
        </p:spPr>
        <p:txBody>
          <a:bodyPr>
            <a:spAutoFit/>
          </a:bodyPr>
          <a:lstStyle/>
          <a:p>
            <a:r>
              <a:rPr lang="en-US" sz="3000" dirty="0"/>
              <a:t>EXAMPLE 18.2 EMISSIONS TRADING AND CLEAN </a:t>
            </a:r>
            <a:r>
              <a:rPr lang="en-US" sz="3000" dirty="0" smtClean="0"/>
              <a:t>AIR</a:t>
            </a:r>
            <a:endParaRPr lang="en-US" sz="3000" dirty="0"/>
          </a:p>
        </p:txBody>
      </p:sp>
      <p:sp>
        <p:nvSpPr>
          <p:cNvPr id="4" name="Content Placeholder 3"/>
          <p:cNvSpPr>
            <a:spLocks noGrp="1"/>
          </p:cNvSpPr>
          <p:nvPr>
            <p:ph idx="1"/>
          </p:nvPr>
        </p:nvSpPr>
        <p:spPr>
          <a:xfrm>
            <a:off x="457200" y="1600200"/>
            <a:ext cx="8229600" cy="4501232"/>
          </a:xfrm>
        </p:spPr>
        <p:txBody>
          <a:bodyPr>
            <a:spAutoFit/>
          </a:bodyPr>
          <a:lstStyle/>
          <a:p>
            <a:pPr marL="0" lvl="0" indent="0">
              <a:buClrTx/>
              <a:buSzTx/>
              <a:buNone/>
            </a:pPr>
            <a:r>
              <a:rPr lang="en-US" sz="1500" dirty="0">
                <a:solidFill>
                  <a:prstClr val="black"/>
                </a:solidFill>
              </a:rPr>
              <a:t>In the 1980s and 1990s, the Environmental Protection Agency’s “bubble” and “offset” programs were modest attempts to use a trading system to lower the cleanup costs of emissions. </a:t>
            </a:r>
            <a:r>
              <a:rPr lang="en-US" sz="1500" dirty="0" smtClean="0">
                <a:solidFill>
                  <a:prstClr val="black"/>
                </a:solidFill>
              </a:rPr>
              <a:t>Abatement </a:t>
            </a:r>
            <a:r>
              <a:rPr lang="en-US" sz="1500" dirty="0">
                <a:solidFill>
                  <a:prstClr val="black"/>
                </a:solidFill>
              </a:rPr>
              <a:t>cost savings associated with the EPA’s program of 42 bubbles have </a:t>
            </a:r>
            <a:r>
              <a:rPr lang="en-US" sz="1500" dirty="0" smtClean="0">
                <a:solidFill>
                  <a:prstClr val="black"/>
                </a:solidFill>
              </a:rPr>
              <a:t>been approximately </a:t>
            </a:r>
            <a:r>
              <a:rPr lang="en-US" sz="1500" dirty="0">
                <a:solidFill>
                  <a:prstClr val="black"/>
                </a:solidFill>
              </a:rPr>
              <a:t>$300 million per year since 1979.</a:t>
            </a:r>
          </a:p>
          <a:p>
            <a:pPr marL="0" lvl="0" indent="0">
              <a:buClrTx/>
              <a:buSzTx/>
              <a:buNone/>
            </a:pPr>
            <a:r>
              <a:rPr lang="en-US" sz="1500" dirty="0" smtClean="0">
                <a:solidFill>
                  <a:prstClr val="black"/>
                </a:solidFill>
              </a:rPr>
              <a:t>Under </a:t>
            </a:r>
            <a:r>
              <a:rPr lang="en-US" sz="1500" dirty="0">
                <a:solidFill>
                  <a:prstClr val="black"/>
                </a:solidFill>
              </a:rPr>
              <a:t>the offset program, new sources of emissions may be found, but only if they offset their new emissions by reducing emissions from existing sources by at least as much. A total of more than 2000 offset transactions have occurred since 1976. </a:t>
            </a:r>
          </a:p>
          <a:p>
            <a:pPr marL="0" lvl="0" indent="0">
              <a:buClrTx/>
              <a:buSzTx/>
              <a:buNone/>
            </a:pPr>
            <a:r>
              <a:rPr lang="en-US" sz="1500" dirty="0" smtClean="0">
                <a:solidFill>
                  <a:prstClr val="black"/>
                </a:solidFill>
              </a:rPr>
              <a:t>Bubble </a:t>
            </a:r>
            <a:r>
              <a:rPr lang="en-US" sz="1500" dirty="0">
                <a:solidFill>
                  <a:prstClr val="black"/>
                </a:solidFill>
              </a:rPr>
              <a:t>and offset programs substantially understate the potential gain from a broad-based emissions trading program. The 1990 Clean Air Act focused on transferable permits as a way </a:t>
            </a:r>
            <a:r>
              <a:rPr lang="en-US" sz="1500" dirty="0" smtClean="0">
                <a:solidFill>
                  <a:prstClr val="black"/>
                </a:solidFill>
              </a:rPr>
              <a:t>of </a:t>
            </a:r>
            <a:r>
              <a:rPr lang="en-US" sz="1500" dirty="0">
                <a:solidFill>
                  <a:prstClr val="black"/>
                </a:solidFill>
              </a:rPr>
              <a:t>dealing with “acid rain.” In 2005 the program was modified through the Clean Air Interstate Rule to put a “cap” on emissions in 25 states while continuing to allow emissions “trades”—hence the term “cap and trade” program. </a:t>
            </a:r>
          </a:p>
          <a:p>
            <a:pPr marL="0" lvl="0" indent="0">
              <a:buClrTx/>
              <a:buSzTx/>
              <a:buNone/>
            </a:pPr>
            <a:r>
              <a:rPr lang="en-US" sz="1500" dirty="0" smtClean="0">
                <a:solidFill>
                  <a:prstClr val="black"/>
                </a:solidFill>
              </a:rPr>
              <a:t>In </a:t>
            </a:r>
            <a:r>
              <a:rPr lang="en-US" sz="1500" dirty="0">
                <a:solidFill>
                  <a:prstClr val="black"/>
                </a:solidFill>
              </a:rPr>
              <a:t>the early 1990s, economists expected these permits to trade for around $300, but reducing sulfur dioxide emissions was less costly than anticipated. From 2005 to 2006, the price of permits rose sharply, hitting a high of nearly $1600 in December 2005, but starting in 2007, the market price of emission permits began to decline, in part because the EPA lost a lawsuit brought by a group of utilities.</a:t>
            </a:r>
          </a:p>
        </p:txBody>
      </p:sp>
    </p:spTree>
    <p:extLst>
      <p:ext uri="{BB962C8B-B14F-4D97-AF65-F5344CB8AC3E}">
        <p14:creationId xmlns:p14="http://schemas.microsoft.com/office/powerpoint/2010/main" val="12748085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2059"/>
            <a:ext cx="8229600" cy="1046440"/>
          </a:xfrm>
        </p:spPr>
        <p:txBody>
          <a:bodyPr>
            <a:spAutoFit/>
          </a:bodyPr>
          <a:lstStyle/>
          <a:p>
            <a:r>
              <a:rPr lang="en-US" dirty="0"/>
              <a:t>EXAMPLE 18.3 EMISSIONS TRADING AND CLEAN </a:t>
            </a:r>
            <a:r>
              <a:rPr lang="en-US" dirty="0" smtClean="0"/>
              <a:t>AIR </a:t>
            </a:r>
            <a:r>
              <a:rPr lang="en-US" dirty="0"/>
              <a:t>(1 </a:t>
            </a:r>
            <a:r>
              <a:rPr lang="en-US" dirty="0">
                <a:cs typeface="Calibri" panose="020F0502020204030204" pitchFamily="34" charset="0"/>
              </a:rPr>
              <a:t>of</a:t>
            </a:r>
            <a:r>
              <a:rPr lang="en-US" dirty="0" smtClean="0"/>
              <a:t> 2)</a:t>
            </a:r>
            <a:endParaRPr lang="en-US" dirty="0"/>
          </a:p>
        </p:txBody>
      </p:sp>
      <p:pic>
        <p:nvPicPr>
          <p:cNvPr id="12" name="Picture Placeholder 11" descr="Graph shows price of tradeable emissions permits  from 1993 to 2015."/>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2022974" y="1600200"/>
            <a:ext cx="5098051" cy="2634665"/>
          </a:xfrm>
        </p:spPr>
      </p:pic>
      <p:sp>
        <p:nvSpPr>
          <p:cNvPr id="8" name="Content Placeholder 7"/>
          <p:cNvSpPr>
            <a:spLocks noGrp="1"/>
          </p:cNvSpPr>
          <p:nvPr>
            <p:ph sz="quarter" idx="14"/>
          </p:nvPr>
        </p:nvSpPr>
        <p:spPr>
          <a:xfrm>
            <a:off x="457200" y="4248150"/>
            <a:ext cx="8229600" cy="1915909"/>
          </a:xfrm>
        </p:spPr>
        <p:txBody>
          <a:bodyPr wrap="square">
            <a:spAutoFit/>
          </a:bodyPr>
          <a:lstStyle/>
          <a:p>
            <a:pPr marL="0" indent="0">
              <a:spcBef>
                <a:spcPts val="500"/>
              </a:spcBef>
              <a:buClrTx/>
              <a:buNone/>
            </a:pPr>
            <a:r>
              <a:rPr lang="en-US" b="1" dirty="0"/>
              <a:t>THE CASE FOR STANDARDS</a:t>
            </a:r>
          </a:p>
          <a:p>
            <a:pPr marL="0" indent="0">
              <a:spcBef>
                <a:spcPts val="500"/>
              </a:spcBef>
              <a:buClrTx/>
              <a:buNone/>
            </a:pPr>
            <a:r>
              <a:rPr lang="en-US" b="1" dirty="0"/>
              <a:t>FIGURE 18.8</a:t>
            </a:r>
          </a:p>
          <a:p>
            <a:pPr marL="0" indent="0">
              <a:spcBef>
                <a:spcPts val="500"/>
              </a:spcBef>
              <a:buClrTx/>
              <a:buNone/>
            </a:pPr>
            <a:r>
              <a:rPr lang="en-US" b="1" dirty="0"/>
              <a:t>PRICE OF TRADEABLE EMISSIONS PERMITS</a:t>
            </a:r>
          </a:p>
          <a:p>
            <a:pPr marL="0" lvl="0" indent="0">
              <a:spcBef>
                <a:spcPts val="500"/>
              </a:spcBef>
              <a:buClrTx/>
              <a:buNone/>
            </a:pPr>
            <a:r>
              <a:rPr lang="en-US" altLang="zh-CN" dirty="0" smtClean="0">
                <a:solidFill>
                  <a:prstClr val="black"/>
                </a:solidFill>
                <a:ea typeface="SimSun" pitchFamily="2" charset="-122"/>
                <a:cs typeface="Arial" pitchFamily="34" charset="0"/>
              </a:rPr>
              <a:t>The </a:t>
            </a:r>
            <a:r>
              <a:rPr lang="en-US" altLang="zh-CN" dirty="0">
                <a:solidFill>
                  <a:prstClr val="black"/>
                </a:solidFill>
                <a:ea typeface="SimSun" pitchFamily="2" charset="-122"/>
                <a:cs typeface="Arial" pitchFamily="34" charset="0"/>
              </a:rPr>
              <a:t>price of tradeable permits for sulfur dioxide emissions fluctuated between $100 and $200 from 1993 to 2003, but then increased sharply in 2005 and 2006 in response to an increased demand for permits. The price fluctuated between $400 and $500 per ton for the next few years, before the stock market crashed in 2008. By 2012, the price of permits was close to zero, and the permit market had effectively collapsed.</a:t>
            </a:r>
            <a:endParaRPr lang="zh-CN" altLang="en-US" dirty="0">
              <a:solidFill>
                <a:prstClr val="black"/>
              </a:solidFill>
              <a:ea typeface="SimSun" pitchFamily="2" charset="-122"/>
              <a:cs typeface="Arial" pitchFamily="34" charset="0"/>
            </a:endParaRPr>
          </a:p>
        </p:txBody>
      </p:sp>
    </p:spTree>
    <p:extLst>
      <p:ext uri="{BB962C8B-B14F-4D97-AF65-F5344CB8AC3E}">
        <p14:creationId xmlns:p14="http://schemas.microsoft.com/office/powerpoint/2010/main" val="3332053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9572"/>
            <a:ext cx="8229600" cy="923330"/>
          </a:xfrm>
        </p:spPr>
        <p:txBody>
          <a:bodyPr>
            <a:spAutoFit/>
          </a:bodyPr>
          <a:lstStyle/>
          <a:p>
            <a:r>
              <a:rPr lang="en-US" sz="3000" dirty="0"/>
              <a:t>EXAMPLE 18.3 EMISSIONS TRADING AND CLEAN </a:t>
            </a:r>
            <a:r>
              <a:rPr lang="en-US" sz="3000" dirty="0" smtClean="0"/>
              <a:t>AIR (2 </a:t>
            </a:r>
            <a:r>
              <a:rPr lang="en-US" sz="3000" dirty="0">
                <a:cs typeface="Calibri" panose="020F0502020204030204" pitchFamily="34" charset="0"/>
              </a:rPr>
              <a:t>of</a:t>
            </a:r>
            <a:r>
              <a:rPr lang="en-US" sz="3000" dirty="0" smtClean="0"/>
              <a:t> 2)</a:t>
            </a:r>
            <a:endParaRPr lang="en-US" sz="3000" dirty="0"/>
          </a:p>
        </p:txBody>
      </p:sp>
      <p:pic>
        <p:nvPicPr>
          <p:cNvPr id="12" name="Picture Placeholder 11" descr="Graph shows annual share of total U.S. Electricity generation by source from 1970 to 2016."/>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2261605" y="1600200"/>
            <a:ext cx="4604976" cy="2634665"/>
          </a:xfrm>
        </p:spPr>
      </p:pic>
      <p:sp>
        <p:nvSpPr>
          <p:cNvPr id="8" name="Content Placeholder 7"/>
          <p:cNvSpPr>
            <a:spLocks noGrp="1"/>
          </p:cNvSpPr>
          <p:nvPr>
            <p:ph sz="quarter" idx="14"/>
          </p:nvPr>
        </p:nvSpPr>
        <p:spPr>
          <a:xfrm>
            <a:off x="457200" y="4419600"/>
            <a:ext cx="8229600" cy="1487587"/>
          </a:xfrm>
        </p:spPr>
        <p:txBody>
          <a:bodyPr wrap="square">
            <a:spAutoFit/>
          </a:bodyPr>
          <a:lstStyle/>
          <a:p>
            <a:pPr marL="0" indent="0">
              <a:spcBef>
                <a:spcPts val="1000"/>
              </a:spcBef>
              <a:buClrTx/>
              <a:buNone/>
            </a:pPr>
            <a:r>
              <a:rPr lang="en-US" sz="1600" b="1" dirty="0"/>
              <a:t>FIGURE 18.9</a:t>
            </a:r>
          </a:p>
          <a:p>
            <a:pPr marL="0" indent="0">
              <a:spcBef>
                <a:spcPts val="1000"/>
              </a:spcBef>
              <a:buClrTx/>
              <a:buNone/>
            </a:pPr>
            <a:r>
              <a:rPr lang="en-US" sz="1600" b="1" dirty="0" smtClean="0"/>
              <a:t>FUEL </a:t>
            </a:r>
            <a:r>
              <a:rPr lang="en-US" sz="1600" b="1" dirty="0"/>
              <a:t>MIX FOR U.S. ELECTRICITY GENERATION</a:t>
            </a:r>
          </a:p>
          <a:p>
            <a:pPr marL="0" lvl="0" indent="0">
              <a:spcBef>
                <a:spcPts val="1000"/>
              </a:spcBef>
              <a:buClrTx/>
              <a:buNone/>
            </a:pPr>
            <a:r>
              <a:rPr lang="en-US" altLang="zh-CN" sz="1600" dirty="0">
                <a:solidFill>
                  <a:prstClr val="black"/>
                </a:solidFill>
                <a:ea typeface="SimSun" pitchFamily="2" charset="-122"/>
                <a:cs typeface="Arial" pitchFamily="34" charset="0"/>
              </a:rPr>
              <a:t>Until recently, coal had been the primary fuel for generating electricity, accounting for over 50% of electricity generation during the 1980s and 1990s. But starting around 2000, coal has been increasingly </a:t>
            </a:r>
            <a:r>
              <a:rPr lang="en-US" altLang="zh-CN" sz="1600" dirty="0" smtClean="0">
                <a:solidFill>
                  <a:prstClr val="black"/>
                </a:solidFill>
                <a:ea typeface="SimSun" pitchFamily="2" charset="-122"/>
                <a:cs typeface="Arial" pitchFamily="34" charset="0"/>
              </a:rPr>
              <a:t>displaced by </a:t>
            </a:r>
            <a:r>
              <a:rPr lang="en-US" altLang="zh-CN" sz="1600" dirty="0">
                <a:solidFill>
                  <a:prstClr val="black"/>
                </a:solidFill>
                <a:ea typeface="SimSun" pitchFamily="2" charset="-122"/>
                <a:cs typeface="Arial" pitchFamily="34" charset="0"/>
              </a:rPr>
              <a:t>natural gas.</a:t>
            </a:r>
            <a:endParaRPr lang="zh-CN" altLang="en-US" sz="1600" dirty="0">
              <a:solidFill>
                <a:prstClr val="black"/>
              </a:solidFill>
              <a:ea typeface="SimSun" pitchFamily="2" charset="-122"/>
              <a:cs typeface="Arial" pitchFamily="34" charset="0"/>
            </a:endParaRPr>
          </a:p>
        </p:txBody>
      </p:sp>
    </p:spTree>
    <p:extLst>
      <p:ext uri="{BB962C8B-B14F-4D97-AF65-F5344CB8AC3E}">
        <p14:creationId xmlns:p14="http://schemas.microsoft.com/office/powerpoint/2010/main" val="5077287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2"/>
            <a:ext cx="8229600" cy="1046440"/>
          </a:xfrm>
        </p:spPr>
        <p:txBody>
          <a:bodyPr>
            <a:spAutoFit/>
          </a:bodyPr>
          <a:lstStyle/>
          <a:p>
            <a:pPr marL="857250" indent="-857250"/>
            <a:r>
              <a:rPr lang="en-US" dirty="0"/>
              <a:t>18.2 </a:t>
            </a:r>
            <a:r>
              <a:rPr lang="en-US" dirty="0" smtClean="0"/>
              <a:t>Ways </a:t>
            </a:r>
            <a:r>
              <a:rPr lang="en-US" dirty="0"/>
              <a:t>of Correcting Market </a:t>
            </a:r>
            <a:r>
              <a:rPr lang="en-US" dirty="0" smtClean="0"/>
              <a:t>Failure</a:t>
            </a:r>
            <a:br>
              <a:rPr lang="en-US" dirty="0" smtClean="0"/>
            </a:br>
            <a:r>
              <a:rPr lang="en-US" dirty="0"/>
              <a:t>(1 </a:t>
            </a:r>
            <a:r>
              <a:rPr lang="en-US" dirty="0">
                <a:cs typeface="Calibri" panose="020F0502020204030204" pitchFamily="34" charset="0"/>
              </a:rPr>
              <a:t>of</a:t>
            </a:r>
            <a:r>
              <a:rPr lang="en-US" dirty="0" smtClean="0"/>
              <a:t> 3)</a:t>
            </a:r>
            <a:endParaRPr lang="en-US" dirty="0"/>
          </a:p>
        </p:txBody>
      </p:sp>
      <p:sp>
        <p:nvSpPr>
          <p:cNvPr id="4" name="Content Placeholder 3"/>
          <p:cNvSpPr>
            <a:spLocks noGrp="1"/>
          </p:cNvSpPr>
          <p:nvPr>
            <p:ph idx="1"/>
          </p:nvPr>
        </p:nvSpPr>
        <p:spPr>
          <a:xfrm>
            <a:off x="457200" y="1600200"/>
            <a:ext cx="8229600" cy="4462760"/>
          </a:xfrm>
        </p:spPr>
        <p:txBody>
          <a:bodyPr>
            <a:spAutoFit/>
          </a:bodyPr>
          <a:lstStyle/>
          <a:p>
            <a:pPr marL="0" indent="0">
              <a:buNone/>
            </a:pPr>
            <a:r>
              <a:rPr lang="en-US" sz="1600" b="1" dirty="0" smtClean="0"/>
              <a:t>Recycling</a:t>
            </a:r>
          </a:p>
          <a:p>
            <a:pPr marL="0" lvl="0" indent="0">
              <a:buClrTx/>
              <a:buSzTx/>
              <a:buNone/>
            </a:pPr>
            <a:r>
              <a:rPr lang="en-US" sz="1600" dirty="0" smtClean="0"/>
              <a:t>The </a:t>
            </a:r>
            <a:r>
              <a:rPr lang="en-US" sz="1600" dirty="0"/>
              <a:t>disposal of waste products involves little or no private cost. </a:t>
            </a:r>
            <a:r>
              <a:rPr lang="en-US" sz="1600" dirty="0" smtClean="0"/>
              <a:t>This </a:t>
            </a:r>
            <a:r>
              <a:rPr lang="en-US" sz="1600" dirty="0"/>
              <a:t>means that society </a:t>
            </a:r>
            <a:r>
              <a:rPr lang="en-US" sz="1600" dirty="0" smtClean="0"/>
              <a:t/>
            </a:r>
            <a:br>
              <a:rPr lang="en-US" sz="1600" dirty="0" smtClean="0"/>
            </a:br>
            <a:r>
              <a:rPr lang="en-US" sz="1600" dirty="0" smtClean="0"/>
              <a:t>will </a:t>
            </a:r>
            <a:r>
              <a:rPr lang="en-US" sz="1600" dirty="0"/>
              <a:t>dispose of too much waste material.</a:t>
            </a:r>
          </a:p>
          <a:p>
            <a:pPr marL="0" lvl="0" indent="0">
              <a:buClrTx/>
              <a:buSzTx/>
              <a:buNone/>
            </a:pPr>
            <a:r>
              <a:rPr lang="en-US" sz="1600" dirty="0" smtClean="0"/>
              <a:t>The </a:t>
            </a:r>
            <a:r>
              <a:rPr lang="en-US" sz="1600" dirty="0"/>
              <a:t>overutilization of virgin materials and the underutilization of recycled materials will result in a market failure.</a:t>
            </a:r>
          </a:p>
          <a:p>
            <a:pPr marL="0" lvl="0" indent="0">
              <a:buClrTx/>
              <a:buSzTx/>
              <a:buNone/>
            </a:pPr>
            <a:r>
              <a:rPr lang="en-US" sz="1600" dirty="0" smtClean="0"/>
              <a:t>In </a:t>
            </a:r>
            <a:r>
              <a:rPr lang="en-US" sz="1600" dirty="0"/>
              <a:t>many communities, households are charged a fixed annual fee for trash disposal, </a:t>
            </a:r>
            <a:r>
              <a:rPr lang="en-US" sz="1600" dirty="0" smtClean="0"/>
              <a:t/>
            </a:r>
            <a:br>
              <a:rPr lang="en-US" sz="1600" dirty="0" smtClean="0"/>
            </a:br>
            <a:r>
              <a:rPr lang="en-US" sz="1600" dirty="0" smtClean="0"/>
              <a:t>which </a:t>
            </a:r>
            <a:r>
              <a:rPr lang="en-US" sz="1600" dirty="0"/>
              <a:t>allows households to dispose of glass and other garbage at very low cost. </a:t>
            </a:r>
          </a:p>
          <a:p>
            <a:pPr marL="0" lvl="0" indent="0">
              <a:buClrTx/>
              <a:buSzTx/>
              <a:buNone/>
            </a:pPr>
            <a:r>
              <a:rPr lang="en-US" sz="1600" dirty="0" smtClean="0"/>
              <a:t>The </a:t>
            </a:r>
            <a:r>
              <a:rPr lang="en-US" sz="1600" dirty="0"/>
              <a:t>low cost of disposal creates a divergence between the private and social cost. The marginal private cost, which is the cost to the household of throwing out the glass, is likely to be constant (independent of the amount of disposal) for low to moderate levels </a:t>
            </a:r>
            <a:r>
              <a:rPr lang="en-US" sz="1600" dirty="0" smtClean="0"/>
              <a:t>of disposal</a:t>
            </a:r>
            <a:r>
              <a:rPr lang="en-US" sz="1600" dirty="0"/>
              <a:t>. It will then increase for large disposal levels involving additional shipping and dump charges. In contrast, the social cost of disposal includes the harm to the environment from littering, and injuries. Marginal social cost is likely to increase, in part because the marginal private cost is increasing and in part because the environmental and aesthetic costs of littering are likely to increase sharply as the level of disposal increases</a:t>
            </a:r>
            <a:r>
              <a:rPr lang="en-US" sz="1600" dirty="0" smtClean="0"/>
              <a:t>.</a:t>
            </a:r>
            <a:endParaRPr lang="en-US" sz="1600" dirty="0"/>
          </a:p>
        </p:txBody>
      </p:sp>
    </p:spTree>
    <p:extLst>
      <p:ext uri="{BB962C8B-B14F-4D97-AF65-F5344CB8AC3E}">
        <p14:creationId xmlns:p14="http://schemas.microsoft.com/office/powerpoint/2010/main" val="22719057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(2 </a:t>
            </a:r>
            <a:r>
              <a:rPr lang="en-US" sz="3000" dirty="0">
                <a:cs typeface="Calibri" panose="020F0502020204030204" pitchFamily="34" charset="0"/>
              </a:rPr>
              <a:t>of</a:t>
            </a:r>
            <a:r>
              <a:rPr lang="en-US" sz="3000" dirty="0" smtClean="0"/>
              <a:t> 3)</a:t>
            </a:r>
            <a:endParaRPr lang="en-US" sz="3000" dirty="0"/>
          </a:p>
        </p:txBody>
      </p:sp>
      <p:pic>
        <p:nvPicPr>
          <p:cNvPr id="12" name="Picture Placeholder 11" descr="X-axis depicts scrap marked as 4,  m*, m1, 8 and 12. Y-axis depicts cost in dollars. Two upward sloping curves MSC and MC are drawn from Y axis and MSC moving up more. A downward slope curve MCR is drawn intersecting MSC at X = m* and ending on X axis at X = 12. MCR intersects MC at X = m1. Another curve labeled &quot;MC + per-unit refund&quot; is drawn passing through curves MCR and MSC intersection and higher than first MC curve."/>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1129473" y="1596000"/>
            <a:ext cx="6886399" cy="2518800"/>
          </a:xfrm>
        </p:spPr>
      </p:pic>
      <p:sp>
        <p:nvSpPr>
          <p:cNvPr id="8" name="Content Placeholder 7"/>
          <p:cNvSpPr>
            <a:spLocks noGrp="1"/>
          </p:cNvSpPr>
          <p:nvPr>
            <p:ph sz="quarter" idx="14"/>
          </p:nvPr>
        </p:nvSpPr>
        <p:spPr>
          <a:xfrm>
            <a:off x="457200" y="4343400"/>
            <a:ext cx="8229600" cy="1718932"/>
          </a:xfrm>
        </p:spPr>
        <p:txBody>
          <a:bodyPr wrap="square">
            <a:spAutoFit/>
          </a:bodyPr>
          <a:lstStyle/>
          <a:p>
            <a:pPr marL="0" indent="0">
              <a:spcBef>
                <a:spcPts val="500"/>
              </a:spcBef>
              <a:buClrTx/>
              <a:buNone/>
            </a:pPr>
            <a:r>
              <a:rPr lang="en-US" sz="1600" b="1" dirty="0"/>
              <a:t>FIGURE 18.10</a:t>
            </a:r>
          </a:p>
          <a:p>
            <a:pPr marL="0" indent="0">
              <a:spcBef>
                <a:spcPts val="500"/>
              </a:spcBef>
              <a:buClrTx/>
              <a:buNone/>
            </a:pPr>
            <a:r>
              <a:rPr lang="en-US" sz="1600" b="1" dirty="0"/>
              <a:t>THE EFFICIENT AMOUNT OF RECYCLING</a:t>
            </a:r>
          </a:p>
          <a:p>
            <a:pPr marL="0" lvl="0" indent="0">
              <a:spcBef>
                <a:spcPts val="500"/>
              </a:spcBef>
              <a:spcAft>
                <a:spcPct val="20000"/>
              </a:spcAft>
              <a:buClrTx/>
              <a:buNone/>
            </a:pPr>
            <a:r>
              <a:rPr lang="en-US" altLang="zh-CN" sz="1600" dirty="0">
                <a:solidFill>
                  <a:prstClr val="black"/>
                </a:solidFill>
                <a:ea typeface="SimSun" pitchFamily="2" charset="-122"/>
              </a:rPr>
              <a:t>The efficient amount of recycling of scrap material is the amount that equates the marginal social cost of scrap disposal, MSC, to the marginal cost of recycling, MCR.</a:t>
            </a:r>
          </a:p>
          <a:p>
            <a:pPr marL="0" lvl="0" indent="0">
              <a:spcBef>
                <a:spcPts val="500"/>
              </a:spcBef>
              <a:spcAft>
                <a:spcPct val="20000"/>
              </a:spcAft>
              <a:buClrTx/>
              <a:buNone/>
            </a:pPr>
            <a:r>
              <a:rPr lang="en-US" altLang="zh-CN" sz="1600" dirty="0" smtClean="0">
                <a:solidFill>
                  <a:prstClr val="black"/>
                </a:solidFill>
                <a:ea typeface="SimSun" pitchFamily="2" charset="-122"/>
              </a:rPr>
              <a:t>The </a:t>
            </a:r>
            <a:r>
              <a:rPr lang="en-US" altLang="zh-CN" sz="1600" dirty="0">
                <a:solidFill>
                  <a:prstClr val="black"/>
                </a:solidFill>
                <a:ea typeface="SimSun" pitchFamily="2" charset="-122"/>
              </a:rPr>
              <a:t>efficient amount of scrap for disposal m* is less than the amount that will arise in a private market, </a:t>
            </a:r>
            <a:r>
              <a:rPr lang="en-US" altLang="zh-CN" sz="1600" i="1" dirty="0">
                <a:solidFill>
                  <a:prstClr val="black"/>
                </a:solidFill>
                <a:ea typeface="SimSun" pitchFamily="2" charset="-122"/>
              </a:rPr>
              <a:t>m</a:t>
            </a:r>
            <a:r>
              <a:rPr lang="en-US" altLang="zh-CN" sz="1600" baseline="-25000" dirty="0">
                <a:solidFill>
                  <a:prstClr val="black"/>
                </a:solidFill>
                <a:ea typeface="SimSun" pitchFamily="2" charset="-122"/>
              </a:rPr>
              <a:t>1</a:t>
            </a:r>
            <a:r>
              <a:rPr lang="en-US" altLang="zh-CN" sz="1600" dirty="0">
                <a:solidFill>
                  <a:prstClr val="black"/>
                </a:solidFill>
                <a:ea typeface="SimSun" pitchFamily="2" charset="-122"/>
              </a:rPr>
              <a:t>.</a:t>
            </a:r>
          </a:p>
        </p:txBody>
      </p:sp>
    </p:spTree>
    <p:extLst>
      <p:ext uri="{BB962C8B-B14F-4D97-AF65-F5344CB8AC3E}">
        <p14:creationId xmlns:p14="http://schemas.microsoft.com/office/powerpoint/2010/main" val="25833989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18.2 </a:t>
            </a:r>
            <a:r>
              <a:rPr lang="en-US" sz="3000" dirty="0" smtClean="0"/>
              <a:t>Ways </a:t>
            </a:r>
            <a:r>
              <a:rPr lang="en-US" sz="3000" dirty="0"/>
              <a:t>of Correcting Market </a:t>
            </a:r>
            <a:r>
              <a:rPr lang="en-US" sz="3000" dirty="0" smtClean="0"/>
              <a:t>Failure (3 </a:t>
            </a:r>
            <a:r>
              <a:rPr lang="en-US" sz="3000" dirty="0">
                <a:cs typeface="Calibri" panose="020F0502020204030204" pitchFamily="34" charset="0"/>
              </a:rPr>
              <a:t>of</a:t>
            </a:r>
            <a:r>
              <a:rPr lang="en-US" sz="3000" dirty="0" smtClean="0"/>
              <a:t> 3)</a:t>
            </a:r>
            <a:endParaRPr lang="en-US" sz="3000" dirty="0"/>
          </a:p>
        </p:txBody>
      </p:sp>
      <p:sp>
        <p:nvSpPr>
          <p:cNvPr id="8" name="Content Placeholder 7"/>
          <p:cNvSpPr>
            <a:spLocks noGrp="1"/>
          </p:cNvSpPr>
          <p:nvPr>
            <p:ph sz="quarter" idx="14"/>
          </p:nvPr>
        </p:nvSpPr>
        <p:spPr>
          <a:xfrm>
            <a:off x="457200" y="1600200"/>
            <a:ext cx="4572000" cy="4142160"/>
          </a:xfrm>
        </p:spPr>
        <p:txBody>
          <a:bodyPr wrap="square">
            <a:spAutoFit/>
          </a:bodyPr>
          <a:lstStyle/>
          <a:p>
            <a:pPr marL="0" indent="0">
              <a:spcBef>
                <a:spcPts val="500"/>
              </a:spcBef>
              <a:buClrTx/>
              <a:buNone/>
            </a:pPr>
            <a:r>
              <a:rPr lang="en-US" sz="1500" b="1" dirty="0"/>
              <a:t>REFUNDABLE DEPOSITS</a:t>
            </a:r>
          </a:p>
          <a:p>
            <a:pPr marL="0" indent="0">
              <a:spcBef>
                <a:spcPts val="500"/>
              </a:spcBef>
              <a:buClrTx/>
              <a:buNone/>
            </a:pPr>
            <a:r>
              <a:rPr lang="en-US" sz="1500" b="1" dirty="0" smtClean="0"/>
              <a:t>FIGURE </a:t>
            </a:r>
            <a:r>
              <a:rPr lang="en-US" sz="1500" b="1" dirty="0"/>
              <a:t>18.11</a:t>
            </a:r>
          </a:p>
          <a:p>
            <a:pPr marL="0" indent="0">
              <a:spcBef>
                <a:spcPts val="500"/>
              </a:spcBef>
              <a:buClrTx/>
              <a:buNone/>
            </a:pPr>
            <a:r>
              <a:rPr lang="en-US" sz="1500" b="1" dirty="0"/>
              <a:t>REFUNDABLE DEPOSITS</a:t>
            </a:r>
          </a:p>
          <a:p>
            <a:pPr marL="0" lvl="0" indent="0">
              <a:spcBef>
                <a:spcPts val="500"/>
              </a:spcBef>
              <a:buClrTx/>
              <a:buNone/>
            </a:pPr>
            <a:r>
              <a:rPr lang="en-US" sz="1500" dirty="0" smtClean="0">
                <a:solidFill>
                  <a:prstClr val="black"/>
                </a:solidFill>
              </a:rPr>
              <a:t>The </a:t>
            </a:r>
            <a:r>
              <a:rPr lang="en-US" sz="1500" dirty="0">
                <a:solidFill>
                  <a:prstClr val="black"/>
                </a:solidFill>
              </a:rPr>
              <a:t>supply of virgin glass containers is given by </a:t>
            </a:r>
            <a:r>
              <a:rPr lang="en-US" sz="1500" i="1" dirty="0">
                <a:solidFill>
                  <a:prstClr val="black"/>
                </a:solidFill>
              </a:rPr>
              <a:t>S</a:t>
            </a:r>
            <a:r>
              <a:rPr lang="en-US" sz="1500" i="1" baseline="-25000" dirty="0">
                <a:solidFill>
                  <a:prstClr val="black"/>
                </a:solidFill>
              </a:rPr>
              <a:t>v</a:t>
            </a:r>
            <a:r>
              <a:rPr lang="en-US" sz="1500" dirty="0">
                <a:solidFill>
                  <a:prstClr val="black"/>
                </a:solidFill>
              </a:rPr>
              <a:t> and the supply of recycled glass by </a:t>
            </a:r>
            <a:r>
              <a:rPr lang="en-US" sz="1500" i="1" dirty="0">
                <a:solidFill>
                  <a:prstClr val="black"/>
                </a:solidFill>
              </a:rPr>
              <a:t>S</a:t>
            </a:r>
            <a:r>
              <a:rPr lang="en-US" sz="1500" i="1" baseline="-25000" dirty="0">
                <a:solidFill>
                  <a:prstClr val="black"/>
                </a:solidFill>
              </a:rPr>
              <a:t>r</a:t>
            </a:r>
            <a:r>
              <a:rPr lang="en-US" sz="1500" dirty="0">
                <a:solidFill>
                  <a:prstClr val="black"/>
                </a:solidFill>
              </a:rPr>
              <a:t>.</a:t>
            </a:r>
          </a:p>
          <a:p>
            <a:pPr marL="0" lvl="0" indent="0">
              <a:spcBef>
                <a:spcPts val="500"/>
              </a:spcBef>
              <a:buClrTx/>
              <a:buNone/>
            </a:pPr>
            <a:r>
              <a:rPr lang="en-US" sz="1500" dirty="0">
                <a:solidFill>
                  <a:prstClr val="black"/>
                </a:solidFill>
              </a:rPr>
              <a:t>The market supply </a:t>
            </a:r>
            <a:r>
              <a:rPr lang="en-US" sz="1500" i="1" dirty="0">
                <a:solidFill>
                  <a:prstClr val="black"/>
                </a:solidFill>
              </a:rPr>
              <a:t>S</a:t>
            </a:r>
            <a:r>
              <a:rPr lang="en-US" sz="1500" dirty="0">
                <a:solidFill>
                  <a:prstClr val="black"/>
                </a:solidFill>
              </a:rPr>
              <a:t> is the horizontal sum of these two curves.</a:t>
            </a:r>
          </a:p>
          <a:p>
            <a:pPr marL="0" lvl="0" indent="0">
              <a:spcBef>
                <a:spcPts val="500"/>
              </a:spcBef>
              <a:buClrTx/>
              <a:buNone/>
            </a:pPr>
            <a:r>
              <a:rPr lang="en-US" sz="1500" dirty="0">
                <a:solidFill>
                  <a:prstClr val="black"/>
                </a:solidFill>
              </a:rPr>
              <a:t>Initially, equilibrium in the market for glass containers involves a price </a:t>
            </a:r>
            <a:r>
              <a:rPr lang="en-US" sz="1500" i="1" dirty="0">
                <a:solidFill>
                  <a:prstClr val="black"/>
                </a:solidFill>
              </a:rPr>
              <a:t>P </a:t>
            </a:r>
            <a:r>
              <a:rPr lang="en-US" sz="1500" dirty="0">
                <a:solidFill>
                  <a:prstClr val="black"/>
                </a:solidFill>
              </a:rPr>
              <a:t>and a supply of recycled glass </a:t>
            </a:r>
            <a:r>
              <a:rPr lang="en-US" sz="1500" i="1" dirty="0">
                <a:solidFill>
                  <a:prstClr val="black"/>
                </a:solidFill>
              </a:rPr>
              <a:t>M</a:t>
            </a:r>
            <a:r>
              <a:rPr lang="en-US" sz="1500" baseline="-25000" dirty="0">
                <a:solidFill>
                  <a:prstClr val="black"/>
                </a:solidFill>
              </a:rPr>
              <a:t>1</a:t>
            </a:r>
            <a:r>
              <a:rPr lang="en-US" sz="1500" dirty="0">
                <a:solidFill>
                  <a:prstClr val="black"/>
                </a:solidFill>
              </a:rPr>
              <a:t>. </a:t>
            </a:r>
          </a:p>
          <a:p>
            <a:pPr marL="0" lvl="0" indent="0">
              <a:spcBef>
                <a:spcPts val="500"/>
              </a:spcBef>
              <a:buClrTx/>
              <a:buNone/>
            </a:pPr>
            <a:r>
              <a:rPr lang="en-US" sz="1500" dirty="0">
                <a:solidFill>
                  <a:prstClr val="black"/>
                </a:solidFill>
              </a:rPr>
              <a:t>By raising the relative cost of disposal and encouraging recycling, the refundable deposit increases the supply of recycled glass from </a:t>
            </a:r>
            <a:r>
              <a:rPr lang="en-US" sz="1500" i="1" dirty="0">
                <a:solidFill>
                  <a:prstClr val="black"/>
                </a:solidFill>
              </a:rPr>
              <a:t>S</a:t>
            </a:r>
            <a:r>
              <a:rPr lang="en-US" sz="1500" i="1" baseline="-25000" dirty="0">
                <a:solidFill>
                  <a:prstClr val="black"/>
                </a:solidFill>
              </a:rPr>
              <a:t>r</a:t>
            </a:r>
            <a:r>
              <a:rPr lang="en-US" sz="1500" i="1" dirty="0">
                <a:solidFill>
                  <a:prstClr val="black"/>
                </a:solidFill>
              </a:rPr>
              <a:t> </a:t>
            </a:r>
            <a:r>
              <a:rPr lang="en-US" sz="1500" dirty="0">
                <a:solidFill>
                  <a:prstClr val="black"/>
                </a:solidFill>
              </a:rPr>
              <a:t>to </a:t>
            </a:r>
            <a:r>
              <a:rPr lang="en-US" sz="1500" i="1" dirty="0">
                <a:solidFill>
                  <a:prstClr val="black"/>
                </a:solidFill>
              </a:rPr>
              <a:t>S</a:t>
            </a:r>
            <a:r>
              <a:rPr lang="en-US" sz="1500" dirty="0">
                <a:solidFill>
                  <a:prstClr val="black"/>
                </a:solidFill>
              </a:rPr>
              <a:t>’</a:t>
            </a:r>
            <a:r>
              <a:rPr lang="en-US" sz="1500" i="1" baseline="-25000" dirty="0">
                <a:solidFill>
                  <a:prstClr val="black"/>
                </a:solidFill>
              </a:rPr>
              <a:t>r</a:t>
            </a:r>
            <a:r>
              <a:rPr lang="en-US" sz="1500" i="1" dirty="0">
                <a:solidFill>
                  <a:prstClr val="black"/>
                </a:solidFill>
              </a:rPr>
              <a:t> </a:t>
            </a:r>
            <a:r>
              <a:rPr lang="en-US" sz="1500" dirty="0">
                <a:solidFill>
                  <a:prstClr val="black"/>
                </a:solidFill>
              </a:rPr>
              <a:t>and the aggregate supply of glass from </a:t>
            </a:r>
            <a:r>
              <a:rPr lang="en-US" sz="1500" i="1" dirty="0">
                <a:solidFill>
                  <a:prstClr val="black"/>
                </a:solidFill>
              </a:rPr>
              <a:t>S </a:t>
            </a:r>
            <a:r>
              <a:rPr lang="en-US" sz="1500" dirty="0">
                <a:solidFill>
                  <a:prstClr val="black"/>
                </a:solidFill>
              </a:rPr>
              <a:t>to </a:t>
            </a:r>
            <a:r>
              <a:rPr lang="en-US" sz="1500" i="1" dirty="0">
                <a:solidFill>
                  <a:prstClr val="black"/>
                </a:solidFill>
              </a:rPr>
              <a:t>S</a:t>
            </a:r>
            <a:r>
              <a:rPr lang="en-US" sz="1500" dirty="0">
                <a:solidFill>
                  <a:prstClr val="black"/>
                </a:solidFill>
              </a:rPr>
              <a:t>’. </a:t>
            </a:r>
          </a:p>
          <a:p>
            <a:pPr marL="0" lvl="0" indent="0">
              <a:spcBef>
                <a:spcPts val="500"/>
              </a:spcBef>
              <a:buClrTx/>
              <a:buNone/>
            </a:pPr>
            <a:r>
              <a:rPr lang="en-US" sz="1500" dirty="0">
                <a:solidFill>
                  <a:prstClr val="black"/>
                </a:solidFill>
              </a:rPr>
              <a:t>The price of glass then falls to </a:t>
            </a:r>
            <a:r>
              <a:rPr lang="en-US" sz="1500" i="1" dirty="0">
                <a:solidFill>
                  <a:prstClr val="black"/>
                </a:solidFill>
              </a:rPr>
              <a:t>P</a:t>
            </a:r>
            <a:r>
              <a:rPr lang="en-US" sz="1500" dirty="0">
                <a:solidFill>
                  <a:prstClr val="black"/>
                </a:solidFill>
              </a:rPr>
              <a:t>’, the quantity of recycled glass increases to </a:t>
            </a:r>
            <a:r>
              <a:rPr lang="en-US" sz="1500" i="1" dirty="0">
                <a:solidFill>
                  <a:prstClr val="black"/>
                </a:solidFill>
              </a:rPr>
              <a:t>M</a:t>
            </a:r>
            <a:r>
              <a:rPr lang="en-US" sz="1500" dirty="0">
                <a:solidFill>
                  <a:prstClr val="black"/>
                </a:solidFill>
              </a:rPr>
              <a:t>*, and the amount of disposed glass decreases.</a:t>
            </a:r>
            <a:endParaRPr lang="zh-CN" altLang="en-US" sz="1500" dirty="0">
              <a:solidFill>
                <a:prstClr val="black"/>
              </a:solidFill>
              <a:ea typeface="SimSun" pitchFamily="2" charset="-122"/>
              <a:cs typeface="Arial" pitchFamily="34" charset="0"/>
            </a:endParaRPr>
          </a:p>
        </p:txBody>
      </p:sp>
      <p:pic>
        <p:nvPicPr>
          <p:cNvPr id="12" name="Picture Placeholder 11" descr="X-axis depicts Amount of glass marked as 4,  M1, M*. Y-axis depicts cost in dollars marked as P' and P. Five supply curves labeled Sr, Sr', Sv, S and S' are drawn on graph. Demand curve D intersects S at Y = P and S' at Y =P'. "/>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5365807" y="1794835"/>
            <a:ext cx="3320236" cy="3892691"/>
          </a:xfrm>
        </p:spPr>
      </p:pic>
    </p:spTree>
    <p:extLst>
      <p:ext uri="{BB962C8B-B14F-4D97-AF65-F5344CB8AC3E}">
        <p14:creationId xmlns:p14="http://schemas.microsoft.com/office/powerpoint/2010/main" val="11115623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960"/>
            <a:ext cx="8229600" cy="1046440"/>
          </a:xfrm>
        </p:spPr>
        <p:txBody>
          <a:bodyPr>
            <a:spAutoFit/>
          </a:bodyPr>
          <a:lstStyle/>
          <a:p>
            <a:r>
              <a:rPr lang="en-US" dirty="0"/>
              <a:t>EXAMPLE 18.4 REGULATING MUNICIPAL SOLID </a:t>
            </a:r>
            <a:r>
              <a:rPr lang="en-US" dirty="0" smtClean="0"/>
              <a:t>WASTES (1 </a:t>
            </a:r>
            <a:r>
              <a:rPr lang="en-US" dirty="0">
                <a:cs typeface="Calibri" panose="020F0502020204030204" pitchFamily="34" charset="0"/>
              </a:rPr>
              <a:t>of</a:t>
            </a:r>
            <a:r>
              <a:rPr lang="en-US" dirty="0" smtClean="0"/>
              <a:t> </a:t>
            </a:r>
            <a:r>
              <a:rPr lang="en-US" dirty="0"/>
              <a:t>2)</a:t>
            </a:r>
          </a:p>
        </p:txBody>
      </p:sp>
      <p:sp>
        <p:nvSpPr>
          <p:cNvPr id="4" name="Content Placeholder 3"/>
          <p:cNvSpPr>
            <a:spLocks noGrp="1"/>
          </p:cNvSpPr>
          <p:nvPr>
            <p:ph sz="quarter" idx="14"/>
          </p:nvPr>
        </p:nvSpPr>
        <p:spPr>
          <a:xfrm>
            <a:off x="462708" y="1600200"/>
            <a:ext cx="4947492" cy="2162130"/>
          </a:xfrm>
        </p:spPr>
        <p:txBody>
          <a:bodyPr wrap="square">
            <a:spAutoFit/>
          </a:bodyPr>
          <a:lstStyle/>
          <a:p>
            <a:pPr marL="0" lvl="0" indent="0">
              <a:buClrTx/>
              <a:buNone/>
            </a:pPr>
            <a:r>
              <a:rPr lang="en-US" sz="1600" dirty="0">
                <a:solidFill>
                  <a:prstClr val="black"/>
                </a:solidFill>
              </a:rPr>
              <a:t>In 2009, the average resident of the United </a:t>
            </a:r>
            <a:r>
              <a:rPr lang="en-US" sz="1600" dirty="0" smtClean="0">
                <a:solidFill>
                  <a:prstClr val="black"/>
                </a:solidFill>
              </a:rPr>
              <a:t>States generated </a:t>
            </a:r>
            <a:r>
              <a:rPr lang="en-US" sz="1600" dirty="0">
                <a:solidFill>
                  <a:prstClr val="black"/>
                </a:solidFill>
              </a:rPr>
              <a:t>4.34 pounds of solid waste per day,</a:t>
            </a:r>
            <a:br>
              <a:rPr lang="en-US" sz="1600" dirty="0">
                <a:solidFill>
                  <a:prstClr val="black"/>
                </a:solidFill>
              </a:rPr>
            </a:br>
            <a:r>
              <a:rPr lang="en-US" sz="1600" dirty="0">
                <a:solidFill>
                  <a:prstClr val="black"/>
                </a:solidFill>
              </a:rPr>
              <a:t>substantially higher than residents of Tokyo, Paris</a:t>
            </a:r>
            <a:r>
              <a:rPr lang="en-US" sz="1600" dirty="0" smtClean="0">
                <a:solidFill>
                  <a:prstClr val="black"/>
                </a:solidFill>
              </a:rPr>
              <a:t>, Hong </a:t>
            </a:r>
            <a:r>
              <a:rPr lang="en-US" sz="1600" dirty="0">
                <a:solidFill>
                  <a:prstClr val="black"/>
                </a:solidFill>
              </a:rPr>
              <a:t>Kong, and Rome.</a:t>
            </a:r>
          </a:p>
          <a:p>
            <a:pPr marL="0" lvl="0" indent="0">
              <a:buClrTx/>
              <a:buNone/>
            </a:pPr>
            <a:r>
              <a:rPr lang="en-US" sz="1600" dirty="0" smtClean="0">
                <a:solidFill>
                  <a:prstClr val="black"/>
                </a:solidFill>
              </a:rPr>
              <a:t>Some </a:t>
            </a:r>
            <a:r>
              <a:rPr lang="en-US" sz="1600" dirty="0">
                <a:solidFill>
                  <a:prstClr val="black"/>
                </a:solidFill>
              </a:rPr>
              <a:t>of these differences are due to variations </a:t>
            </a:r>
            <a:r>
              <a:rPr lang="en-US" sz="1600" dirty="0" smtClean="0">
                <a:solidFill>
                  <a:prstClr val="black"/>
                </a:solidFill>
              </a:rPr>
              <a:t>in consumption </a:t>
            </a:r>
            <a:r>
              <a:rPr lang="en-US" sz="1600" dirty="0">
                <a:solidFill>
                  <a:prstClr val="black"/>
                </a:solidFill>
              </a:rPr>
              <a:t>levels, but most are due to the efforts </a:t>
            </a:r>
            <a:r>
              <a:rPr lang="en-US" sz="1600" dirty="0" smtClean="0">
                <a:solidFill>
                  <a:prstClr val="black"/>
                </a:solidFill>
              </a:rPr>
              <a:t>that many </a:t>
            </a:r>
            <a:r>
              <a:rPr lang="en-US" sz="1600" dirty="0">
                <a:solidFill>
                  <a:prstClr val="black"/>
                </a:solidFill>
              </a:rPr>
              <a:t>other countries have made to encourage recycling. </a:t>
            </a:r>
          </a:p>
        </p:txBody>
      </p:sp>
      <p:pic>
        <p:nvPicPr>
          <p:cNvPr id="8" name="Picture Placeholder 7" descr="Photo shows bulldozer on top of a garbage heap."/>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5772514" y="1600200"/>
            <a:ext cx="2914286" cy="1942857"/>
          </a:xfrm>
        </p:spPr>
      </p:pic>
      <p:sp>
        <p:nvSpPr>
          <p:cNvPr id="5" name="Content Placeholder 4"/>
          <p:cNvSpPr>
            <a:spLocks noGrp="1"/>
          </p:cNvSpPr>
          <p:nvPr>
            <p:ph sz="quarter" idx="16"/>
          </p:nvPr>
        </p:nvSpPr>
        <p:spPr>
          <a:xfrm>
            <a:off x="467833" y="3795459"/>
            <a:ext cx="8229600" cy="2408352"/>
          </a:xfrm>
        </p:spPr>
        <p:txBody>
          <a:bodyPr>
            <a:spAutoFit/>
          </a:bodyPr>
          <a:lstStyle/>
          <a:p>
            <a:pPr marL="0" lvl="0" indent="0">
              <a:buClrTx/>
              <a:buNone/>
            </a:pPr>
            <a:r>
              <a:rPr lang="en-US" sz="1600" dirty="0" smtClean="0">
                <a:solidFill>
                  <a:prstClr val="black"/>
                </a:solidFill>
              </a:rPr>
              <a:t>A </a:t>
            </a:r>
            <a:r>
              <a:rPr lang="en-US" sz="1600" dirty="0">
                <a:solidFill>
                  <a:prstClr val="black"/>
                </a:solidFill>
              </a:rPr>
              <a:t>number of policy proposals have been introduced to encourage recycling in the United States. Refundable deposits, curbside charges and </a:t>
            </a:r>
            <a:r>
              <a:rPr lang="en-US" sz="1600" i="1" dirty="0">
                <a:solidFill>
                  <a:prstClr val="black"/>
                </a:solidFill>
              </a:rPr>
              <a:t>mandatory separation </a:t>
            </a:r>
            <a:r>
              <a:rPr lang="en-US" sz="1600" dirty="0">
                <a:solidFill>
                  <a:prstClr val="black"/>
                </a:solidFill>
              </a:rPr>
              <a:t>of recyclable materials such as </a:t>
            </a:r>
            <a:r>
              <a:rPr lang="en-US" sz="1600" dirty="0" smtClean="0">
                <a:solidFill>
                  <a:prstClr val="black"/>
                </a:solidFill>
              </a:rPr>
              <a:t>glass </a:t>
            </a:r>
            <a:r>
              <a:rPr lang="en-US" sz="1600" dirty="0">
                <a:solidFill>
                  <a:prstClr val="black"/>
                </a:solidFill>
              </a:rPr>
              <a:t>are policies with varying degrees of effectiveness based on consumer preferences. A refundable deposit system does best, with 78.9 percent of consumers purchasing recyclable glass containers</a:t>
            </a:r>
            <a:r>
              <a:rPr lang="en-US" sz="1600" dirty="0" smtClean="0">
                <a:solidFill>
                  <a:prstClr val="black"/>
                </a:solidFill>
              </a:rPr>
              <a:t>.</a:t>
            </a:r>
            <a:endParaRPr lang="en-US" sz="1600" dirty="0">
              <a:solidFill>
                <a:prstClr val="black"/>
              </a:solidFill>
            </a:endParaRPr>
          </a:p>
          <a:p>
            <a:pPr marL="0" lvl="0" indent="0">
              <a:buClrTx/>
              <a:buNone/>
            </a:pPr>
            <a:r>
              <a:rPr lang="en-US" sz="1600" dirty="0">
                <a:solidFill>
                  <a:prstClr val="black"/>
                </a:solidFill>
              </a:rPr>
              <a:t>Recycling efforts have expanded in the past decade. By 2009, 50.7 percent of </a:t>
            </a:r>
            <a:r>
              <a:rPr lang="en-US" sz="1600" dirty="0" smtClean="0">
                <a:solidFill>
                  <a:prstClr val="black"/>
                </a:solidFill>
              </a:rPr>
              <a:t>aluminum, 74.2 </a:t>
            </a:r>
            <a:r>
              <a:rPr lang="en-US" sz="1600" dirty="0">
                <a:solidFill>
                  <a:prstClr val="black"/>
                </a:solidFill>
              </a:rPr>
              <a:t>percent </a:t>
            </a:r>
            <a:r>
              <a:rPr lang="en-US" sz="1600" dirty="0" smtClean="0">
                <a:solidFill>
                  <a:prstClr val="black"/>
                </a:solidFill>
              </a:rPr>
              <a:t>of </a:t>
            </a:r>
            <a:r>
              <a:rPr lang="en-US" sz="1600" dirty="0">
                <a:solidFill>
                  <a:prstClr val="black"/>
                </a:solidFill>
              </a:rPr>
              <a:t>office paper, and 31.1 percent of glass containers were recycled. In 2013, Americans created 4.40 pounds of solid waste per person per day. 1.51 pounds of that total was either recycled or composted.</a:t>
            </a:r>
          </a:p>
        </p:txBody>
      </p:sp>
    </p:spTree>
    <p:extLst>
      <p:ext uri="{BB962C8B-B14F-4D97-AF65-F5344CB8AC3E}">
        <p14:creationId xmlns:p14="http://schemas.microsoft.com/office/powerpoint/2010/main" val="28660742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038"/>
            <a:ext cx="8229600" cy="923330"/>
          </a:xfrm>
        </p:spPr>
        <p:txBody>
          <a:bodyPr>
            <a:spAutoFit/>
          </a:bodyPr>
          <a:lstStyle/>
          <a:p>
            <a:r>
              <a:rPr lang="en-US" sz="3000" dirty="0"/>
              <a:t>EXAMPLE 18.4 REGULATING MUNICIPAL SOLID </a:t>
            </a:r>
            <a:r>
              <a:rPr lang="en-US" sz="3000" dirty="0" smtClean="0"/>
              <a:t>WASTES (2 </a:t>
            </a:r>
            <a:r>
              <a:rPr lang="en-US" sz="3000" dirty="0">
                <a:cs typeface="Calibri" panose="020F0502020204030204" pitchFamily="34" charset="0"/>
              </a:rPr>
              <a:t>of</a:t>
            </a:r>
            <a:r>
              <a:rPr lang="en-US" sz="3000" dirty="0" smtClean="0"/>
              <a:t> 2)</a:t>
            </a:r>
            <a:endParaRPr lang="en-US" sz="3000" dirty="0"/>
          </a:p>
        </p:txBody>
      </p:sp>
      <p:pic>
        <p:nvPicPr>
          <p:cNvPr id="12" name="Picture Placeholder 11" descr="Bar graph shows recycling rates of selected products for US in 2013."/>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2495336" y="1600200"/>
            <a:ext cx="4144571" cy="2651609"/>
          </a:xfrm>
        </p:spPr>
      </p:pic>
      <p:sp>
        <p:nvSpPr>
          <p:cNvPr id="8" name="Content Placeholder 7"/>
          <p:cNvSpPr>
            <a:spLocks noGrp="1"/>
          </p:cNvSpPr>
          <p:nvPr>
            <p:ph sz="quarter" idx="14"/>
          </p:nvPr>
        </p:nvSpPr>
        <p:spPr>
          <a:xfrm>
            <a:off x="457200" y="4343400"/>
            <a:ext cx="8229600" cy="1487587"/>
          </a:xfrm>
        </p:spPr>
        <p:txBody>
          <a:bodyPr wrap="square">
            <a:spAutoFit/>
          </a:bodyPr>
          <a:lstStyle/>
          <a:p>
            <a:pPr marL="0" indent="0">
              <a:spcBef>
                <a:spcPts val="1000"/>
              </a:spcBef>
              <a:buClrTx/>
              <a:buNone/>
            </a:pPr>
            <a:r>
              <a:rPr lang="en-US" sz="1600" b="1" dirty="0"/>
              <a:t>FIGURE 18.12</a:t>
            </a:r>
          </a:p>
          <a:p>
            <a:pPr marL="0" indent="0">
              <a:spcBef>
                <a:spcPts val="1000"/>
              </a:spcBef>
              <a:buClrTx/>
              <a:buNone/>
            </a:pPr>
            <a:r>
              <a:rPr lang="en-US" sz="1600" b="1" dirty="0"/>
              <a:t>RECYCLING RATES OF SELECTED PRODUCTS FOR U.S., 2013</a:t>
            </a:r>
          </a:p>
          <a:p>
            <a:pPr marL="0" lvl="0" indent="0">
              <a:spcBef>
                <a:spcPts val="1000"/>
              </a:spcBef>
              <a:buClrTx/>
              <a:buNone/>
            </a:pPr>
            <a:r>
              <a:rPr lang="en-US" altLang="zh-CN" sz="1600" dirty="0">
                <a:solidFill>
                  <a:prstClr val="black"/>
                </a:solidFill>
                <a:ea typeface="SimSun" pitchFamily="2" charset="-122"/>
                <a:cs typeface="Arial" pitchFamily="34" charset="0"/>
              </a:rPr>
              <a:t>In 2013, Americans generated about 254 million tons of trash and recycled and composted about 87 million tons of this material, equivalent to a 34.3 percent average recycling rate. This represents 1.51 pounds of the 4.40 pounds of waste generated per person per day.</a:t>
            </a:r>
            <a:endParaRPr lang="zh-CN" altLang="en-US" sz="1600" dirty="0">
              <a:solidFill>
                <a:prstClr val="black"/>
              </a:solidFill>
              <a:ea typeface="SimSun" pitchFamily="2" charset="-122"/>
              <a:cs typeface="Arial" pitchFamily="34" charset="0"/>
            </a:endParaRPr>
          </a:p>
        </p:txBody>
      </p:sp>
    </p:spTree>
    <p:extLst>
      <p:ext uri="{BB962C8B-B14F-4D97-AF65-F5344CB8AC3E}">
        <p14:creationId xmlns:p14="http://schemas.microsoft.com/office/powerpoint/2010/main" val="28098491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2"/>
            <a:ext cx="8229600" cy="1046440"/>
          </a:xfrm>
        </p:spPr>
        <p:txBody>
          <a:bodyPr>
            <a:spAutoFit/>
          </a:bodyPr>
          <a:lstStyle/>
          <a:p>
            <a:pPr marL="857250" indent="-857250"/>
            <a:r>
              <a:rPr lang="en-US" dirty="0" smtClean="0"/>
              <a:t>18.2 </a:t>
            </a:r>
            <a:r>
              <a:rPr lang="en-US" dirty="0"/>
              <a:t>Ways of Correcting Market </a:t>
            </a:r>
            <a:r>
              <a:rPr lang="en-US" dirty="0" smtClean="0"/>
              <a:t>Failure</a:t>
            </a:r>
            <a:br>
              <a:rPr lang="en-US" dirty="0" smtClean="0"/>
            </a:br>
            <a:r>
              <a:rPr lang="en-US" dirty="0" smtClean="0"/>
              <a:t>(1 </a:t>
            </a:r>
            <a:r>
              <a:rPr lang="en-US" dirty="0">
                <a:cs typeface="Calibri" panose="020F0502020204030204" pitchFamily="34" charset="0"/>
              </a:rPr>
              <a:t>of</a:t>
            </a:r>
            <a:r>
              <a:rPr lang="en-US" dirty="0" smtClean="0"/>
              <a:t> </a:t>
            </a:r>
            <a:r>
              <a:rPr lang="en-US" dirty="0"/>
              <a:t>2)</a:t>
            </a:r>
          </a:p>
        </p:txBody>
      </p:sp>
      <p:sp>
        <p:nvSpPr>
          <p:cNvPr id="4" name="Content Placeholder 3"/>
          <p:cNvSpPr>
            <a:spLocks noGrp="1"/>
          </p:cNvSpPr>
          <p:nvPr>
            <p:ph idx="1"/>
          </p:nvPr>
        </p:nvSpPr>
        <p:spPr>
          <a:xfrm>
            <a:off x="457200" y="1600200"/>
            <a:ext cx="8229600" cy="3724096"/>
          </a:xfrm>
        </p:spPr>
        <p:txBody>
          <a:bodyPr>
            <a:spAutoFit/>
          </a:bodyPr>
          <a:lstStyle/>
          <a:p>
            <a:pPr marL="0" indent="0">
              <a:buClrTx/>
              <a:buSzTx/>
              <a:buNone/>
            </a:pPr>
            <a:r>
              <a:rPr lang="en-US" sz="1600" dirty="0"/>
              <a:t>Sometimes, the damage to society comes not directly from </a:t>
            </a:r>
            <a:r>
              <a:rPr lang="en-US" sz="1600" dirty="0" smtClean="0"/>
              <a:t>the emissions </a:t>
            </a:r>
            <a:r>
              <a:rPr lang="en-US" sz="1600" i="1" dirty="0"/>
              <a:t>flow</a:t>
            </a:r>
            <a:r>
              <a:rPr lang="en-US" sz="1600" dirty="0"/>
              <a:t>, but rather from the </a:t>
            </a:r>
            <a:r>
              <a:rPr lang="en-US" sz="1600" i="1" dirty="0"/>
              <a:t>accumulated stock </a:t>
            </a:r>
            <a:r>
              <a:rPr lang="en-US" sz="1600" dirty="0"/>
              <a:t>of a polluta</a:t>
            </a:r>
            <a:r>
              <a:rPr lang="en-US" sz="1600" dirty="0">
                <a:solidFill>
                  <a:prstClr val="black"/>
                </a:solidFill>
              </a:rPr>
              <a:t>nt. </a:t>
            </a:r>
          </a:p>
          <a:p>
            <a:pPr marL="0" indent="0">
              <a:buClrTx/>
              <a:buSzTx/>
              <a:buNone/>
            </a:pPr>
            <a:r>
              <a:rPr lang="en-US" sz="1600" dirty="0">
                <a:solidFill>
                  <a:prstClr val="black"/>
                </a:solidFill>
              </a:rPr>
              <a:t>A </a:t>
            </a:r>
            <a:r>
              <a:rPr lang="en-US" sz="1600" dirty="0"/>
              <a:t>good example is global warming. It is the </a:t>
            </a:r>
            <a:r>
              <a:rPr lang="en-US" sz="1600" i="1" dirty="0"/>
              <a:t>stock of accumulated greenhouse gases (GHGs) in the atmosphere </a:t>
            </a:r>
            <a:r>
              <a:rPr lang="en-US" sz="1600" dirty="0"/>
              <a:t>that ultimately causes harm. Furthermore, the </a:t>
            </a:r>
            <a:r>
              <a:rPr lang="en-US" sz="1600" i="1" dirty="0"/>
              <a:t>dissipation rate </a:t>
            </a:r>
            <a:r>
              <a:rPr lang="en-US" sz="1600" dirty="0"/>
              <a:t>for accumulated GHGs is very </a:t>
            </a:r>
            <a:r>
              <a:rPr lang="en-US" sz="1600" dirty="0">
                <a:solidFill>
                  <a:prstClr val="black"/>
                </a:solidFill>
              </a:rPr>
              <a:t>low</a:t>
            </a:r>
            <a:r>
              <a:rPr lang="en-US" sz="1600" dirty="0" smtClean="0">
                <a:solidFill>
                  <a:prstClr val="black"/>
                </a:solidFill>
              </a:rPr>
              <a:t>.</a:t>
            </a:r>
            <a:endParaRPr lang="en-US" sz="1600" dirty="0">
              <a:solidFill>
                <a:prstClr val="black"/>
              </a:solidFill>
            </a:endParaRPr>
          </a:p>
          <a:p>
            <a:pPr marL="0" indent="0">
              <a:buClrTx/>
              <a:buSzTx/>
              <a:buNone/>
            </a:pPr>
            <a:r>
              <a:rPr lang="en-US" sz="1600" b="1" dirty="0">
                <a:solidFill>
                  <a:prstClr val="black"/>
                </a:solidFill>
              </a:rPr>
              <a:t>stock</a:t>
            </a:r>
            <a:r>
              <a:rPr lang="en-US" sz="1600" dirty="0">
                <a:solidFill>
                  <a:prstClr val="black"/>
                </a:solidFill>
              </a:rPr>
              <a:t> </a:t>
            </a:r>
            <a:r>
              <a:rPr lang="en-US" sz="1600" b="1" dirty="0"/>
              <a:t>externality </a:t>
            </a:r>
            <a:r>
              <a:rPr lang="en-US" sz="1600" dirty="0" smtClean="0"/>
              <a:t>Accumulated </a:t>
            </a:r>
            <a:r>
              <a:rPr lang="en-US" sz="1600" dirty="0"/>
              <a:t>result of action by a producer or consumer which, though not accounted for in the market price, affects other producers or consu</a:t>
            </a:r>
            <a:r>
              <a:rPr lang="en-US" sz="1600" dirty="0">
                <a:solidFill>
                  <a:prstClr val="black"/>
                </a:solidFill>
              </a:rPr>
              <a:t>mers</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Stock </a:t>
            </a:r>
            <a:r>
              <a:rPr lang="en-US" sz="1600" dirty="0"/>
              <a:t>externalities (like flow externalities) can also be positive. An example is the stock of “knowledge” that accumulates as a result of investments in </a:t>
            </a:r>
            <a:r>
              <a:rPr lang="en-US" sz="1600" dirty="0">
                <a:solidFill>
                  <a:prstClr val="black"/>
                </a:solidFill>
              </a:rPr>
              <a:t>R&amp;D</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By </a:t>
            </a:r>
            <a:r>
              <a:rPr lang="en-US" sz="1600" dirty="0"/>
              <a:t>calculating the investment’s </a:t>
            </a:r>
            <a:r>
              <a:rPr lang="en-US" sz="1600" i="1" dirty="0"/>
              <a:t>net present value (NPV)</a:t>
            </a:r>
            <a:r>
              <a:rPr lang="en-US" sz="1600" dirty="0"/>
              <a:t>, the firm can decide whether or not the investment is economically justified. The same net present value concept applies when we want to analyze how the government should respond to a stock externality</a:t>
            </a:r>
            <a:r>
              <a:rPr lang="en-US" sz="1600" dirty="0" smtClean="0"/>
              <a:t>.</a:t>
            </a:r>
            <a:endParaRPr lang="en-US" sz="1600" dirty="0"/>
          </a:p>
        </p:txBody>
      </p:sp>
    </p:spTree>
    <p:extLst>
      <p:ext uri="{BB962C8B-B14F-4D97-AF65-F5344CB8AC3E}">
        <p14:creationId xmlns:p14="http://schemas.microsoft.com/office/powerpoint/2010/main" val="15071593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924"/>
            <a:ext cx="8229600" cy="461665"/>
          </a:xfrm>
        </p:spPr>
        <p:txBody>
          <a:bodyPr vert="horz" lIns="0" tIns="0" rIns="0" bIns="0" rtlCol="0" anchor="b">
            <a:spAutoFit/>
          </a:bodyPr>
          <a:lstStyle/>
          <a:p>
            <a:pPr marL="857250" indent="-857250"/>
            <a:r>
              <a:rPr lang="en-US" sz="3000" dirty="0"/>
              <a:t>18.2 Ways of Correcting Market Failure (2 of 2)</a:t>
            </a:r>
          </a:p>
        </p:txBody>
      </p:sp>
      <p:sp>
        <p:nvSpPr>
          <p:cNvPr id="4" name="Content Placeholder 3"/>
          <p:cNvSpPr>
            <a:spLocks noGrp="1"/>
          </p:cNvSpPr>
          <p:nvPr>
            <p:ph idx="1"/>
          </p:nvPr>
        </p:nvSpPr>
        <p:spPr>
          <a:xfrm>
            <a:off x="457200" y="1600201"/>
            <a:ext cx="8229600" cy="646331"/>
          </a:xfrm>
        </p:spPr>
        <p:txBody>
          <a:bodyPr>
            <a:spAutoFit/>
          </a:bodyPr>
          <a:lstStyle/>
          <a:p>
            <a:pPr marL="0" indent="0">
              <a:spcBef>
                <a:spcPts val="0"/>
              </a:spcBef>
              <a:buClrTx/>
              <a:buSzTx/>
              <a:buNone/>
            </a:pPr>
            <a:r>
              <a:rPr lang="en-US" b="1" dirty="0" smtClean="0">
                <a:solidFill>
                  <a:schemeClr val="tx1"/>
                </a:solidFill>
                <a:latin typeface="Arial (Body)"/>
              </a:rPr>
              <a:t>Stock Buildup and Its Impact</a:t>
            </a:r>
            <a:endParaRPr lang="en-US" dirty="0">
              <a:solidFill>
                <a:schemeClr val="tx1"/>
              </a:solidFill>
              <a:latin typeface="Arial (Body)"/>
            </a:endParaRPr>
          </a:p>
          <a:p>
            <a:pPr marL="0" lvl="0" indent="0">
              <a:spcBef>
                <a:spcPts val="0"/>
              </a:spcBef>
              <a:buClrTx/>
              <a:buSzTx/>
              <a:buNone/>
            </a:pPr>
            <a:r>
              <a:rPr lang="en-US" dirty="0" smtClean="0">
                <a:solidFill>
                  <a:schemeClr val="tx1"/>
                </a:solidFill>
                <a:latin typeface="Arial (Body)"/>
              </a:rPr>
              <a:t>With </a:t>
            </a:r>
            <a:r>
              <a:rPr lang="en-US" dirty="0">
                <a:solidFill>
                  <a:schemeClr val="tx1"/>
                </a:solidFill>
                <a:latin typeface="Arial (Body)"/>
              </a:rPr>
              <a:t>ongoing emissions, the stock will accumulate, but some fraction of the stock, </a:t>
            </a:r>
            <a:r>
              <a:rPr lang="en-US" dirty="0">
                <a:solidFill>
                  <a:schemeClr val="tx1"/>
                </a:solidFill>
                <a:latin typeface="Arial (Body)"/>
                <a:sym typeface="Symbol"/>
              </a:rPr>
              <a:t></a:t>
            </a:r>
            <a:r>
              <a:rPr lang="en-US" dirty="0">
                <a:solidFill>
                  <a:schemeClr val="tx1"/>
                </a:solidFill>
                <a:latin typeface="Arial (Body)"/>
              </a:rPr>
              <a:t>, will dissipate each year. In the first year, the stock of pollutant (</a:t>
            </a:r>
            <a:r>
              <a:rPr lang="en-US" i="1" dirty="0">
                <a:solidFill>
                  <a:schemeClr val="tx1"/>
                </a:solidFill>
                <a:latin typeface="Arial (Body)"/>
              </a:rPr>
              <a:t>S</a:t>
            </a:r>
            <a:r>
              <a:rPr lang="en-US" dirty="0">
                <a:solidFill>
                  <a:schemeClr val="tx1"/>
                </a:solidFill>
                <a:latin typeface="Arial (Body)"/>
              </a:rPr>
              <a:t>) will be just the amount of that year’s emissions (</a:t>
            </a:r>
            <a:r>
              <a:rPr lang="en-US" i="1" dirty="0">
                <a:solidFill>
                  <a:schemeClr val="tx1"/>
                </a:solidFill>
                <a:latin typeface="Arial (Body)"/>
              </a:rPr>
              <a:t>E</a:t>
            </a:r>
            <a:r>
              <a:rPr lang="en-US" dirty="0" smtClean="0">
                <a:solidFill>
                  <a:schemeClr val="tx1"/>
                </a:solidFill>
                <a:latin typeface="Arial (Body)"/>
              </a:rPr>
              <a:t>):</a:t>
            </a:r>
            <a:endParaRPr lang="en-US" dirty="0">
              <a:solidFill>
                <a:schemeClr val="tx1"/>
              </a:solidFill>
              <a:latin typeface="Arial (Body)"/>
            </a:endParaRPr>
          </a:p>
        </p:txBody>
      </p:sp>
      <p:graphicFrame>
        <p:nvGraphicFramePr>
          <p:cNvPr id="8" name="Object 7" descr="S 1 is equal to E 1."/>
          <p:cNvGraphicFramePr>
            <a:graphicFrameLocks noChangeAspect="1"/>
          </p:cNvGraphicFramePr>
          <p:nvPr>
            <p:extLst>
              <p:ext uri="{D42A27DB-BD31-4B8C-83A1-F6EECF244321}">
                <p14:modId xmlns:p14="http://schemas.microsoft.com/office/powerpoint/2010/main" val="516113886"/>
              </p:ext>
            </p:extLst>
          </p:nvPr>
        </p:nvGraphicFramePr>
        <p:xfrm>
          <a:off x="4305300" y="2419350"/>
          <a:ext cx="533400" cy="203200"/>
        </p:xfrm>
        <a:graphic>
          <a:graphicData uri="http://schemas.openxmlformats.org/presentationml/2006/ole">
            <mc:AlternateContent xmlns:mc="http://schemas.openxmlformats.org/markup-compatibility/2006">
              <mc:Choice xmlns:v="urn:schemas-microsoft-com:vml" Requires="v">
                <p:oleObj spid="_x0000_s1228" name="Equation" r:id="rId4" imgW="533160" imgH="203040" progId="Equation.3">
                  <p:embed/>
                </p:oleObj>
              </mc:Choice>
              <mc:Fallback>
                <p:oleObj name="Equation" r:id="rId4" imgW="533160" imgH="203040" progId="Equation.3">
                  <p:embed/>
                  <p:pic>
                    <p:nvPicPr>
                      <p:cNvPr id="0" name=""/>
                      <p:cNvPicPr/>
                      <p:nvPr/>
                    </p:nvPicPr>
                    <p:blipFill>
                      <a:blip r:embed="rId5"/>
                      <a:stretch>
                        <a:fillRect/>
                      </a:stretch>
                    </p:blipFill>
                    <p:spPr>
                      <a:xfrm>
                        <a:off x="4305300" y="2419350"/>
                        <a:ext cx="533400" cy="203200"/>
                      </a:xfrm>
                      <a:prstGeom prst="rect">
                        <a:avLst/>
                      </a:prstGeom>
                    </p:spPr>
                  </p:pic>
                </p:oleObj>
              </mc:Fallback>
            </mc:AlternateContent>
          </a:graphicData>
        </a:graphic>
      </p:graphicFrame>
      <p:sp>
        <p:nvSpPr>
          <p:cNvPr id="3" name="Content Placeholder 2"/>
          <p:cNvSpPr>
            <a:spLocks noGrp="1"/>
          </p:cNvSpPr>
          <p:nvPr>
            <p:ph sz="quarter" idx="13"/>
          </p:nvPr>
        </p:nvSpPr>
        <p:spPr>
          <a:xfrm>
            <a:off x="457200" y="2752725"/>
            <a:ext cx="8229600" cy="430887"/>
          </a:xfrm>
        </p:spPr>
        <p:txBody>
          <a:bodyPr>
            <a:spAutoFit/>
          </a:bodyPr>
          <a:lstStyle/>
          <a:p>
            <a:pPr marL="0" lvl="0" indent="0">
              <a:buNone/>
            </a:pPr>
            <a:r>
              <a:rPr lang="en-US" sz="1400" dirty="0">
                <a:latin typeface="Arial (Body)"/>
              </a:rPr>
              <a:t>In the second year, the stock of pollutant will equal the emissions that year plus the </a:t>
            </a:r>
            <a:r>
              <a:rPr lang="en-US" sz="1400" dirty="0">
                <a:latin typeface="Arial (Body)"/>
              </a:rPr>
              <a:t>nondissipated</a:t>
            </a:r>
            <a:r>
              <a:rPr lang="en-US" sz="1400" dirty="0">
                <a:latin typeface="Arial (Body)"/>
              </a:rPr>
              <a:t> stock from the first year</a:t>
            </a:r>
            <a:r>
              <a:rPr lang="en-US" sz="1400" dirty="0" smtClean="0">
                <a:latin typeface="Arial (Body)"/>
              </a:rPr>
              <a:t>—</a:t>
            </a:r>
            <a:endParaRPr lang="en-US" sz="1400" dirty="0">
              <a:latin typeface="Arial (Body)"/>
            </a:endParaRPr>
          </a:p>
        </p:txBody>
      </p:sp>
      <p:graphicFrame>
        <p:nvGraphicFramePr>
          <p:cNvPr id="9" name="Object 8" descr="S 2 is equal to E 2 plus, one minus delta multiplied by S 1."/>
          <p:cNvGraphicFramePr>
            <a:graphicFrameLocks noChangeAspect="1"/>
          </p:cNvGraphicFramePr>
          <p:nvPr>
            <p:extLst>
              <p:ext uri="{D42A27DB-BD31-4B8C-83A1-F6EECF244321}">
                <p14:modId xmlns:p14="http://schemas.microsoft.com/office/powerpoint/2010/main" val="540043157"/>
              </p:ext>
            </p:extLst>
          </p:nvPr>
        </p:nvGraphicFramePr>
        <p:xfrm>
          <a:off x="3924300" y="3314700"/>
          <a:ext cx="1295400" cy="228600"/>
        </p:xfrm>
        <a:graphic>
          <a:graphicData uri="http://schemas.openxmlformats.org/presentationml/2006/ole">
            <mc:AlternateContent xmlns:mc="http://schemas.openxmlformats.org/markup-compatibility/2006">
              <mc:Choice xmlns:v="urn:schemas-microsoft-com:vml" Requires="v">
                <p:oleObj spid="_x0000_s1229" name="Equation" r:id="rId6" imgW="1295280" imgH="228600" progId="Equation.3">
                  <p:embed/>
                </p:oleObj>
              </mc:Choice>
              <mc:Fallback>
                <p:oleObj name="Equation" r:id="rId6" imgW="1295280" imgH="228600" progId="Equation.3">
                  <p:embed/>
                  <p:pic>
                    <p:nvPicPr>
                      <p:cNvPr id="0" name=""/>
                      <p:cNvPicPr/>
                      <p:nvPr/>
                    </p:nvPicPr>
                    <p:blipFill>
                      <a:blip r:embed="rId7"/>
                      <a:stretch>
                        <a:fillRect/>
                      </a:stretch>
                    </p:blipFill>
                    <p:spPr>
                      <a:xfrm>
                        <a:off x="3924300" y="3314700"/>
                        <a:ext cx="1295400" cy="228600"/>
                      </a:xfrm>
                      <a:prstGeom prst="rect">
                        <a:avLst/>
                      </a:prstGeom>
                    </p:spPr>
                  </p:pic>
                </p:oleObj>
              </mc:Fallback>
            </mc:AlternateContent>
          </a:graphicData>
        </a:graphic>
      </p:graphicFrame>
      <p:sp>
        <p:nvSpPr>
          <p:cNvPr id="5" name="Content Placeholder 4"/>
          <p:cNvSpPr>
            <a:spLocks noGrp="1"/>
          </p:cNvSpPr>
          <p:nvPr>
            <p:ph sz="quarter" idx="14"/>
          </p:nvPr>
        </p:nvSpPr>
        <p:spPr>
          <a:xfrm>
            <a:off x="457200" y="3705225"/>
            <a:ext cx="8229600" cy="430887"/>
          </a:xfrm>
        </p:spPr>
        <p:txBody>
          <a:bodyPr>
            <a:spAutoFit/>
          </a:bodyPr>
          <a:lstStyle/>
          <a:p>
            <a:pPr marL="0" lvl="0" indent="0">
              <a:buNone/>
            </a:pPr>
            <a:r>
              <a:rPr lang="en-US" sz="1400" dirty="0">
                <a:latin typeface="Arial (Body)"/>
              </a:rPr>
              <a:t>—and so on. In general, the stock in any year </a:t>
            </a:r>
            <a:r>
              <a:rPr lang="en-US" sz="1400" i="1" dirty="0">
                <a:latin typeface="Arial (Body)"/>
              </a:rPr>
              <a:t>t </a:t>
            </a:r>
            <a:r>
              <a:rPr lang="en-US" sz="1400" dirty="0">
                <a:latin typeface="Arial (Body)"/>
              </a:rPr>
              <a:t>is given by the emissions generated that year plus the </a:t>
            </a:r>
            <a:r>
              <a:rPr lang="en-US" sz="1400" dirty="0">
                <a:latin typeface="Arial (Body)"/>
              </a:rPr>
              <a:t>nondissipated</a:t>
            </a:r>
            <a:r>
              <a:rPr lang="en-US" sz="1400" dirty="0">
                <a:latin typeface="Arial (Body)"/>
              </a:rPr>
              <a:t> stock from the previous year</a:t>
            </a:r>
            <a:r>
              <a:rPr lang="en-US" sz="1400" dirty="0" smtClean="0">
                <a:latin typeface="Arial (Body)"/>
              </a:rPr>
              <a:t>:</a:t>
            </a:r>
            <a:endParaRPr lang="en-US" sz="1400" dirty="0">
              <a:latin typeface="Arial (Body)"/>
            </a:endParaRPr>
          </a:p>
        </p:txBody>
      </p:sp>
      <p:graphicFrame>
        <p:nvGraphicFramePr>
          <p:cNvPr id="10" name="Object 9" descr="S t is equal to E t plus, one minus delta multiplied by S t minus 1."/>
          <p:cNvGraphicFramePr>
            <a:graphicFrameLocks noChangeAspect="1"/>
          </p:cNvGraphicFramePr>
          <p:nvPr>
            <p:extLst>
              <p:ext uri="{D42A27DB-BD31-4B8C-83A1-F6EECF244321}">
                <p14:modId xmlns:p14="http://schemas.microsoft.com/office/powerpoint/2010/main" val="1667831831"/>
              </p:ext>
            </p:extLst>
          </p:nvPr>
        </p:nvGraphicFramePr>
        <p:xfrm>
          <a:off x="3927475" y="4295775"/>
          <a:ext cx="1346200" cy="228600"/>
        </p:xfrm>
        <a:graphic>
          <a:graphicData uri="http://schemas.openxmlformats.org/presentationml/2006/ole">
            <mc:AlternateContent xmlns:mc="http://schemas.openxmlformats.org/markup-compatibility/2006">
              <mc:Choice xmlns:v="urn:schemas-microsoft-com:vml" Requires="v">
                <p:oleObj spid="_x0000_s1230" name="Equation" r:id="rId8" imgW="1346040" imgH="228600" progId="Equation.3">
                  <p:embed/>
                </p:oleObj>
              </mc:Choice>
              <mc:Fallback>
                <p:oleObj name="Equation" r:id="rId8" imgW="1346040" imgH="228600" progId="Equation.3">
                  <p:embed/>
                  <p:pic>
                    <p:nvPicPr>
                      <p:cNvPr id="0" name="Object 8"/>
                      <p:cNvPicPr>
                        <a:picLocks noChangeAspect="1" noChangeArrowheads="1"/>
                      </p:cNvPicPr>
                      <p:nvPr/>
                    </p:nvPicPr>
                    <p:blipFill>
                      <a:blip r:embed="rId9"/>
                      <a:srcRect/>
                      <a:stretch>
                        <a:fillRect/>
                      </a:stretch>
                    </p:blipFill>
                    <p:spPr bwMode="auto">
                      <a:xfrm>
                        <a:off x="3927475" y="4295775"/>
                        <a:ext cx="1346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sz="quarter" idx="15"/>
          </p:nvPr>
        </p:nvSpPr>
        <p:spPr>
          <a:xfrm>
            <a:off x="457200" y="4762500"/>
            <a:ext cx="8229600" cy="215444"/>
          </a:xfrm>
        </p:spPr>
        <p:txBody>
          <a:bodyPr>
            <a:spAutoFit/>
          </a:bodyPr>
          <a:lstStyle/>
          <a:p>
            <a:pPr marL="0" lvl="0" indent="0">
              <a:buNone/>
            </a:pPr>
            <a:r>
              <a:rPr lang="en-US" sz="1400" dirty="0">
                <a:latin typeface="Arial (Body)"/>
              </a:rPr>
              <a:t>If emissions are at a constant annual rate </a:t>
            </a:r>
            <a:r>
              <a:rPr lang="en-US" sz="1400" i="1" dirty="0">
                <a:latin typeface="Arial (Body)"/>
              </a:rPr>
              <a:t>E</a:t>
            </a:r>
            <a:r>
              <a:rPr lang="en-US" sz="1400" dirty="0">
                <a:latin typeface="Arial (Body)"/>
              </a:rPr>
              <a:t>, then after </a:t>
            </a:r>
            <a:r>
              <a:rPr lang="en-US" sz="1400" i="1" dirty="0">
                <a:latin typeface="Arial (Body)"/>
              </a:rPr>
              <a:t>N </a:t>
            </a:r>
            <a:r>
              <a:rPr lang="en-US" sz="1400" dirty="0">
                <a:latin typeface="Arial (Body)"/>
              </a:rPr>
              <a:t>years, the stock of pollutant will be</a:t>
            </a:r>
            <a:r>
              <a:rPr lang="en-US" sz="1400" dirty="0" smtClean="0">
                <a:latin typeface="Arial (Body)"/>
              </a:rPr>
              <a:t>:</a:t>
            </a:r>
            <a:endParaRPr lang="en-US" sz="1400" dirty="0">
              <a:latin typeface="Arial (Body)"/>
            </a:endParaRPr>
          </a:p>
        </p:txBody>
      </p:sp>
      <p:graphicFrame>
        <p:nvGraphicFramePr>
          <p:cNvPr id="11" name="Object 10" descr="S N is equal to E multiplied by, 1 plus, one minus delta, plus, one minus delta whole square, plus, etc., plus, one minus delta to the power of N minus 1."/>
          <p:cNvGraphicFramePr>
            <a:graphicFrameLocks noChangeAspect="1"/>
          </p:cNvGraphicFramePr>
          <p:nvPr>
            <p:extLst>
              <p:ext uri="{D42A27DB-BD31-4B8C-83A1-F6EECF244321}">
                <p14:modId xmlns:p14="http://schemas.microsoft.com/office/powerpoint/2010/main" val="3466082396"/>
              </p:ext>
            </p:extLst>
          </p:nvPr>
        </p:nvGraphicFramePr>
        <p:xfrm>
          <a:off x="3003550" y="5181600"/>
          <a:ext cx="3136900" cy="292100"/>
        </p:xfrm>
        <a:graphic>
          <a:graphicData uri="http://schemas.openxmlformats.org/presentationml/2006/ole">
            <mc:AlternateContent xmlns:mc="http://schemas.openxmlformats.org/markup-compatibility/2006">
              <mc:Choice xmlns:v="urn:schemas-microsoft-com:vml" Requires="v">
                <p:oleObj spid="_x0000_s1231" name="Equation" r:id="rId10" imgW="3136680" imgH="291960" progId="Equation.3">
                  <p:embed/>
                </p:oleObj>
              </mc:Choice>
              <mc:Fallback>
                <p:oleObj name="Equation" r:id="rId10" imgW="3136680" imgH="291960" progId="Equation.3">
                  <p:embed/>
                  <p:pic>
                    <p:nvPicPr>
                      <p:cNvPr id="0" name=""/>
                      <p:cNvPicPr/>
                      <p:nvPr/>
                    </p:nvPicPr>
                    <p:blipFill>
                      <a:blip r:embed="rId11"/>
                      <a:stretch>
                        <a:fillRect/>
                      </a:stretch>
                    </p:blipFill>
                    <p:spPr>
                      <a:xfrm>
                        <a:off x="3003550" y="5181600"/>
                        <a:ext cx="3136900" cy="292100"/>
                      </a:xfrm>
                      <a:prstGeom prst="rect">
                        <a:avLst/>
                      </a:prstGeom>
                    </p:spPr>
                  </p:pic>
                </p:oleObj>
              </mc:Fallback>
            </mc:AlternateContent>
          </a:graphicData>
        </a:graphic>
      </p:graphicFrame>
      <p:sp>
        <p:nvSpPr>
          <p:cNvPr id="7" name="Content Placeholder 6"/>
          <p:cNvSpPr>
            <a:spLocks noGrp="1"/>
          </p:cNvSpPr>
          <p:nvPr>
            <p:ph sz="quarter" idx="16"/>
          </p:nvPr>
        </p:nvSpPr>
        <p:spPr>
          <a:xfrm>
            <a:off x="457200" y="5676900"/>
            <a:ext cx="8229600" cy="246221"/>
          </a:xfrm>
        </p:spPr>
        <p:txBody>
          <a:bodyPr>
            <a:spAutoFit/>
          </a:bodyPr>
          <a:lstStyle/>
          <a:p>
            <a:pPr marL="0" lvl="0" indent="0">
              <a:buNone/>
            </a:pPr>
            <a:r>
              <a:rPr lang="en-US" dirty="0">
                <a:latin typeface="Arial (Body)"/>
              </a:rPr>
              <a:t>As </a:t>
            </a:r>
            <a:r>
              <a:rPr lang="en-US" i="1" dirty="0">
                <a:latin typeface="Arial (Body)"/>
              </a:rPr>
              <a:t>N </a:t>
            </a:r>
            <a:r>
              <a:rPr lang="en-US" dirty="0">
                <a:latin typeface="Arial (Body)"/>
              </a:rPr>
              <a:t>becomes infinitely large, the stock will approach the long-run equilibrium level </a:t>
            </a:r>
            <a:r>
              <a:rPr lang="en-US" i="1" dirty="0">
                <a:latin typeface="Arial (Body)"/>
              </a:rPr>
              <a:t>E/</a:t>
            </a:r>
            <a:r>
              <a:rPr lang="en-US" dirty="0">
                <a:latin typeface="Arial (Body)"/>
                <a:sym typeface="Symbol"/>
              </a:rPr>
              <a:t></a:t>
            </a:r>
            <a:r>
              <a:rPr lang="en-US" i="1" dirty="0" smtClean="0">
                <a:latin typeface="Arial (Body)"/>
              </a:rPr>
              <a:t>.</a:t>
            </a:r>
            <a:endParaRPr lang="en-US" dirty="0">
              <a:latin typeface="Arial (Body)"/>
            </a:endParaRPr>
          </a:p>
        </p:txBody>
      </p:sp>
    </p:spTree>
    <p:extLst>
      <p:ext uri="{BB962C8B-B14F-4D97-AF65-F5344CB8AC3E}">
        <p14:creationId xmlns:p14="http://schemas.microsoft.com/office/powerpoint/2010/main" val="6663620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3894"/>
            <a:ext cx="8229600" cy="523220"/>
          </a:xfrm>
        </p:spPr>
        <p:txBody>
          <a:bodyPr vert="horz" lIns="0" tIns="0" rIns="0" bIns="0" rtlCol="0" anchor="b">
            <a:spAutoFit/>
          </a:bodyPr>
          <a:lstStyle/>
          <a:p>
            <a:r>
              <a:rPr lang="en-US" dirty="0"/>
              <a:t>18.3 Stock Externalities (1 of 3)</a:t>
            </a:r>
          </a:p>
        </p:txBody>
      </p:sp>
      <p:sp>
        <p:nvSpPr>
          <p:cNvPr id="10" name="Text Placeholder 9"/>
          <p:cNvSpPr>
            <a:spLocks noGrp="1"/>
          </p:cNvSpPr>
          <p:nvPr>
            <p:ph type="body" sz="quarter" idx="13"/>
          </p:nvPr>
        </p:nvSpPr>
        <p:spPr>
          <a:xfrm>
            <a:off x="457200" y="1346859"/>
            <a:ext cx="8229600" cy="246221"/>
          </a:xfrm>
        </p:spPr>
        <p:txBody>
          <a:bodyPr vert="horz" lIns="0" tIns="0" rIns="0" bIns="0" rtlCol="0">
            <a:spAutoFit/>
          </a:bodyPr>
          <a:lstStyle/>
          <a:p>
            <a:r>
              <a:rPr lang="en-US" dirty="0"/>
              <a:t>NUMERICAL EXAMPLE</a:t>
            </a:r>
          </a:p>
        </p:txBody>
      </p:sp>
      <p:sp>
        <p:nvSpPr>
          <p:cNvPr id="12" name="Content Placeholder 11"/>
          <p:cNvSpPr>
            <a:spLocks noGrp="1"/>
          </p:cNvSpPr>
          <p:nvPr>
            <p:ph sz="quarter" idx="14"/>
          </p:nvPr>
        </p:nvSpPr>
        <p:spPr>
          <a:xfrm>
            <a:off x="457200" y="1672552"/>
            <a:ext cx="4724400" cy="261023"/>
          </a:xfrm>
        </p:spPr>
        <p:txBody>
          <a:bodyPr/>
          <a:lstStyle/>
          <a:p>
            <a:pPr marL="0" indent="0">
              <a:buNone/>
            </a:pPr>
            <a:r>
              <a:rPr lang="en-US" b="1" dirty="0">
                <a:solidFill>
                  <a:prstClr val="black"/>
                </a:solidFill>
                <a:latin typeface="Arial (Body)"/>
              </a:rPr>
              <a:t>TABLE 18.1: BUILDUP IN THE STOCK </a:t>
            </a:r>
            <a:r>
              <a:rPr lang="en-US" b="1" dirty="0" smtClean="0">
                <a:solidFill>
                  <a:prstClr val="black"/>
                </a:solidFill>
                <a:latin typeface="Arial (Body)"/>
              </a:rPr>
              <a:t>POLLUTANT</a:t>
            </a:r>
            <a:endParaRPr lang="en-US" b="1" dirty="0">
              <a:solidFill>
                <a:prstClr val="black"/>
              </a:solidFill>
              <a:latin typeface="Arial (Body)"/>
            </a:endParaRPr>
          </a:p>
        </p:txBody>
      </p:sp>
      <p:graphicFrame>
        <p:nvGraphicFramePr>
          <p:cNvPr id="15" name="Table Placeholder 10"/>
          <p:cNvGraphicFramePr>
            <a:graphicFrameLocks noGrp="1"/>
          </p:cNvGraphicFramePr>
          <p:nvPr>
            <p:ph type="tbl" sz="quarter" idx="17"/>
            <p:extLst>
              <p:ext uri="{D42A27DB-BD31-4B8C-83A1-F6EECF244321}">
                <p14:modId xmlns:p14="http://schemas.microsoft.com/office/powerpoint/2010/main" val="62144157"/>
              </p:ext>
            </p:extLst>
          </p:nvPr>
        </p:nvGraphicFramePr>
        <p:xfrm>
          <a:off x="771525" y="2295525"/>
          <a:ext cx="7239000" cy="1661793"/>
        </p:xfrm>
        <a:graphic>
          <a:graphicData uri="http://schemas.openxmlformats.org/drawingml/2006/table">
            <a:tbl>
              <a:tblPr firstRow="1" bandRow="1">
                <a:tableStyleId>{5C22544A-7EE6-4342-B048-85BDC9FD1C3A}</a:tableStyleId>
              </a:tblPr>
              <a:tblGrid>
                <a:gridCol w="1069398">
                  <a:extLst>
                    <a:ext uri="{9D8B030D-6E8A-4147-A177-3AD203B41FA5}">
                      <a16:colId xmlns:mc="http://schemas.openxmlformats.org/markup-compatibility/2006" xmlns:a14="http://schemas.microsoft.com/office/drawing/2010/main" xmlns:a16="http://schemas.microsoft.com/office/drawing/2014/main" xmlns="" val="20000"/>
                    </a:ext>
                  </a:extLst>
                </a:gridCol>
                <a:gridCol w="1233921">
                  <a:extLst>
                    <a:ext uri="{9D8B030D-6E8A-4147-A177-3AD203B41FA5}">
                      <a16:colId xmlns:mc="http://schemas.openxmlformats.org/markup-compatibility/2006" xmlns:a14="http://schemas.microsoft.com/office/drawing/2010/main" xmlns:a16="http://schemas.microsoft.com/office/drawing/2014/main" xmlns="" val="20001"/>
                    </a:ext>
                  </a:extLst>
                </a:gridCol>
                <a:gridCol w="799110">
                  <a:extLst>
                    <a:ext uri="{9D8B030D-6E8A-4147-A177-3AD203B41FA5}">
                      <a16:colId xmlns:mc="http://schemas.openxmlformats.org/markup-compatibility/2006" xmlns:a14="http://schemas.microsoft.com/office/drawing/2010/main" xmlns:a16="http://schemas.microsoft.com/office/drawing/2014/main" xmlns="" val="20003"/>
                    </a:ext>
                  </a:extLst>
                </a:gridCol>
                <a:gridCol w="1431890">
                  <a:extLst>
                    <a:ext uri="{9D8B030D-6E8A-4147-A177-3AD203B41FA5}">
                      <a16:colId xmlns:mc="http://schemas.openxmlformats.org/markup-compatibility/2006" xmlns:a14="http://schemas.microsoft.com/office/drawing/2010/main" xmlns:a16="http://schemas.microsoft.com/office/drawing/2014/main" xmlns="" val="20004"/>
                    </a:ext>
                  </a:extLst>
                </a:gridCol>
                <a:gridCol w="1470760">
                  <a:extLst>
                    <a:ext uri="{9D8B030D-6E8A-4147-A177-3AD203B41FA5}">
                      <a16:colId xmlns:mc="http://schemas.openxmlformats.org/markup-compatibility/2006" xmlns:a14="http://schemas.microsoft.com/office/drawing/2010/main" xmlns:a16="http://schemas.microsoft.com/office/drawing/2014/main" xmlns="" val="20005"/>
                    </a:ext>
                  </a:extLst>
                </a:gridCol>
                <a:gridCol w="1233921">
                  <a:extLst>
                    <a:ext uri="{9D8B030D-6E8A-4147-A177-3AD203B41FA5}">
                      <a16:colId xmlns:mc="http://schemas.openxmlformats.org/markup-compatibility/2006" xmlns:a14="http://schemas.microsoft.com/office/drawing/2010/main" xmlns:a16="http://schemas.microsoft.com/office/drawing/2014/main" xmlns="" val="20006"/>
                    </a:ext>
                  </a:extLst>
                </a:gridCol>
              </a:tblGrid>
              <a:tr h="369786">
                <a:tc>
                  <a:txBody>
                    <a:bodyPr/>
                    <a:lstStyle/>
                    <a:p>
                      <a:pPr algn="ctr"/>
                      <a:r>
                        <a:rPr lang="en-US" sz="1100" b="1" dirty="0">
                          <a:solidFill>
                            <a:schemeClr val="tx1"/>
                          </a:solidFill>
                          <a:latin typeface="+mn-lt"/>
                        </a:rPr>
                        <a:t>YEAR</a:t>
                      </a:r>
                    </a:p>
                  </a:txBody>
                  <a:tcPr marL="68059" marR="68059" marT="34024" marB="34024" anchor="ctr">
                    <a:lnL w="19050" cap="flat" cmpd="sng" algn="ctr">
                      <a:solidFill>
                        <a:srgbClr val="369047"/>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lnTlToBr w="12700" cmpd="sng">
                      <a:noFill/>
                      <a:prstDash val="solid"/>
                    </a:lnTlToBr>
                    <a:lnBlToTr w="12700" cmpd="sng">
                      <a:noFill/>
                      <a:prstDash val="solid"/>
                    </a:lnBlToTr>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1" dirty="0">
                          <a:solidFill>
                            <a:schemeClr val="tx1"/>
                          </a:solidFill>
                          <a:latin typeface="+mn-lt"/>
                        </a:rPr>
                        <a:t>E</a:t>
                      </a:r>
                    </a:p>
                  </a:txBody>
                  <a:tcPr marL="68059" marR="68059" marT="34024" marB="34024"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algn="ctr"/>
                      <a:r>
                        <a:rPr lang="en-US" sz="1100" b="1" i="1" dirty="0">
                          <a:solidFill>
                            <a:schemeClr val="tx1"/>
                          </a:solidFill>
                          <a:latin typeface="+mn-lt"/>
                        </a:rPr>
                        <a:t>S</a:t>
                      </a:r>
                      <a:r>
                        <a:rPr lang="en-US" sz="1100" b="1" i="1" baseline="-25000" dirty="0">
                          <a:solidFill>
                            <a:schemeClr val="tx1"/>
                          </a:solidFill>
                          <a:latin typeface="+mn-lt"/>
                        </a:rPr>
                        <a:t>t</a:t>
                      </a:r>
                    </a:p>
                  </a:txBody>
                  <a:tcPr marL="68059" marR="68059" marT="34024" marB="34024"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mn-lt"/>
                        </a:rPr>
                        <a:t>DAMAGE</a:t>
                      </a:r>
                      <a:r>
                        <a:rPr lang="en-US" sz="1100" b="1" baseline="0" dirty="0">
                          <a:solidFill>
                            <a:schemeClr val="tx1"/>
                          </a:solidFill>
                          <a:latin typeface="+mn-lt"/>
                        </a:rPr>
                        <a:t> </a:t>
                      </a:r>
                      <a:br>
                        <a:rPr lang="en-US" sz="1100" b="1" baseline="0" dirty="0">
                          <a:solidFill>
                            <a:schemeClr val="tx1"/>
                          </a:solidFill>
                          <a:latin typeface="+mn-lt"/>
                        </a:rPr>
                      </a:br>
                      <a:r>
                        <a:rPr lang="en-US" sz="1100" b="1" baseline="0" dirty="0">
                          <a:solidFill>
                            <a:schemeClr val="tx1"/>
                          </a:solidFill>
                          <a:latin typeface="+mn-lt"/>
                        </a:rPr>
                        <a:t>($ BILLION)</a:t>
                      </a:r>
                      <a:endParaRPr lang="en-US" sz="1100" b="1" dirty="0">
                        <a:solidFill>
                          <a:schemeClr val="tx1"/>
                        </a:solidFill>
                        <a:latin typeface="+mn-lt"/>
                      </a:endParaRPr>
                    </a:p>
                  </a:txBody>
                  <a:tcPr marL="68059" marR="68059" marT="34024" marB="34024"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algn="ctr"/>
                      <a:r>
                        <a:rPr lang="en-US" sz="1100" b="1" dirty="0">
                          <a:solidFill>
                            <a:schemeClr val="tx1"/>
                          </a:solidFill>
                          <a:latin typeface="+mn-lt"/>
                        </a:rPr>
                        <a:t>Cost</a:t>
                      </a:r>
                      <a:r>
                        <a:rPr lang="en-US" sz="1100" b="1" baseline="0" dirty="0">
                          <a:solidFill>
                            <a:schemeClr val="tx1"/>
                          </a:solidFill>
                          <a:latin typeface="+mn-lt"/>
                        </a:rPr>
                        <a:t> of E = 0 </a:t>
                      </a:r>
                      <a:br>
                        <a:rPr lang="en-US" sz="1100" b="1" baseline="0" dirty="0">
                          <a:solidFill>
                            <a:schemeClr val="tx1"/>
                          </a:solidFill>
                          <a:latin typeface="+mn-lt"/>
                        </a:rPr>
                      </a:br>
                      <a:r>
                        <a:rPr lang="en-US" sz="1100" b="1" baseline="0" dirty="0">
                          <a:solidFill>
                            <a:schemeClr val="tx1"/>
                          </a:solidFill>
                          <a:latin typeface="+mn-lt"/>
                        </a:rPr>
                        <a:t>($ BILLION)</a:t>
                      </a:r>
                      <a:endParaRPr lang="en-US" sz="1100" b="1" dirty="0">
                        <a:solidFill>
                          <a:schemeClr val="tx1"/>
                        </a:solidFill>
                        <a:latin typeface="+mn-lt"/>
                      </a:endParaRPr>
                    </a:p>
                  </a:txBody>
                  <a:tcPr marL="68059" marR="68059" marT="34024" marB="34024"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algn="ctr"/>
                      <a:r>
                        <a:rPr lang="en-US" sz="1100" b="1" dirty="0">
                          <a:solidFill>
                            <a:schemeClr val="tx1"/>
                          </a:solidFill>
                          <a:latin typeface="+mn-lt"/>
                        </a:rPr>
                        <a:t>NET BENEFIT</a:t>
                      </a:r>
                      <a:br>
                        <a:rPr lang="en-US" sz="1100" b="1" dirty="0">
                          <a:solidFill>
                            <a:schemeClr val="tx1"/>
                          </a:solidFill>
                          <a:latin typeface="+mn-lt"/>
                        </a:rPr>
                      </a:br>
                      <a:r>
                        <a:rPr lang="en-US" sz="1100" b="1" dirty="0">
                          <a:solidFill>
                            <a:schemeClr val="tx1"/>
                          </a:solidFill>
                          <a:latin typeface="+mn-lt"/>
                        </a:rPr>
                        <a:t>($ BILLION)</a:t>
                      </a:r>
                    </a:p>
                  </a:txBody>
                  <a:tcPr marL="68059" marR="68059" marT="34024" marB="34024" anchor="ctr">
                    <a:lnL w="19050" cap="flat" cmpd="sng" algn="ctr">
                      <a:solidFill>
                        <a:srgbClr val="C5ECB9"/>
                      </a:solidFill>
                      <a:prstDash val="solid"/>
                      <a:round/>
                      <a:headEnd type="none" w="med" len="med"/>
                      <a:tailEnd type="none" w="med" len="med"/>
                    </a:lnL>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extLst>
                  <a:ext uri="{0D108BD9-81ED-4DB2-BD59-A6C34878D82A}">
                    <a16:rowId xmlns:mc="http://schemas.openxmlformats.org/markup-compatibility/2006" xmlns:a14="http://schemas.microsoft.com/office/drawing/2010/main" xmlns:a16="http://schemas.microsoft.com/office/drawing/2014/main" xmlns="" val="10001"/>
                  </a:ext>
                </a:extLst>
              </a:tr>
              <a:tr h="251693">
                <a:tc>
                  <a:txBody>
                    <a:bodyPr/>
                    <a:lstStyle/>
                    <a:p>
                      <a:pPr algn="ctr"/>
                      <a:r>
                        <a:rPr lang="en-US" sz="1100" dirty="0">
                          <a:solidFill>
                            <a:schemeClr val="tx1"/>
                          </a:solidFill>
                          <a:latin typeface="+mn-lt"/>
                        </a:rPr>
                        <a:t>2010</a:t>
                      </a: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0.100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1.5</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 1.400</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2"/>
                  </a:ext>
                </a:extLst>
              </a:tr>
              <a:tr h="251693">
                <a:tc>
                  <a:txBody>
                    <a:bodyPr/>
                    <a:lstStyle/>
                    <a:p>
                      <a:pPr algn="ctr"/>
                      <a:r>
                        <a:rPr lang="en-US" sz="1100" dirty="0">
                          <a:solidFill>
                            <a:schemeClr val="tx1"/>
                          </a:solidFill>
                          <a:latin typeface="+mn-lt"/>
                        </a:rPr>
                        <a:t>2011</a:t>
                      </a: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198</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0.198</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i="0" u="none" strike="noStrike" kern="1200" baseline="0" dirty="0">
                          <a:solidFill>
                            <a:schemeClr val="tx1"/>
                          </a:solidFill>
                          <a:latin typeface="+mn-lt"/>
                          <a:ea typeface="+mn-ea"/>
                          <a:cs typeface="+mn-cs"/>
                        </a:rPr>
                        <a:t>—</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–1 .302</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3"/>
                  </a:ext>
                </a:extLst>
              </a:tr>
              <a:tr h="251693">
                <a:tc>
                  <a:txBody>
                    <a:bodyPr/>
                    <a:lstStyle/>
                    <a:p>
                      <a:pPr algn="ctr"/>
                      <a:r>
                        <a:rPr lang="en-US" sz="1100" dirty="0">
                          <a:solidFill>
                            <a:schemeClr val="tx1"/>
                          </a:solidFill>
                          <a:latin typeface="+mn-lt"/>
                        </a:rPr>
                        <a:t>2012</a:t>
                      </a: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296</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0.296</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50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–1 .204</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4"/>
                  </a:ext>
                </a:extLst>
              </a:tr>
              <a:tr h="251693">
                <a:tc>
                  <a:txBody>
                    <a:bodyPr/>
                    <a:lstStyle/>
                    <a:p>
                      <a:pPr algn="ctr"/>
                      <a:r>
                        <a:rPr lang="en-US" sz="1100" dirty="0">
                          <a:solidFill>
                            <a:schemeClr val="tx1"/>
                          </a:solidFill>
                          <a:latin typeface="+mn-lt"/>
                        </a:rPr>
                        <a:t>2110</a:t>
                      </a: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4.337</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4.337</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20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2.837</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6"/>
                  </a:ext>
                </a:extLst>
              </a:tr>
              <a:tr h="251693">
                <a:tc>
                  <a:txBody>
                    <a:bodyPr/>
                    <a:lstStyle/>
                    <a:p>
                      <a:pPr algn="ctr"/>
                      <a:r>
                        <a:rPr lang="en-US" sz="1100" dirty="0" smtClean="0">
                          <a:solidFill>
                            <a:schemeClr val="tx1"/>
                          </a:solidFill>
                          <a:latin typeface="+mn-lt"/>
                        </a:rPr>
                        <a:t>Blank Cell</a:t>
                      </a:r>
                      <a:endParaRPr lang="en-US" sz="110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5,000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5.000</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1.5</a:t>
                      </a: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3.500</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8"/>
                  </a:ext>
                </a:extLst>
              </a:tr>
            </a:tbl>
          </a:graphicData>
        </a:graphic>
      </p:graphicFrame>
      <p:sp>
        <p:nvSpPr>
          <p:cNvPr id="14" name="Content Placeholder 13"/>
          <p:cNvSpPr>
            <a:spLocks noGrp="1"/>
          </p:cNvSpPr>
          <p:nvPr>
            <p:ph sz="quarter" idx="18"/>
          </p:nvPr>
        </p:nvSpPr>
        <p:spPr>
          <a:xfrm>
            <a:off x="457200" y="4371975"/>
            <a:ext cx="8229600" cy="762000"/>
          </a:xfrm>
        </p:spPr>
        <p:txBody>
          <a:bodyPr/>
          <a:lstStyle/>
          <a:p>
            <a:pPr marL="0" lvl="0" indent="0">
              <a:buNone/>
            </a:pPr>
            <a:r>
              <a:rPr lang="en-US" dirty="0">
                <a:solidFill>
                  <a:prstClr val="black"/>
                </a:solidFill>
                <a:latin typeface="Arial (Body)"/>
              </a:rPr>
              <a:t>To determine whether a policy of zero emissions makes sense, we must calculate the NPV, or the present discounted value of the annual net benefits. Denoting the discount rate by </a:t>
            </a:r>
            <a:r>
              <a:rPr lang="en-US" i="1" dirty="0">
                <a:solidFill>
                  <a:prstClr val="black"/>
                </a:solidFill>
                <a:latin typeface="Arial (Body)"/>
              </a:rPr>
              <a:t>R</a:t>
            </a:r>
            <a:r>
              <a:rPr lang="en-US" dirty="0">
                <a:solidFill>
                  <a:prstClr val="black"/>
                </a:solidFill>
                <a:latin typeface="Arial (Body)"/>
              </a:rPr>
              <a:t>, the NPV is</a:t>
            </a:r>
            <a:r>
              <a:rPr lang="en-US" dirty="0" smtClean="0">
                <a:solidFill>
                  <a:prstClr val="black"/>
                </a:solidFill>
                <a:latin typeface="Arial (Body)"/>
              </a:rPr>
              <a:t>:</a:t>
            </a:r>
            <a:endParaRPr lang="en-US" dirty="0">
              <a:solidFill>
                <a:prstClr val="black"/>
              </a:solidFill>
              <a:latin typeface="Arial (Body)"/>
            </a:endParaRPr>
          </a:p>
        </p:txBody>
      </p:sp>
      <p:graphicFrame>
        <p:nvGraphicFramePr>
          <p:cNvPr id="16" name="Object 15" descr="N P V is equal to negative 1.5 plus 0.198 divided by 1 plus R, plus, negative 1.5 plus 0.296 divided by 1 plus whole square, plus, etc., plus, negative 1.5 plus 4.337 divided by one plus R to the power of 99."/>
          <p:cNvGraphicFramePr>
            <a:graphicFrameLocks noChangeAspect="1"/>
          </p:cNvGraphicFramePr>
          <p:nvPr>
            <p:extLst>
              <p:ext uri="{D42A27DB-BD31-4B8C-83A1-F6EECF244321}">
                <p14:modId xmlns:p14="http://schemas.microsoft.com/office/powerpoint/2010/main" val="1152656595"/>
              </p:ext>
            </p:extLst>
          </p:nvPr>
        </p:nvGraphicFramePr>
        <p:xfrm>
          <a:off x="2432050" y="5334000"/>
          <a:ext cx="4660900" cy="546100"/>
        </p:xfrm>
        <a:graphic>
          <a:graphicData uri="http://schemas.openxmlformats.org/presentationml/2006/ole">
            <mc:AlternateContent xmlns:mc="http://schemas.openxmlformats.org/markup-compatibility/2006">
              <mc:Choice xmlns:v="urn:schemas-microsoft-com:vml" Requires="v">
                <p:oleObj spid="_x0000_s3087" name="Equation" r:id="rId4" imgW="4660560" imgH="545760" progId="Equation.3">
                  <p:embed/>
                </p:oleObj>
              </mc:Choice>
              <mc:Fallback>
                <p:oleObj name="Equation" r:id="rId4" imgW="4660560" imgH="545760" progId="Equation.3">
                  <p:embed/>
                  <p:pic>
                    <p:nvPicPr>
                      <p:cNvPr id="0" name="Object 2" descr="N P V is equal to negative 1.5 plus 0.198 divided by 1 plus R, plus, negative 1.5 plus 0.296 divided by 1 plus whole square, plus, etc., plus, negative 1.5 plus 4.337 divided by one plus R to the power of 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2050" y="5334000"/>
                        <a:ext cx="46609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184421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924"/>
            <a:ext cx="8229600" cy="461665"/>
          </a:xfrm>
        </p:spPr>
        <p:txBody>
          <a:bodyPr vert="horz" lIns="0" tIns="0" rIns="0" bIns="0" rtlCol="0" anchor="b">
            <a:spAutoFit/>
          </a:bodyPr>
          <a:lstStyle/>
          <a:p>
            <a:r>
              <a:rPr lang="en-US" sz="3000" dirty="0"/>
              <a:t>18.3 Stock Externalities (2 of 3)</a:t>
            </a:r>
          </a:p>
        </p:txBody>
      </p:sp>
      <p:sp>
        <p:nvSpPr>
          <p:cNvPr id="7" name="Text Placeholder 6"/>
          <p:cNvSpPr>
            <a:spLocks noGrp="1"/>
          </p:cNvSpPr>
          <p:nvPr>
            <p:ph type="body" sz="quarter" idx="13"/>
          </p:nvPr>
        </p:nvSpPr>
        <p:spPr>
          <a:xfrm>
            <a:off x="457200" y="1346859"/>
            <a:ext cx="8229600" cy="246221"/>
          </a:xfrm>
        </p:spPr>
        <p:txBody>
          <a:bodyPr vert="horz" lIns="0" tIns="0" rIns="0" bIns="0" rtlCol="0">
            <a:spAutoFit/>
          </a:bodyPr>
          <a:lstStyle/>
          <a:p>
            <a:r>
              <a:rPr lang="en-US" dirty="0"/>
              <a:t>NUMERICAL EXAMPLE</a:t>
            </a:r>
          </a:p>
        </p:txBody>
      </p:sp>
      <p:sp>
        <p:nvSpPr>
          <p:cNvPr id="9" name="Content Placeholder 8"/>
          <p:cNvSpPr>
            <a:spLocks noGrp="1"/>
          </p:cNvSpPr>
          <p:nvPr>
            <p:ph sz="quarter" idx="14"/>
          </p:nvPr>
        </p:nvSpPr>
        <p:spPr>
          <a:xfrm>
            <a:off x="533400" y="1762125"/>
            <a:ext cx="4876800" cy="270548"/>
          </a:xfrm>
        </p:spPr>
        <p:txBody>
          <a:bodyPr/>
          <a:lstStyle/>
          <a:p>
            <a:pPr marL="0" indent="0">
              <a:buNone/>
            </a:pPr>
            <a:r>
              <a:rPr lang="en-US" b="1" dirty="0"/>
              <a:t>TABLE </a:t>
            </a:r>
            <a:r>
              <a:rPr lang="en-US" b="1" dirty="0" smtClean="0"/>
              <a:t>18.2 </a:t>
            </a:r>
            <a:r>
              <a:rPr lang="en-US" b="1" dirty="0"/>
              <a:t>NPV OF “ZERO EMISSIONS” </a:t>
            </a:r>
            <a:r>
              <a:rPr lang="en-US" b="1" dirty="0" smtClean="0"/>
              <a:t>POLICY</a:t>
            </a:r>
            <a:r>
              <a:rPr lang="en-IN" b="1" dirty="0" smtClean="0"/>
              <a:t> </a:t>
            </a:r>
            <a:endParaRPr lang="en-US" b="1" dirty="0"/>
          </a:p>
        </p:txBody>
      </p:sp>
      <p:graphicFrame>
        <p:nvGraphicFramePr>
          <p:cNvPr id="15" name="Table Placeholder 10"/>
          <p:cNvGraphicFramePr>
            <a:graphicFrameLocks noGrp="1"/>
          </p:cNvGraphicFramePr>
          <p:nvPr>
            <p:ph type="tbl" sz="quarter" idx="17"/>
            <p:extLst>
              <p:ext uri="{D42A27DB-BD31-4B8C-83A1-F6EECF244321}">
                <p14:modId xmlns:p14="http://schemas.microsoft.com/office/powerpoint/2010/main" val="3587378716"/>
              </p:ext>
            </p:extLst>
          </p:nvPr>
        </p:nvGraphicFramePr>
        <p:xfrm>
          <a:off x="533400" y="2038350"/>
          <a:ext cx="7391400" cy="1865005"/>
        </p:xfrm>
        <a:graphic>
          <a:graphicData uri="http://schemas.openxmlformats.org/drawingml/2006/table">
            <a:tbl>
              <a:tblPr firstRow="1" bandRow="1">
                <a:tableStyleId>{5C22544A-7EE6-4342-B048-85BDC9FD1C3A}</a:tableStyleId>
              </a:tblPr>
              <a:tblGrid>
                <a:gridCol w="914400">
                  <a:extLst>
                    <a:ext uri="{9D8B030D-6E8A-4147-A177-3AD203B41FA5}">
                      <a16:colId xmlns:mc="http://schemas.openxmlformats.org/markup-compatibility/2006" xmlns:a14="http://schemas.microsoft.com/office/drawing/2010/main" xmlns:a16="http://schemas.microsoft.com/office/drawing/2014/main" xmlns="" val="20000"/>
                    </a:ext>
                  </a:extLst>
                </a:gridCol>
                <a:gridCol w="1066800">
                  <a:extLst>
                    <a:ext uri="{9D8B030D-6E8A-4147-A177-3AD203B41FA5}">
                      <a16:colId xmlns:mc="http://schemas.openxmlformats.org/markup-compatibility/2006" xmlns:a14="http://schemas.microsoft.com/office/drawing/2010/main" xmlns:a16="http://schemas.microsoft.com/office/drawing/2014/main" xmlns="" val="20001"/>
                    </a:ext>
                  </a:extLst>
                </a:gridCol>
                <a:gridCol w="914400">
                  <a:extLst>
                    <a:ext uri="{9D8B030D-6E8A-4147-A177-3AD203B41FA5}">
                      <a16:colId xmlns:mc="http://schemas.openxmlformats.org/markup-compatibility/2006" xmlns:a14="http://schemas.microsoft.com/office/drawing/2010/main" xmlns:a16="http://schemas.microsoft.com/office/drawing/2014/main" xmlns="" val="20003"/>
                    </a:ext>
                  </a:extLst>
                </a:gridCol>
                <a:gridCol w="1066800">
                  <a:extLst>
                    <a:ext uri="{9D8B030D-6E8A-4147-A177-3AD203B41FA5}">
                      <a16:colId xmlns:mc="http://schemas.openxmlformats.org/markup-compatibility/2006" xmlns:a14="http://schemas.microsoft.com/office/drawing/2010/main" xmlns:a16="http://schemas.microsoft.com/office/drawing/2014/main" xmlns="" val="20004"/>
                    </a:ext>
                  </a:extLst>
                </a:gridCol>
                <a:gridCol w="990600">
                  <a:extLst>
                    <a:ext uri="{9D8B030D-6E8A-4147-A177-3AD203B41FA5}">
                      <a16:colId xmlns:mc="http://schemas.openxmlformats.org/markup-compatibility/2006" xmlns:a14="http://schemas.microsoft.com/office/drawing/2010/main" xmlns:a16="http://schemas.microsoft.com/office/drawing/2014/main" xmlns="" val="20005"/>
                    </a:ext>
                  </a:extLst>
                </a:gridCol>
                <a:gridCol w="1219200">
                  <a:extLst>
                    <a:ext uri="{9D8B030D-6E8A-4147-A177-3AD203B41FA5}">
                      <a16:colId xmlns:mc="http://schemas.openxmlformats.org/markup-compatibility/2006" xmlns:a14="http://schemas.microsoft.com/office/drawing/2010/main" xmlns:a16="http://schemas.microsoft.com/office/drawing/2014/main" xmlns="" val="20006"/>
                    </a:ext>
                  </a:extLst>
                </a:gridCol>
                <a:gridCol w="1219200"/>
              </a:tblGrid>
              <a:tr h="251693">
                <a:tc>
                  <a:txBody>
                    <a:bodyPr/>
                    <a:lstStyle/>
                    <a:p>
                      <a:pPr algn="ctr"/>
                      <a:r>
                        <a:rPr lang="en-US" sz="1100" dirty="0" smtClean="0">
                          <a:solidFill>
                            <a:schemeClr val="tx1"/>
                          </a:solidFill>
                          <a:latin typeface="+mn-lt"/>
                        </a:rPr>
                        <a:t>Blank Cell</a:t>
                      </a:r>
                      <a:endParaRPr lang="en-US" sz="110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smtClean="0">
                          <a:solidFill>
                            <a:schemeClr val="tx1"/>
                          </a:solidFill>
                          <a:latin typeface="+mn-lt"/>
                        </a:rPr>
                        <a:t>Blank Cell</a:t>
                      </a:r>
                      <a:endParaRPr lang="en-US" sz="1100" b="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Discount Rate, </a:t>
                      </a:r>
                      <a:r>
                        <a:rPr lang="en-US" sz="1100" b="1" i="1" dirty="0" smtClean="0">
                          <a:solidFill>
                            <a:schemeClr val="tx1"/>
                          </a:solidFill>
                          <a:latin typeface="+mn-lt"/>
                        </a:rPr>
                        <a:t>R</a:t>
                      </a:r>
                      <a:endParaRPr lang="en-US" sz="1100" b="1" i="1"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Discount Rate, </a:t>
                      </a:r>
                      <a:r>
                        <a:rPr lang="en-US" sz="1100" b="1" i="1" dirty="0" smtClean="0">
                          <a:solidFill>
                            <a:schemeClr val="tx1"/>
                          </a:solidFill>
                          <a:latin typeface="+mn-lt"/>
                        </a:rPr>
                        <a:t>R</a:t>
                      </a:r>
                      <a:endParaRPr lang="en-US" sz="1100" b="1" i="1"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Discount Rate, </a:t>
                      </a:r>
                      <a:r>
                        <a:rPr lang="en-US" sz="1100" b="1" i="1" dirty="0" smtClean="0">
                          <a:solidFill>
                            <a:schemeClr val="tx1"/>
                          </a:solidFill>
                          <a:latin typeface="+mn-lt"/>
                        </a:rPr>
                        <a:t>R</a:t>
                      </a:r>
                      <a:endParaRPr lang="en-US" sz="1100" b="1" i="1"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Discount Rate, </a:t>
                      </a:r>
                      <a:r>
                        <a:rPr lang="en-US" sz="1100" b="1" i="1" dirty="0" smtClean="0">
                          <a:solidFill>
                            <a:schemeClr val="tx1"/>
                          </a:solidFill>
                          <a:latin typeface="+mn-lt"/>
                        </a:rPr>
                        <a:t>R</a:t>
                      </a:r>
                      <a:endParaRPr lang="en-US" sz="1100" b="1" i="1"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Discount Rate, </a:t>
                      </a:r>
                      <a:r>
                        <a:rPr lang="en-US" sz="1100" b="1" i="1" dirty="0" smtClean="0">
                          <a:solidFill>
                            <a:schemeClr val="tx1"/>
                          </a:solidFill>
                          <a:latin typeface="+mn-lt"/>
                        </a:rPr>
                        <a:t>R</a:t>
                      </a: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2"/>
                  </a:ext>
                </a:extLst>
              </a:tr>
              <a:tr h="251693">
                <a:tc>
                  <a:txBody>
                    <a:bodyPr/>
                    <a:lstStyle/>
                    <a:p>
                      <a:pPr algn="ctr"/>
                      <a:r>
                        <a:rPr lang="en-US" sz="1100" b="1" i="0" dirty="0" smtClean="0">
                          <a:solidFill>
                            <a:schemeClr val="tx1"/>
                          </a:solidFill>
                          <a:latin typeface="+mn-lt"/>
                        </a:rPr>
                        <a:t>Blank Cell</a:t>
                      </a:r>
                      <a:endParaRPr lang="en-US" sz="1100" b="1" i="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Blank Cell</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.01</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.02</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i="0" u="none" strike="noStrike" kern="1200" baseline="0" dirty="0" smtClean="0">
                          <a:solidFill>
                            <a:schemeClr val="tx1"/>
                          </a:solidFill>
                          <a:latin typeface="+mn-lt"/>
                          <a:ea typeface="+mn-ea"/>
                          <a:cs typeface="+mn-cs"/>
                        </a:rPr>
                        <a:t>.04</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smtClean="0">
                          <a:solidFill>
                            <a:schemeClr val="tx1"/>
                          </a:solidFill>
                          <a:latin typeface="+mn-lt"/>
                        </a:rPr>
                        <a:t>.06</a:t>
                      </a:r>
                      <a:endParaRPr lang="en-US" sz="1100" b="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smtClean="0">
                          <a:solidFill>
                            <a:schemeClr val="tx1"/>
                          </a:solidFill>
                          <a:latin typeface="+mn-lt"/>
                        </a:rPr>
                        <a:t>.08</a:t>
                      </a:r>
                      <a:endParaRPr lang="en-US" sz="1100" b="0" dirty="0">
                        <a:solidFill>
                          <a:schemeClr val="tx1"/>
                        </a:solidFill>
                        <a:latin typeface="+mn-lt"/>
                      </a:endParaRPr>
                    </a:p>
                  </a:txBody>
                  <a:tcPr marL="68059" marR="68059" marT="34024" marB="34024"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3"/>
                  </a:ext>
                </a:extLst>
              </a:tr>
              <a:tr h="251693">
                <a:tc>
                  <a:txBody>
                    <a:bodyPr/>
                    <a:lstStyle/>
                    <a:p>
                      <a:pPr algn="ctr"/>
                      <a:r>
                        <a:rPr lang="en-US" sz="1100" b="1" i="0" dirty="0" smtClean="0">
                          <a:solidFill>
                            <a:schemeClr val="tx1"/>
                          </a:solidFill>
                          <a:latin typeface="+mn-lt"/>
                        </a:rPr>
                        <a:t>Dissipation Rate, </a:t>
                      </a:r>
                      <a:r>
                        <a:rPr lang="en-US" sz="1100" b="1" i="0" dirty="0" smtClean="0">
                          <a:solidFill>
                            <a:schemeClr val="tx1"/>
                          </a:solidFill>
                          <a:latin typeface="+mn-lt"/>
                          <a:sym typeface="Symbol"/>
                        </a:rPr>
                        <a:t></a:t>
                      </a:r>
                      <a:endParaRPr lang="en-US" sz="1100" b="1" i="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.01</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108.81</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54.07</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12.20</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dirty="0">
                          <a:solidFill>
                            <a:schemeClr val="tx1"/>
                          </a:solidFill>
                          <a:latin typeface="+mn-lt"/>
                        </a:rPr>
                        <a:t>–0.03</a:t>
                      </a:r>
                      <a:r>
                        <a:rPr lang="en-US" sz="1100" b="0" baseline="0" dirty="0">
                          <a:solidFill>
                            <a:schemeClr val="tx1"/>
                          </a:solidFill>
                          <a:latin typeface="+mn-lt"/>
                        </a:rPr>
                        <a:t> </a:t>
                      </a:r>
                      <a:endParaRPr lang="en-US" sz="1100" b="0" dirty="0">
                        <a:solidFill>
                          <a:schemeClr val="tx1"/>
                        </a:solidFill>
                        <a:latin typeface="+mn-lt"/>
                      </a:endParaRP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–4.08</a:t>
                      </a:r>
                      <a:r>
                        <a:rPr lang="en-US" sz="1100" b="0" baseline="0" dirty="0">
                          <a:solidFill>
                            <a:schemeClr val="tx1"/>
                          </a:solidFill>
                          <a:latin typeface="+mn-lt"/>
                        </a:rPr>
                        <a:t> </a:t>
                      </a:r>
                      <a:endParaRPr lang="en-US" sz="1100" b="0" dirty="0">
                        <a:solidFill>
                          <a:schemeClr val="tx1"/>
                        </a:solidFill>
                        <a:latin typeface="+mn-lt"/>
                      </a:endParaRPr>
                    </a:p>
                  </a:txBody>
                  <a:tcPr marT="45711" marB="4571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4"/>
                  </a:ext>
                </a:extLst>
              </a:tr>
              <a:tr h="251693">
                <a:tc>
                  <a:txBody>
                    <a:bodyPr/>
                    <a:lstStyle/>
                    <a:p>
                      <a:pPr algn="ctr"/>
                      <a:r>
                        <a:rPr lang="en-US" sz="1100" b="1" i="0" dirty="0" smtClean="0">
                          <a:solidFill>
                            <a:schemeClr val="tx1"/>
                          </a:solidFill>
                          <a:latin typeface="+mn-lt"/>
                        </a:rPr>
                        <a:t>Dissipation Rate, </a:t>
                      </a:r>
                      <a:r>
                        <a:rPr lang="en-US" sz="1100" b="1" i="0" dirty="0" smtClean="0">
                          <a:solidFill>
                            <a:schemeClr val="tx1"/>
                          </a:solidFill>
                          <a:latin typeface="+mn-lt"/>
                          <a:sym typeface="Symbol"/>
                        </a:rPr>
                        <a:t></a:t>
                      </a:r>
                      <a:endParaRPr lang="en-US" sz="1100" b="1" i="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.02</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65.93</a:t>
                      </a:r>
                    </a:p>
                  </a:txBody>
                  <a:tcPr marL="182880"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31.20</a:t>
                      </a:r>
                    </a:p>
                  </a:txBody>
                  <a:tcPr marL="182880"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4.49</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–3.25</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–5.69</a:t>
                      </a:r>
                    </a:p>
                  </a:txBody>
                  <a:tcPr marT="45711" marB="4571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6"/>
                  </a:ext>
                </a:extLst>
              </a:tr>
              <a:tr h="251693">
                <a:tc>
                  <a:txBody>
                    <a:bodyPr/>
                    <a:lstStyle/>
                    <a:p>
                      <a:pPr algn="ctr"/>
                      <a:r>
                        <a:rPr lang="en-US" sz="1100" b="1" i="0" dirty="0" smtClean="0">
                          <a:solidFill>
                            <a:schemeClr val="tx1"/>
                          </a:solidFill>
                          <a:latin typeface="+mn-lt"/>
                        </a:rPr>
                        <a:t>Dissipation Rate, </a:t>
                      </a:r>
                      <a:r>
                        <a:rPr lang="en-US" sz="1100" b="1" i="0" dirty="0" smtClean="0">
                          <a:solidFill>
                            <a:schemeClr val="tx1"/>
                          </a:solidFill>
                          <a:latin typeface="+mn-lt"/>
                          <a:sym typeface="Symbol"/>
                        </a:rPr>
                        <a:t></a:t>
                      </a:r>
                      <a:endParaRPr lang="en-US" sz="1100" b="1" i="0" dirty="0">
                        <a:solidFill>
                          <a:schemeClr val="tx1"/>
                        </a:solidFill>
                        <a:latin typeface="+mn-lt"/>
                      </a:endParaRPr>
                    </a:p>
                  </a:txBody>
                  <a:tcPr marL="68059" marR="68059" marT="34024" marB="34024"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smtClean="0">
                          <a:solidFill>
                            <a:schemeClr val="tx1"/>
                          </a:solidFill>
                          <a:latin typeface="+mn-lt"/>
                        </a:rPr>
                        <a:t>.04</a:t>
                      </a:r>
                      <a:endParaRPr lang="en-US" sz="1100" dirty="0">
                        <a:solidFill>
                          <a:schemeClr val="tx1"/>
                        </a:solidFill>
                        <a:latin typeface="+mn-lt"/>
                      </a:endParaRPr>
                    </a:p>
                  </a:txBody>
                  <a:tcPr marL="68059" marR="68059" marT="34024" marB="34024"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15.48</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dirty="0">
                          <a:solidFill>
                            <a:schemeClr val="tx1"/>
                          </a:solidFill>
                          <a:latin typeface="+mn-lt"/>
                        </a:rPr>
                        <a:t>3.26</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–5.70</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–7.82</a:t>
                      </a:r>
                    </a:p>
                  </a:txBody>
                  <a:tcPr marT="45711" marB="4571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mn-lt"/>
                        </a:rPr>
                        <a:t>–8.81</a:t>
                      </a:r>
                    </a:p>
                  </a:txBody>
                  <a:tcPr marT="45711" marB="4571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8"/>
                  </a:ext>
                </a:extLst>
              </a:tr>
            </a:tbl>
          </a:graphicData>
        </a:graphic>
      </p:graphicFrame>
      <p:sp>
        <p:nvSpPr>
          <p:cNvPr id="11" name="Content Placeholder 10"/>
          <p:cNvSpPr>
            <a:spLocks noGrp="1"/>
          </p:cNvSpPr>
          <p:nvPr>
            <p:ph sz="quarter" idx="18"/>
          </p:nvPr>
        </p:nvSpPr>
        <p:spPr>
          <a:xfrm>
            <a:off x="533400" y="3981450"/>
            <a:ext cx="7543800" cy="457200"/>
          </a:xfrm>
        </p:spPr>
        <p:txBody>
          <a:bodyPr/>
          <a:lstStyle/>
          <a:p>
            <a:pPr marL="0" indent="0">
              <a:buNone/>
            </a:pPr>
            <a:r>
              <a:rPr lang="en-US" dirty="0"/>
              <a:t>Note: </a:t>
            </a:r>
            <a:r>
              <a:rPr lang="en-US" dirty="0">
                <a:solidFill>
                  <a:schemeClr val="dk1"/>
                </a:solidFill>
              </a:rPr>
              <a:t>Entries in table are NPVs in $billions. Entries for </a:t>
            </a:r>
            <a:r>
              <a:rPr lang="en-US" dirty="0">
                <a:solidFill>
                  <a:schemeClr val="dk1"/>
                </a:solidFill>
                <a:sym typeface="Symbol"/>
              </a:rPr>
              <a:t></a:t>
            </a:r>
            <a:r>
              <a:rPr lang="en-US" dirty="0">
                <a:solidFill>
                  <a:schemeClr val="dk1"/>
                </a:solidFill>
              </a:rPr>
              <a:t> = .02 correspond to net benefit numbers in Table 18.1.</a:t>
            </a:r>
            <a:endParaRPr lang="en-US" dirty="0"/>
          </a:p>
        </p:txBody>
      </p:sp>
      <p:sp>
        <p:nvSpPr>
          <p:cNvPr id="12" name="Content Placeholder 11"/>
          <p:cNvSpPr>
            <a:spLocks noGrp="1"/>
          </p:cNvSpPr>
          <p:nvPr>
            <p:ph sz="quarter" idx="19"/>
          </p:nvPr>
        </p:nvSpPr>
        <p:spPr>
          <a:xfrm>
            <a:off x="457200" y="4714875"/>
            <a:ext cx="7848600" cy="1447800"/>
          </a:xfrm>
        </p:spPr>
        <p:txBody>
          <a:bodyPr/>
          <a:lstStyle/>
          <a:p>
            <a:pPr marL="0" indent="0">
              <a:buClrTx/>
              <a:buNone/>
            </a:pPr>
            <a:r>
              <a:rPr lang="en-US" dirty="0"/>
              <a:t>Table 18.2 shows the NPV as a function of the discount </a:t>
            </a:r>
            <a:r>
              <a:rPr lang="en-US" dirty="0">
                <a:solidFill>
                  <a:prstClr val="black"/>
                </a:solidFill>
              </a:rPr>
              <a:t>rate.</a:t>
            </a:r>
          </a:p>
          <a:p>
            <a:pPr marL="0" indent="0">
              <a:buClrTx/>
              <a:buNone/>
            </a:pPr>
            <a:r>
              <a:rPr lang="en-US" dirty="0">
                <a:solidFill>
                  <a:prstClr val="black"/>
                </a:solidFill>
              </a:rPr>
              <a:t>Table 18.2 also shows how the NPV of a “zero emissions” policy depends on the dissipation rate, </a:t>
            </a:r>
            <a:r>
              <a:rPr lang="en-US" dirty="0">
                <a:solidFill>
                  <a:prstClr val="black"/>
                </a:solidFill>
                <a:sym typeface="Symbol"/>
              </a:rPr>
              <a:t></a:t>
            </a:r>
            <a:r>
              <a:rPr lang="en-US" i="1" dirty="0">
                <a:solidFill>
                  <a:prstClr val="black"/>
                </a:solidFill>
              </a:rPr>
              <a:t>. </a:t>
            </a:r>
            <a:r>
              <a:rPr lang="en-US" dirty="0">
                <a:solidFill>
                  <a:prstClr val="black"/>
                </a:solidFill>
              </a:rPr>
              <a:t>If </a:t>
            </a:r>
            <a:r>
              <a:rPr lang="en-US" dirty="0">
                <a:solidFill>
                  <a:prstClr val="black"/>
                </a:solidFill>
                <a:sym typeface="Symbol"/>
              </a:rPr>
              <a:t></a:t>
            </a:r>
            <a:r>
              <a:rPr lang="en-US" dirty="0">
                <a:solidFill>
                  <a:prstClr val="black"/>
                </a:solidFill>
              </a:rPr>
              <a:t> is lower, the accumulated stock of pollutant will reach higher levels and cause more economic damage, so the future benefits of reducing emissions will be greater</a:t>
            </a:r>
            <a:r>
              <a:rPr lang="en-US" dirty="0" smtClean="0">
                <a:solidFill>
                  <a:prstClr val="black"/>
                </a:solidFill>
              </a:rPr>
              <a:t>.</a:t>
            </a:r>
            <a:endParaRPr lang="en-US" dirty="0">
              <a:solidFill>
                <a:prstClr val="black"/>
              </a:solidFill>
            </a:endParaRPr>
          </a:p>
        </p:txBody>
      </p:sp>
    </p:spTree>
    <p:extLst>
      <p:ext uri="{BB962C8B-B14F-4D97-AF65-F5344CB8AC3E}">
        <p14:creationId xmlns:p14="http://schemas.microsoft.com/office/powerpoint/2010/main" val="3482724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3622"/>
            <a:ext cx="8229600" cy="461665"/>
          </a:xfrm>
        </p:spPr>
        <p:txBody>
          <a:bodyPr>
            <a:spAutoFit/>
          </a:bodyPr>
          <a:lstStyle/>
          <a:p>
            <a:r>
              <a:rPr lang="en-US" sz="3000" dirty="0"/>
              <a:t>18.3 </a:t>
            </a:r>
            <a:r>
              <a:rPr lang="en-US" sz="3000" dirty="0" smtClean="0"/>
              <a:t>Stock Externalities (3 </a:t>
            </a:r>
            <a:r>
              <a:rPr lang="en-US" sz="3000" dirty="0">
                <a:cs typeface="Calibri" panose="020F0502020204030204" pitchFamily="34" charset="0"/>
              </a:rPr>
              <a:t>of</a:t>
            </a:r>
            <a:r>
              <a:rPr lang="en-US" sz="3000" dirty="0" smtClean="0"/>
              <a:t> </a:t>
            </a:r>
            <a:r>
              <a:rPr lang="en-US" sz="3000" dirty="0"/>
              <a:t>3)</a:t>
            </a:r>
          </a:p>
        </p:txBody>
      </p:sp>
      <p:sp>
        <p:nvSpPr>
          <p:cNvPr id="4" name="Content Placeholder 3"/>
          <p:cNvSpPr>
            <a:spLocks noGrp="1"/>
          </p:cNvSpPr>
          <p:nvPr>
            <p:ph idx="1"/>
          </p:nvPr>
        </p:nvSpPr>
        <p:spPr>
          <a:xfrm>
            <a:off x="457200" y="1397001"/>
            <a:ext cx="8229600" cy="3970318"/>
          </a:xfrm>
        </p:spPr>
        <p:txBody>
          <a:bodyPr>
            <a:spAutoFit/>
          </a:bodyPr>
          <a:lstStyle/>
          <a:p>
            <a:pPr marL="0" indent="0">
              <a:spcBef>
                <a:spcPts val="0"/>
              </a:spcBef>
              <a:buClrTx/>
              <a:buSzTx/>
              <a:buNone/>
            </a:pPr>
            <a:r>
              <a:rPr lang="en-US" sz="1600" b="1" dirty="0"/>
              <a:t>What discount rate should be used?</a:t>
            </a:r>
          </a:p>
          <a:p>
            <a:pPr marL="0" indent="0">
              <a:buClrTx/>
              <a:buNone/>
              <a:tabLst>
                <a:tab pos="2916238" algn="l"/>
              </a:tabLst>
            </a:pPr>
            <a:r>
              <a:rPr lang="en-US" sz="1600" b="1" dirty="0"/>
              <a:t>social rate of discount </a:t>
            </a:r>
            <a:r>
              <a:rPr lang="en-US" sz="1600" dirty="0" smtClean="0"/>
              <a:t>Opportunity </a:t>
            </a:r>
            <a:r>
              <a:rPr lang="en-US" sz="1600" dirty="0"/>
              <a:t>cost to society as a whole of receiving an economic benefit in </a:t>
            </a:r>
            <a:r>
              <a:rPr lang="en-US" sz="1600" dirty="0" smtClean="0"/>
              <a:t>the future </a:t>
            </a:r>
            <a:r>
              <a:rPr lang="en-US" sz="1600" dirty="0"/>
              <a:t>rather than the presen</a:t>
            </a:r>
            <a:r>
              <a:rPr lang="en-US" sz="1600" dirty="0">
                <a:solidFill>
                  <a:prstClr val="black"/>
                </a:solidFill>
              </a:rPr>
              <a:t>t</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In </a:t>
            </a:r>
            <a:r>
              <a:rPr lang="en-US" sz="1600" dirty="0"/>
              <a:t>principle, the social rate of discount depends on three factors: (1) the expected rate </a:t>
            </a:r>
            <a:r>
              <a:rPr lang="en-US" sz="1600" dirty="0" smtClean="0"/>
              <a:t>of </a:t>
            </a:r>
            <a:r>
              <a:rPr lang="en-US" sz="1600" dirty="0"/>
              <a:t>real economic growth; (2) the extent of risk aversion for society as a whole; and (3) </a:t>
            </a:r>
            <a:r>
              <a:rPr lang="en-US" sz="1600" dirty="0" smtClean="0"/>
              <a:t>the </a:t>
            </a:r>
            <a:r>
              <a:rPr lang="en-US" sz="1600" dirty="0"/>
              <a:t>“rate of pure time preference” for society as a whol</a:t>
            </a:r>
            <a:r>
              <a:rPr lang="en-US" sz="1600" dirty="0">
                <a:solidFill>
                  <a:prstClr val="black"/>
                </a:solidFill>
              </a:rPr>
              <a:t>e</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With </a:t>
            </a:r>
            <a:r>
              <a:rPr lang="en-US" sz="1600" dirty="0"/>
              <a:t>rapid economic growth, future generations will have higher incomes than current generations, and if their marginal utility of income is decreasing (i.e., they are risk-averse), their utility from an extra dollar of income will be lower than the utility to someone living today; that’s why future benefits provide less utility and should thus be discoun</a:t>
            </a:r>
            <a:r>
              <a:rPr lang="en-US" sz="1600" dirty="0">
                <a:solidFill>
                  <a:prstClr val="black"/>
                </a:solidFill>
              </a:rPr>
              <a:t>ted. </a:t>
            </a:r>
          </a:p>
          <a:p>
            <a:pPr marL="0" indent="0">
              <a:buClrTx/>
              <a:buSzTx/>
              <a:buNone/>
            </a:pPr>
            <a:r>
              <a:rPr lang="en-US" sz="1600" dirty="0">
                <a:solidFill>
                  <a:prstClr val="black"/>
                </a:solidFill>
              </a:rPr>
              <a:t>Without </a:t>
            </a:r>
            <a:r>
              <a:rPr lang="en-US" sz="1600" dirty="0"/>
              <a:t>economic growth, people may simply prefer to receive a benefit today than in the future (the rate of pure time preference). For problems involving long time horizons, the policy debate often boils down to a debate over the correct discount rate.</a:t>
            </a:r>
          </a:p>
        </p:txBody>
      </p:sp>
    </p:spTree>
    <p:extLst>
      <p:ext uri="{BB962C8B-B14F-4D97-AF65-F5344CB8AC3E}">
        <p14:creationId xmlns:p14="http://schemas.microsoft.com/office/powerpoint/2010/main" val="30960744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2"/>
            <a:ext cx="8229600" cy="1046440"/>
          </a:xfrm>
        </p:spPr>
        <p:txBody>
          <a:bodyPr>
            <a:spAutoFit/>
          </a:bodyPr>
          <a:lstStyle/>
          <a:p>
            <a:r>
              <a:rPr lang="en-US" dirty="0"/>
              <a:t>EXAMPLE 18.4 GLOBAL </a:t>
            </a:r>
            <a:r>
              <a:rPr lang="en-US" dirty="0" smtClean="0"/>
              <a:t>WARMING</a:t>
            </a:r>
            <a:br>
              <a:rPr lang="en-US" dirty="0" smtClean="0"/>
            </a:br>
            <a:r>
              <a:rPr lang="en-US" dirty="0" smtClean="0"/>
              <a:t>(1 </a:t>
            </a:r>
            <a:r>
              <a:rPr lang="en-US" dirty="0">
                <a:cs typeface="Calibri" panose="020F0502020204030204" pitchFamily="34" charset="0"/>
              </a:rPr>
              <a:t>of</a:t>
            </a:r>
            <a:r>
              <a:rPr lang="en-US" dirty="0" smtClean="0"/>
              <a:t> 2)</a:t>
            </a:r>
            <a:endParaRPr lang="en-US" dirty="0"/>
          </a:p>
        </p:txBody>
      </p:sp>
      <p:sp>
        <p:nvSpPr>
          <p:cNvPr id="4" name="Content Placeholder 3"/>
          <p:cNvSpPr>
            <a:spLocks noGrp="1"/>
          </p:cNvSpPr>
          <p:nvPr>
            <p:ph sz="quarter" idx="14"/>
          </p:nvPr>
        </p:nvSpPr>
        <p:spPr>
          <a:xfrm>
            <a:off x="457200" y="1600200"/>
            <a:ext cx="5105400" cy="2408352"/>
          </a:xfrm>
        </p:spPr>
        <p:txBody>
          <a:bodyPr wrap="square">
            <a:spAutoFit/>
          </a:bodyPr>
          <a:lstStyle/>
          <a:p>
            <a:pPr marL="0" indent="0">
              <a:buClrTx/>
              <a:buNone/>
            </a:pPr>
            <a:r>
              <a:rPr lang="en-US" dirty="0">
                <a:solidFill>
                  <a:prstClr val="black"/>
                </a:solidFill>
              </a:rPr>
              <a:t>Emissions of carbon dioxide and other </a:t>
            </a:r>
            <a:r>
              <a:rPr lang="en-US" dirty="0" smtClean="0">
                <a:solidFill>
                  <a:prstClr val="black"/>
                </a:solidFill>
              </a:rPr>
              <a:t>greenhouse gases </a:t>
            </a:r>
            <a:r>
              <a:rPr lang="en-US" dirty="0">
                <a:solidFill>
                  <a:prstClr val="black"/>
                </a:solidFill>
              </a:rPr>
              <a:t>have increased dramatically over the </a:t>
            </a:r>
            <a:r>
              <a:rPr lang="en-US" dirty="0" smtClean="0">
                <a:solidFill>
                  <a:prstClr val="black"/>
                </a:solidFill>
              </a:rPr>
              <a:t>past century </a:t>
            </a:r>
            <a:r>
              <a:rPr lang="en-US" dirty="0">
                <a:solidFill>
                  <a:prstClr val="black"/>
                </a:solidFill>
              </a:rPr>
              <a:t>as economic growth has been </a:t>
            </a:r>
            <a:r>
              <a:rPr lang="en-US" dirty="0" smtClean="0">
                <a:solidFill>
                  <a:prstClr val="black"/>
                </a:solidFill>
              </a:rPr>
              <a:t>accompanied by </a:t>
            </a:r>
            <a:r>
              <a:rPr lang="en-US" dirty="0">
                <a:solidFill>
                  <a:prstClr val="black"/>
                </a:solidFill>
              </a:rPr>
              <a:t>the greater use of fossil fuels, which has in </a:t>
            </a:r>
            <a:r>
              <a:rPr lang="en-US" dirty="0" smtClean="0">
                <a:solidFill>
                  <a:prstClr val="black"/>
                </a:solidFill>
              </a:rPr>
              <a:t>turnled</a:t>
            </a:r>
            <a:r>
              <a:rPr lang="en-US" dirty="0" smtClean="0">
                <a:solidFill>
                  <a:prstClr val="black"/>
                </a:solidFill>
              </a:rPr>
              <a:t> </a:t>
            </a:r>
            <a:r>
              <a:rPr lang="en-US" dirty="0">
                <a:solidFill>
                  <a:prstClr val="black"/>
                </a:solidFill>
              </a:rPr>
              <a:t>to an increase in atmospheric concentrations </a:t>
            </a:r>
            <a:r>
              <a:rPr lang="en-US" dirty="0" smtClean="0">
                <a:solidFill>
                  <a:prstClr val="black"/>
                </a:solidFill>
              </a:rPr>
              <a:t>of GHG</a:t>
            </a:r>
            <a:r>
              <a:rPr lang="en-US" dirty="0">
                <a:solidFill>
                  <a:prstClr val="black"/>
                </a:solidFill>
              </a:rPr>
              <a:t>s</a:t>
            </a:r>
            <a:r>
              <a:rPr lang="en-US" dirty="0" smtClean="0">
                <a:solidFill>
                  <a:prstClr val="black"/>
                </a:solidFill>
              </a:rPr>
              <a:t>.</a:t>
            </a:r>
            <a:endParaRPr lang="en-US" dirty="0">
              <a:solidFill>
                <a:prstClr val="black"/>
              </a:solidFill>
            </a:endParaRPr>
          </a:p>
          <a:p>
            <a:pPr marL="0" indent="0">
              <a:buClrTx/>
              <a:buNone/>
            </a:pPr>
            <a:r>
              <a:rPr lang="en-US" dirty="0">
                <a:solidFill>
                  <a:prstClr val="black"/>
                </a:solidFill>
              </a:rPr>
              <a:t>GHG emissions could be reduced from their current levels—governments, for example, could impose stiff taxes on the use of gasoline and other fossil fuels—but this solution would be costly. The problem is that the costs occur today, but the benefits would be realized only in some 50 or more years. </a:t>
            </a:r>
          </a:p>
        </p:txBody>
      </p:sp>
      <p:pic>
        <p:nvPicPr>
          <p:cNvPr id="8" name="Picture Placeholder 7" descr="Photo shows polar bear standing on what looks like a small piece of ice."/>
          <p:cNvPicPr>
            <a:picLocks noGrp="1" noChangeAspect="1"/>
          </p:cNvPicPr>
          <p:nvPr>
            <p:ph type="pic" sz="quarter" idx="18"/>
          </p:nvPr>
        </p:nvPicPr>
        <p:blipFill>
          <a:blip r:embed="rId2">
            <a:extLst>
              <a:ext uri="{28A0092B-C50C-407E-A947-70E740481C1C}">
                <a14:useLocalDpi xmlns:a14="http://schemas.microsoft.com/office/drawing/2010/main" val="0"/>
              </a:ext>
            </a:extLst>
          </a:blip>
          <a:stretch>
            <a:fillRect/>
          </a:stretch>
        </p:blipFill>
        <p:spPr>
          <a:xfrm>
            <a:off x="5772514" y="1609980"/>
            <a:ext cx="2914286" cy="1923297"/>
          </a:xfrm>
        </p:spPr>
      </p:pic>
      <p:sp>
        <p:nvSpPr>
          <p:cNvPr id="5" name="Content Placeholder 4"/>
          <p:cNvSpPr>
            <a:spLocks noGrp="1"/>
          </p:cNvSpPr>
          <p:nvPr>
            <p:ph sz="quarter" idx="16"/>
          </p:nvPr>
        </p:nvSpPr>
        <p:spPr>
          <a:xfrm>
            <a:off x="459366" y="4152306"/>
            <a:ext cx="8229600" cy="1762021"/>
          </a:xfrm>
        </p:spPr>
        <p:txBody>
          <a:bodyPr>
            <a:spAutoFit/>
          </a:bodyPr>
          <a:lstStyle/>
          <a:p>
            <a:pPr marL="0" indent="0">
              <a:buClrTx/>
              <a:buNone/>
            </a:pPr>
            <a:r>
              <a:rPr lang="en-US" dirty="0">
                <a:solidFill>
                  <a:prstClr val="black"/>
                </a:solidFill>
              </a:rPr>
              <a:t>Is the present discounted value of the likely benefits of such policies simply too small? Although there is considerable uncertainty over the economic impact of higher temperatures, the consensus view is that the impact could be significant, so that there would be a future benefit from reducing emissions today. The cost of reducing emissions (or preventing them from growing above current levels) can be assessed as well, although here too there is uncertainty over the numbers</a:t>
            </a:r>
            <a:r>
              <a:rPr lang="en-US" dirty="0" smtClean="0">
                <a:solidFill>
                  <a:prstClr val="black"/>
                </a:solidFill>
              </a:rPr>
              <a:t>.</a:t>
            </a:r>
            <a:endParaRPr lang="en-US" dirty="0">
              <a:solidFill>
                <a:prstClr val="black"/>
              </a:solidFill>
            </a:endParaRPr>
          </a:p>
          <a:p>
            <a:pPr marL="0" indent="0">
              <a:buClrTx/>
              <a:buNone/>
            </a:pPr>
            <a:r>
              <a:rPr lang="en-US" dirty="0">
                <a:solidFill>
                  <a:prstClr val="black"/>
                </a:solidFill>
              </a:rPr>
              <a:t>Whether a policy to restrict GHG emissions makes economic sense clearly depends on the rate used to discount future costs and benefits.</a:t>
            </a:r>
          </a:p>
        </p:txBody>
      </p:sp>
    </p:spTree>
    <p:extLst>
      <p:ext uri="{BB962C8B-B14F-4D97-AF65-F5344CB8AC3E}">
        <p14:creationId xmlns:p14="http://schemas.microsoft.com/office/powerpoint/2010/main" val="24345990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924"/>
            <a:ext cx="8229600" cy="461665"/>
          </a:xfrm>
        </p:spPr>
        <p:txBody>
          <a:bodyPr vert="horz" lIns="0" tIns="0" rIns="0" bIns="0" rtlCol="0" anchor="b">
            <a:spAutoFit/>
          </a:bodyPr>
          <a:lstStyle/>
          <a:p>
            <a:r>
              <a:rPr lang="en-US" sz="3000" dirty="0"/>
              <a:t>EXAMPLE 18.4 GLOBAL WARMING (2 of 2)</a:t>
            </a:r>
          </a:p>
        </p:txBody>
      </p:sp>
      <p:sp>
        <p:nvSpPr>
          <p:cNvPr id="4" name="Text Placeholder 3"/>
          <p:cNvSpPr>
            <a:spLocks noGrp="1"/>
          </p:cNvSpPr>
          <p:nvPr>
            <p:ph type="body" sz="quarter" idx="13"/>
          </p:nvPr>
        </p:nvSpPr>
        <p:spPr>
          <a:xfrm>
            <a:off x="457200" y="1356384"/>
            <a:ext cx="3962400" cy="234291"/>
          </a:xfrm>
        </p:spPr>
        <p:txBody>
          <a:bodyPr/>
          <a:lstStyle/>
          <a:p>
            <a:r>
              <a:rPr lang="en-US" sz="1400" dirty="0"/>
              <a:t>TABLE </a:t>
            </a:r>
            <a:r>
              <a:rPr lang="en-US" sz="1400" dirty="0" smtClean="0"/>
              <a:t>18.3 </a:t>
            </a:r>
            <a:r>
              <a:rPr lang="en-US" sz="1400" dirty="0"/>
              <a:t>REDUCING GHG EMISSIONS</a:t>
            </a:r>
            <a:r>
              <a:rPr lang="en-IN" sz="1400" dirty="0" smtClean="0"/>
              <a:t> </a:t>
            </a:r>
            <a:endParaRPr lang="en-US" sz="1400" dirty="0"/>
          </a:p>
        </p:txBody>
      </p:sp>
      <p:graphicFrame>
        <p:nvGraphicFramePr>
          <p:cNvPr id="10" name="Table Placeholder 8"/>
          <p:cNvGraphicFramePr>
            <a:graphicFrameLocks noGrp="1"/>
          </p:cNvGraphicFramePr>
          <p:nvPr>
            <p:ph type="tbl" sz="quarter" idx="17"/>
            <p:extLst>
              <p:ext uri="{D42A27DB-BD31-4B8C-83A1-F6EECF244321}">
                <p14:modId xmlns:p14="http://schemas.microsoft.com/office/powerpoint/2010/main" val="2989350695"/>
              </p:ext>
            </p:extLst>
          </p:nvPr>
        </p:nvGraphicFramePr>
        <p:xfrm>
          <a:off x="552450" y="1752600"/>
          <a:ext cx="7848600" cy="3037373"/>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xmlns="" val="20000"/>
                    </a:ext>
                  </a:extLst>
                </a:gridCol>
                <a:gridCol w="762000">
                  <a:extLst>
                    <a:ext uri="{9D8B030D-6E8A-4147-A177-3AD203B41FA5}">
                      <a16:colId xmlns:a16="http://schemas.microsoft.com/office/drawing/2014/main" xmlns="" val="20001"/>
                    </a:ext>
                  </a:extLst>
                </a:gridCol>
                <a:gridCol w="762000">
                  <a:extLst>
                    <a:ext uri="{9D8B030D-6E8A-4147-A177-3AD203B41FA5}">
                      <a16:colId xmlns:a16="http://schemas.microsoft.com/office/drawing/2014/main" xmlns="" val="20002"/>
                    </a:ext>
                  </a:extLst>
                </a:gridCol>
                <a:gridCol w="685800">
                  <a:extLst>
                    <a:ext uri="{9D8B030D-6E8A-4147-A177-3AD203B41FA5}">
                      <a16:colId xmlns:a16="http://schemas.microsoft.com/office/drawing/2014/main" xmlns="" val="20003"/>
                    </a:ext>
                  </a:extLst>
                </a:gridCol>
                <a:gridCol w="762000">
                  <a:extLst>
                    <a:ext uri="{9D8B030D-6E8A-4147-A177-3AD203B41FA5}">
                      <a16:colId xmlns:a16="http://schemas.microsoft.com/office/drawing/2014/main" xmlns="" val="20004"/>
                    </a:ext>
                  </a:extLst>
                </a:gridCol>
                <a:gridCol w="762000">
                  <a:extLst>
                    <a:ext uri="{9D8B030D-6E8A-4147-A177-3AD203B41FA5}">
                      <a16:colId xmlns:a16="http://schemas.microsoft.com/office/drawing/2014/main" xmlns="" val="20005"/>
                    </a:ext>
                  </a:extLst>
                </a:gridCol>
                <a:gridCol w="685800">
                  <a:extLst>
                    <a:ext uri="{9D8B030D-6E8A-4147-A177-3AD203B41FA5}">
                      <a16:colId xmlns:a16="http://schemas.microsoft.com/office/drawing/2014/main" xmlns="" val="20006"/>
                    </a:ext>
                  </a:extLst>
                </a:gridCol>
                <a:gridCol w="685800">
                  <a:extLst>
                    <a:ext uri="{9D8B030D-6E8A-4147-A177-3AD203B41FA5}">
                      <a16:colId xmlns:a16="http://schemas.microsoft.com/office/drawing/2014/main" xmlns="" val="20007"/>
                    </a:ext>
                  </a:extLst>
                </a:gridCol>
                <a:gridCol w="762000">
                  <a:extLst>
                    <a:ext uri="{9D8B030D-6E8A-4147-A177-3AD203B41FA5}">
                      <a16:colId xmlns:a16="http://schemas.microsoft.com/office/drawing/2014/main" xmlns="" val="20008"/>
                    </a:ext>
                  </a:extLst>
                </a:gridCol>
                <a:gridCol w="762000">
                  <a:extLst>
                    <a:ext uri="{9D8B030D-6E8A-4147-A177-3AD203B41FA5}">
                      <a16:colId xmlns:a16="http://schemas.microsoft.com/office/drawing/2014/main" xmlns="" val="20009"/>
                    </a:ext>
                  </a:extLst>
                </a:gridCol>
                <a:gridCol w="762000">
                  <a:extLst>
                    <a:ext uri="{9D8B030D-6E8A-4147-A177-3AD203B41FA5}">
                      <a16:colId xmlns:a16="http://schemas.microsoft.com/office/drawing/2014/main" xmlns="" val="20010"/>
                    </a:ext>
                  </a:extLst>
                </a:gridCol>
              </a:tblGrid>
              <a:tr h="337258">
                <a:tc>
                  <a:txBody>
                    <a:bodyPr/>
                    <a:lstStyle/>
                    <a:p>
                      <a:pPr algn="ctr"/>
                      <a:r>
                        <a:rPr lang="en-US" sz="900" b="1" dirty="0" smtClean="0">
                          <a:solidFill>
                            <a:schemeClr val="tx1"/>
                          </a:solidFill>
                          <a:latin typeface="+mn-lt"/>
                        </a:rPr>
                        <a:t>Blank</a:t>
                      </a:r>
                      <a:r>
                        <a:rPr lang="en-US" sz="900" b="1" baseline="0" dirty="0" smtClean="0">
                          <a:solidFill>
                            <a:schemeClr val="tx1"/>
                          </a:solidFill>
                          <a:latin typeface="+mn-lt"/>
                        </a:rPr>
                        <a:t> Cell</a:t>
                      </a:r>
                      <a:endParaRPr lang="en-US" sz="900" b="1" dirty="0">
                        <a:solidFill>
                          <a:schemeClr val="tx1"/>
                        </a:solidFill>
                        <a:latin typeface="+mn-lt"/>
                      </a:endParaRPr>
                    </a:p>
                  </a:txBody>
                  <a:tcPr marL="0" marR="0" marT="0" marB="0" anchor="ctr">
                    <a:lnL w="19050" cap="flat" cmpd="sng" algn="ctr">
                      <a:solidFill>
                        <a:srgbClr val="369047"/>
                      </a:solidFill>
                      <a:prstDash val="solid"/>
                      <a:round/>
                      <a:headEnd type="none" w="med" len="med"/>
                      <a:tailEnd type="none" w="med" len="med"/>
                    </a:lnL>
                    <a:lnR w="12700" cmpd="sng">
                      <a:noFill/>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lnTlToBr w="12700" cmpd="sng">
                      <a:noFill/>
                      <a:prstDash val="solid"/>
                    </a:lnTlToBr>
                    <a:lnBlToTr w="12700" cmpd="sng">
                      <a:noFill/>
                      <a:prstDash val="solid"/>
                    </a:lnBlToTr>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“BUSINESS AS USUAL”</a:t>
                      </a:r>
                    </a:p>
                  </a:txBody>
                  <a:tcPr marL="0" marR="0" marT="0" marB="0" anchor="ctr">
                    <a:lnL w="12700" cmpd="sng">
                      <a:noFill/>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“BUSINESS AS USUAL”</a:t>
                      </a:r>
                    </a:p>
                  </a:txBody>
                  <a:tcPr marL="0" marR="0" marT="0" marB="0"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“BUSINESS AS USUAL”</a:t>
                      </a:r>
                    </a:p>
                  </a:txBody>
                  <a:tcPr marL="0" marR="0" marT="0" marB="0"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“BUSINESS AS USUAL”</a:t>
                      </a:r>
                    </a:p>
                  </a:txBody>
                  <a:tcPr marL="0" marR="0" marT="0" marB="0"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0" marR="0" marT="0" marB="0"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0" marR="0" marT="0" marB="0"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0" marR="0" marT="0" marB="0"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0" marR="0" marT="0" marB="0"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baseline="0" dirty="0" smtClean="0">
                          <a:solidFill>
                            <a:schemeClr val="tx1"/>
                          </a:solidFill>
                          <a:latin typeface="+mn-lt"/>
                        </a:rPr>
                        <a:t>EMISSIONS REDUCED BY 1% PER YEAR</a:t>
                      </a:r>
                    </a:p>
                  </a:txBody>
                  <a:tcPr marL="0" marR="0" marT="0"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r>
              <a:tr h="337258">
                <a:tc>
                  <a:txBody>
                    <a:bodyPr/>
                    <a:lstStyle/>
                    <a:p>
                      <a:pPr algn="ctr"/>
                      <a:r>
                        <a:rPr lang="en-US" sz="900" b="1" dirty="0">
                          <a:solidFill>
                            <a:schemeClr val="tx1"/>
                          </a:solidFill>
                          <a:latin typeface="+mn-lt"/>
                        </a:rPr>
                        <a:t>YEAR</a:t>
                      </a:r>
                    </a:p>
                  </a:txBody>
                  <a:tcPr marL="45633" marR="45633" marT="22812" marB="22812" anchor="b">
                    <a:lnL w="19050" cap="flat" cmpd="sng" algn="ctr">
                      <a:solidFill>
                        <a:srgbClr val="369047"/>
                      </a:solidFill>
                      <a:prstDash val="solid"/>
                      <a:round/>
                      <a:headEnd type="none" w="med" len="med"/>
                      <a:tailEnd type="none" w="med" len="med"/>
                    </a:lnL>
                    <a:lnR w="12700" cmpd="sng">
                      <a:noFill/>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1" dirty="0">
                          <a:solidFill>
                            <a:schemeClr val="tx1"/>
                          </a:solidFill>
                          <a:latin typeface="+mn-lt"/>
                        </a:rPr>
                        <a:t>E</a:t>
                      </a:r>
                      <a:r>
                        <a:rPr lang="en-US" sz="900" b="1" i="1" baseline="-25000" dirty="0">
                          <a:solidFill>
                            <a:schemeClr val="tx1"/>
                          </a:solidFill>
                          <a:latin typeface="+mn-lt"/>
                        </a:rPr>
                        <a:t>t</a:t>
                      </a:r>
                    </a:p>
                  </a:txBody>
                  <a:tcPr marL="45633" marR="45633" marT="22812" marB="22812" anchor="b">
                    <a:lnL w="12700" cmpd="sng">
                      <a:noFill/>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i="1" dirty="0">
                          <a:solidFill>
                            <a:schemeClr val="tx1"/>
                          </a:solidFill>
                          <a:latin typeface="+mn-lt"/>
                        </a:rPr>
                        <a:t>S</a:t>
                      </a:r>
                      <a:r>
                        <a:rPr lang="en-US" sz="900" b="1" i="1" baseline="-25000" dirty="0">
                          <a:solidFill>
                            <a:schemeClr val="tx1"/>
                          </a:solidFill>
                          <a:latin typeface="+mn-lt"/>
                        </a:rPr>
                        <a:t>t</a:t>
                      </a: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mn-lt"/>
                          <a:sym typeface="WP Greek Century"/>
                        </a:rPr>
                        <a:t>∆</a:t>
                      </a:r>
                      <a:r>
                        <a:rPr lang="en-US" sz="900" b="1" i="1" dirty="0">
                          <a:solidFill>
                            <a:schemeClr val="tx1"/>
                          </a:solidFill>
                          <a:latin typeface="+mn-lt"/>
                          <a:sym typeface="WP Greek Century"/>
                        </a:rPr>
                        <a:t>T</a:t>
                      </a:r>
                      <a:r>
                        <a:rPr lang="en-US" sz="900" b="1" i="1" baseline="-25000" dirty="0">
                          <a:solidFill>
                            <a:schemeClr val="tx1"/>
                          </a:solidFill>
                          <a:latin typeface="+mn-lt"/>
                          <a:sym typeface="WP Greek Century"/>
                        </a:rPr>
                        <a:t>t</a:t>
                      </a:r>
                      <a:endParaRPr lang="en-US" sz="900" b="1" i="1" baseline="-25000" dirty="0">
                        <a:solidFill>
                          <a:schemeClr val="tx1"/>
                        </a:solidFill>
                        <a:latin typeface="+mn-lt"/>
                      </a:endParaRP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dirty="0">
                          <a:solidFill>
                            <a:schemeClr val="tx1"/>
                          </a:solidFill>
                          <a:latin typeface="+mn-lt"/>
                        </a:rPr>
                        <a:t>DAMAGE</a:t>
                      </a:r>
                    </a:p>
                  </a:txBody>
                  <a:tcPr marL="45633" marR="45633" marT="22812" marB="22812" anchor="b">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1" dirty="0">
                          <a:solidFill>
                            <a:schemeClr val="tx1"/>
                          </a:solidFill>
                          <a:latin typeface="+mn-lt"/>
                        </a:rPr>
                        <a:t>E</a:t>
                      </a:r>
                      <a:r>
                        <a:rPr lang="en-US" sz="900" b="1" i="1" baseline="-25000" dirty="0">
                          <a:solidFill>
                            <a:schemeClr val="tx1"/>
                          </a:solidFill>
                          <a:latin typeface="+mn-lt"/>
                        </a:rPr>
                        <a:t>t</a:t>
                      </a:r>
                    </a:p>
                  </a:txBody>
                  <a:tcPr marL="45633" marR="45633" marT="22812" marB="22812" anchor="b">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i="1" dirty="0">
                          <a:solidFill>
                            <a:schemeClr val="tx1"/>
                          </a:solidFill>
                          <a:latin typeface="+mn-lt"/>
                        </a:rPr>
                        <a:t>S</a:t>
                      </a:r>
                      <a:r>
                        <a:rPr lang="en-US" sz="900" b="1" i="1" baseline="-25000" dirty="0">
                          <a:solidFill>
                            <a:schemeClr val="tx1"/>
                          </a:solidFill>
                          <a:latin typeface="+mn-lt"/>
                        </a:rPr>
                        <a:t>t</a:t>
                      </a: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mn-lt"/>
                          <a:sym typeface="WP Greek Century"/>
                        </a:rPr>
                        <a:t>∆</a:t>
                      </a:r>
                      <a:r>
                        <a:rPr lang="en-US" sz="900" b="1" i="1" dirty="0">
                          <a:solidFill>
                            <a:schemeClr val="tx1"/>
                          </a:solidFill>
                          <a:latin typeface="+mn-lt"/>
                          <a:sym typeface="WP Greek Century"/>
                        </a:rPr>
                        <a:t>T</a:t>
                      </a:r>
                      <a:r>
                        <a:rPr lang="en-US" sz="900" b="1" i="1" baseline="-25000" dirty="0">
                          <a:solidFill>
                            <a:schemeClr val="tx1"/>
                          </a:solidFill>
                          <a:latin typeface="+mn-lt"/>
                          <a:sym typeface="WP Greek Century"/>
                        </a:rPr>
                        <a:t>t</a:t>
                      </a:r>
                      <a:endParaRPr lang="en-US" sz="900" b="1" i="1" baseline="-25000" dirty="0">
                        <a:solidFill>
                          <a:schemeClr val="tx1"/>
                        </a:solidFill>
                        <a:latin typeface="+mn-lt"/>
                      </a:endParaRP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dirty="0">
                          <a:solidFill>
                            <a:schemeClr val="tx1"/>
                          </a:solidFill>
                          <a:latin typeface="+mn-lt"/>
                        </a:rPr>
                        <a:t>DAMAGE</a:t>
                      </a: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dirty="0">
                          <a:solidFill>
                            <a:schemeClr val="tx1"/>
                          </a:solidFill>
                          <a:latin typeface="+mn-lt"/>
                        </a:rPr>
                        <a:t>COST</a:t>
                      </a:r>
                    </a:p>
                  </a:txBody>
                  <a:tcPr marL="45633" marR="45633" marT="22812" marB="22812" anchor="b">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1" dirty="0">
                          <a:solidFill>
                            <a:schemeClr val="tx1"/>
                          </a:solidFill>
                          <a:latin typeface="+mn-lt"/>
                        </a:rPr>
                        <a:t>NET BENEFIT</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191441">
                <a:tc>
                  <a:txBody>
                    <a:bodyPr/>
                    <a:lstStyle/>
                    <a:p>
                      <a:pPr algn="ctr"/>
                      <a:r>
                        <a:rPr lang="en-US" sz="900" dirty="0">
                          <a:solidFill>
                            <a:schemeClr val="tx1"/>
                          </a:solidFill>
                          <a:latin typeface="+mn-lt"/>
                        </a:rPr>
                        <a:t>2010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0" dirty="0">
                          <a:solidFill>
                            <a:schemeClr val="tx1"/>
                          </a:solidFill>
                          <a:latin typeface="+mn-lt"/>
                        </a:rPr>
                        <a:t>55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460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b="0" dirty="0">
                          <a:solidFill>
                            <a:schemeClr val="tx1"/>
                          </a:solidFill>
                          <a:latin typeface="+mn-lt"/>
                        </a:rPr>
                        <a:t>0°</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0" dirty="0">
                          <a:solidFill>
                            <a:schemeClr val="tx1"/>
                          </a:solidFill>
                          <a:latin typeface="+mn-lt"/>
                        </a:rPr>
                        <a:t>0</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45</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460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0°</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0" dirty="0">
                          <a:solidFill>
                            <a:schemeClr val="tx1"/>
                          </a:solidFill>
                          <a:latin typeface="+mn-lt"/>
                        </a:rPr>
                        <a:t>0</a:t>
                      </a:r>
                    </a:p>
                  </a:txBody>
                  <a:tcPr marL="45633" marR="159716"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b="0" dirty="0">
                          <a:solidFill>
                            <a:schemeClr val="tx1"/>
                          </a:solidFill>
                          <a:latin typeface="+mn-lt"/>
                        </a:rPr>
                        <a:t>0.82</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a:t>
                      </a:r>
                      <a:r>
                        <a:rPr lang="en-US" sz="900" b="0" baseline="0" dirty="0">
                          <a:solidFill>
                            <a:schemeClr val="tx1"/>
                          </a:solidFill>
                          <a:latin typeface="+mn-lt"/>
                        </a:rPr>
                        <a:t> 0.82 </a:t>
                      </a:r>
                      <a:endParaRPr lang="en-US" sz="900" b="0" dirty="0">
                        <a:solidFill>
                          <a:schemeClr val="tx1"/>
                        </a:solidFill>
                        <a:latin typeface="+mn-lt"/>
                      </a:endParaRP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191441">
                <a:tc>
                  <a:txBody>
                    <a:bodyPr/>
                    <a:lstStyle/>
                    <a:p>
                      <a:pPr algn="ctr"/>
                      <a:r>
                        <a:rPr lang="en-US" sz="900" dirty="0">
                          <a:solidFill>
                            <a:schemeClr val="tx1"/>
                          </a:solidFill>
                          <a:latin typeface="+mn-lt"/>
                        </a:rPr>
                        <a:t>2020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62</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490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0.4°</a:t>
                      </a:r>
                    </a:p>
                  </a:txBody>
                  <a:tcPr marL="45633" marR="68450"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0. 63</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41</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485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0.5°</a:t>
                      </a:r>
                    </a:p>
                  </a:txBody>
                  <a:tcPr marL="45633" marR="68450"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0.63</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1.05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 1.05</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191441">
                <a:tc>
                  <a:txBody>
                    <a:bodyPr/>
                    <a:lstStyle/>
                    <a:p>
                      <a:pPr algn="ctr"/>
                      <a:r>
                        <a:rPr lang="en-US" sz="900" dirty="0">
                          <a:solidFill>
                            <a:schemeClr val="tx1"/>
                          </a:solidFill>
                          <a:latin typeface="+mn-lt"/>
                        </a:rPr>
                        <a:t>2030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mn-lt"/>
                        </a:rPr>
                        <a:t>73</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mn-lt"/>
                        </a:rPr>
                        <a:t>520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0.8°</a:t>
                      </a:r>
                    </a:p>
                  </a:txBody>
                  <a:tcPr marL="45633" marR="159716"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1.61</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37</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510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1°</a:t>
                      </a:r>
                    </a:p>
                  </a:txBody>
                  <a:tcPr marL="45633" marR="159716"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1.61</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1.34</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900" b="0" dirty="0">
                          <a:solidFill>
                            <a:schemeClr val="tx1"/>
                          </a:solidFill>
                          <a:latin typeface="+mn-lt"/>
                        </a:rPr>
                        <a:t>– 1.34</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r h="191441">
                <a:tc>
                  <a:txBody>
                    <a:bodyPr/>
                    <a:lstStyle/>
                    <a:p>
                      <a:pPr algn="ctr"/>
                      <a:r>
                        <a:rPr lang="en-US" sz="900" dirty="0">
                          <a:solidFill>
                            <a:schemeClr val="tx1"/>
                          </a:solidFill>
                          <a:latin typeface="+mn-lt"/>
                        </a:rPr>
                        <a:t>2040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85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1.2°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3.08</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33</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530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1.4°</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3.08</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1.71</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 1.71</a:t>
                      </a:r>
                      <a:endParaRPr lang="en-US" sz="900" dirty="0">
                        <a:solidFill>
                          <a:schemeClr val="tx1"/>
                        </a:solidFill>
                        <a:latin typeface="+mn-lt"/>
                      </a:endParaRP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6"/>
                  </a:ext>
                </a:extLst>
              </a:tr>
              <a:tr h="191441">
                <a:tc>
                  <a:txBody>
                    <a:bodyPr/>
                    <a:lstStyle/>
                    <a:p>
                      <a:pPr algn="ctr"/>
                      <a:r>
                        <a:rPr lang="en-US" sz="900" dirty="0">
                          <a:solidFill>
                            <a:schemeClr val="tx1"/>
                          </a:solidFill>
                          <a:latin typeface="+mn-lt"/>
                        </a:rPr>
                        <a:t>2050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mn-lt"/>
                        </a:rPr>
                        <a:t>90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mn-lt"/>
                        </a:rPr>
                        <a:t>580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1.6°</a:t>
                      </a:r>
                    </a:p>
                  </a:txBody>
                  <a:tcPr marL="45633" marR="136900"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5.26</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5.26</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2.19</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 2.19</a:t>
                      </a:r>
                      <a:endParaRPr lang="en-US" sz="900" dirty="0">
                        <a:solidFill>
                          <a:schemeClr val="tx1"/>
                        </a:solidFill>
                        <a:latin typeface="+mn-lt"/>
                      </a:endParaRP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7"/>
                  </a:ext>
                </a:extLst>
              </a:tr>
              <a:tr h="191441">
                <a:tc>
                  <a:txBody>
                    <a:bodyPr/>
                    <a:lstStyle/>
                    <a:p>
                      <a:pPr algn="ctr"/>
                      <a:r>
                        <a:rPr lang="en-US" sz="900" dirty="0">
                          <a:solidFill>
                            <a:schemeClr val="tx1"/>
                          </a:solidFill>
                          <a:latin typeface="+mn-lt"/>
                        </a:rPr>
                        <a:t>2060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95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610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8.42</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27</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8.42</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2.81</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 2.81</a:t>
                      </a:r>
                      <a:endParaRPr lang="en-US" sz="900" dirty="0">
                        <a:solidFill>
                          <a:schemeClr val="tx1"/>
                        </a:solidFill>
                        <a:latin typeface="+mn-lt"/>
                      </a:endParaRP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8"/>
                  </a:ext>
                </a:extLst>
              </a:tr>
              <a:tr h="191441">
                <a:tc>
                  <a:txBody>
                    <a:bodyPr/>
                    <a:lstStyle/>
                    <a:p>
                      <a:pPr algn="ctr"/>
                      <a:r>
                        <a:rPr lang="en-US" sz="900" dirty="0">
                          <a:solidFill>
                            <a:schemeClr val="tx1"/>
                          </a:solidFill>
                          <a:latin typeface="+mn-lt"/>
                        </a:rPr>
                        <a:t>2070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100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640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2.4°</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12.94</a:t>
                      </a:r>
                    </a:p>
                  </a:txBody>
                  <a:tcPr marL="45633" marR="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25</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10.78</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3.59</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b="0" dirty="0">
                          <a:solidFill>
                            <a:schemeClr val="tx1"/>
                          </a:solidFill>
                          <a:latin typeface="+mn-lt"/>
                        </a:rPr>
                        <a:t>– 1.44</a:t>
                      </a:r>
                      <a:endParaRPr lang="en-US" sz="900" dirty="0">
                        <a:solidFill>
                          <a:schemeClr val="tx1"/>
                        </a:solidFill>
                        <a:latin typeface="+mn-lt"/>
                      </a:endParaRP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9"/>
                  </a:ext>
                </a:extLst>
              </a:tr>
              <a:tr h="191441">
                <a:tc>
                  <a:txBody>
                    <a:bodyPr/>
                    <a:lstStyle/>
                    <a:p>
                      <a:pPr algn="ctr"/>
                      <a:r>
                        <a:rPr lang="en-US" sz="900" dirty="0">
                          <a:solidFill>
                            <a:schemeClr val="tx1"/>
                          </a:solidFill>
                          <a:latin typeface="+mn-lt"/>
                        </a:rPr>
                        <a:t>2080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105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670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2.8°</a:t>
                      </a:r>
                    </a:p>
                  </a:txBody>
                  <a:tcPr marL="45633" marR="159716"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19.32</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22</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13.80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4.60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0.92</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10"/>
                  </a:ext>
                </a:extLst>
              </a:tr>
              <a:tr h="191441">
                <a:tc>
                  <a:txBody>
                    <a:bodyPr/>
                    <a:lstStyle/>
                    <a:p>
                      <a:pPr algn="ctr"/>
                      <a:r>
                        <a:rPr lang="en-US" sz="900" dirty="0">
                          <a:solidFill>
                            <a:schemeClr val="tx1"/>
                          </a:solidFill>
                          <a:latin typeface="+mn-lt"/>
                        </a:rPr>
                        <a:t>2090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110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700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3.2°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28.27</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17.67</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5.89</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4.71</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11"/>
                  </a:ext>
                </a:extLst>
              </a:tr>
              <a:tr h="191441">
                <a:tc>
                  <a:txBody>
                    <a:bodyPr/>
                    <a:lstStyle/>
                    <a:p>
                      <a:pPr algn="ctr"/>
                      <a:r>
                        <a:rPr lang="en-US" sz="900" dirty="0">
                          <a:solidFill>
                            <a:schemeClr val="tx1"/>
                          </a:solidFill>
                          <a:latin typeface="+mn-lt"/>
                        </a:rPr>
                        <a:t>2100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115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730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dirty="0">
                          <a:solidFill>
                            <a:schemeClr val="tx1"/>
                          </a:solidFill>
                          <a:latin typeface="+mn-lt"/>
                        </a:rPr>
                        <a:t>3.6°</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40.71</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18</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22.61</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dirty="0">
                          <a:solidFill>
                            <a:schemeClr val="tx1"/>
                          </a:solidFill>
                          <a:latin typeface="+mn-lt"/>
                        </a:rPr>
                        <a:t>7.54</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dirty="0">
                          <a:solidFill>
                            <a:schemeClr val="tx1"/>
                          </a:solidFill>
                          <a:latin typeface="+mn-lt"/>
                        </a:rPr>
                        <a:t>10.55</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12"/>
                  </a:ext>
                </a:extLst>
              </a:tr>
              <a:tr h="191441">
                <a:tc>
                  <a:txBody>
                    <a:bodyPr/>
                    <a:lstStyle/>
                    <a:p>
                      <a:pPr algn="ctr"/>
                      <a:r>
                        <a:rPr lang="en-US" sz="900" kern="1200" dirty="0">
                          <a:solidFill>
                            <a:schemeClr val="tx1"/>
                          </a:solidFill>
                          <a:latin typeface="+mn-lt"/>
                          <a:ea typeface="+mn-ea"/>
                          <a:cs typeface="+mn-cs"/>
                        </a:rPr>
                        <a:t>2110</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120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760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l"/>
                      <a:r>
                        <a:rPr lang="en-US" sz="900" kern="1200" dirty="0">
                          <a:solidFill>
                            <a:schemeClr val="tx1"/>
                          </a:solidFill>
                          <a:latin typeface="+mn-lt"/>
                          <a:ea typeface="+mn-ea"/>
                          <a:cs typeface="+mn-cs"/>
                        </a:rPr>
                        <a:t>4°</a:t>
                      </a:r>
                    </a:p>
                  </a:txBody>
                  <a:tcPr marL="45633" marR="159716"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57.90</a:t>
                      </a:r>
                    </a:p>
                  </a:txBody>
                  <a:tcPr marL="45633" marR="45633"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16</a:t>
                      </a:r>
                    </a:p>
                  </a:txBody>
                  <a:tcPr marL="45633" marR="45633" marT="22812" marB="2281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550</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2°</a:t>
                      </a:r>
                    </a:p>
                  </a:txBody>
                  <a:tcPr marL="45633" marR="91267"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28.95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900" kern="1200" dirty="0">
                          <a:solidFill>
                            <a:schemeClr val="tx1"/>
                          </a:solidFill>
                          <a:latin typeface="+mn-lt"/>
                          <a:ea typeface="+mn-ea"/>
                          <a:cs typeface="+mn-cs"/>
                        </a:rPr>
                        <a:t>9.65</a:t>
                      </a:r>
                    </a:p>
                  </a:txBody>
                  <a:tcPr marL="45633" marR="45633" marT="22812" marB="2281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r"/>
                      <a:r>
                        <a:rPr lang="en-US" sz="900" kern="1200" dirty="0">
                          <a:solidFill>
                            <a:schemeClr val="tx1"/>
                          </a:solidFill>
                          <a:latin typeface="+mn-lt"/>
                          <a:ea typeface="+mn-ea"/>
                          <a:cs typeface="+mn-cs"/>
                        </a:rPr>
                        <a:t>19.30</a:t>
                      </a:r>
                    </a:p>
                  </a:txBody>
                  <a:tcPr marL="45633" marR="136900" marT="22812" marB="2281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13"/>
                  </a:ext>
                </a:extLst>
              </a:tr>
            </a:tbl>
          </a:graphicData>
        </a:graphic>
      </p:graphicFrame>
      <p:sp>
        <p:nvSpPr>
          <p:cNvPr id="5" name="Content Placeholder 4"/>
          <p:cNvSpPr>
            <a:spLocks noGrp="1"/>
          </p:cNvSpPr>
          <p:nvPr>
            <p:ph sz="quarter" idx="14"/>
          </p:nvPr>
        </p:nvSpPr>
        <p:spPr>
          <a:xfrm>
            <a:off x="457200" y="4825327"/>
            <a:ext cx="8229600" cy="1337348"/>
          </a:xfrm>
        </p:spPr>
        <p:txBody>
          <a:bodyPr/>
          <a:lstStyle/>
          <a:p>
            <a:pPr marL="0" indent="0">
              <a:buNone/>
            </a:pPr>
            <a:r>
              <a:rPr lang="en-US" sz="1200" i="1" dirty="0">
                <a:solidFill>
                  <a:schemeClr val="dk1"/>
                </a:solidFill>
              </a:rPr>
              <a:t>Notes</a:t>
            </a:r>
            <a:r>
              <a:rPr lang="en-US" sz="1200" dirty="0">
                <a:solidFill>
                  <a:schemeClr val="dk1"/>
                </a:solidFill>
              </a:rPr>
              <a:t>: </a:t>
            </a:r>
            <a:r>
              <a:rPr lang="en-US" sz="1200" i="1" dirty="0">
                <a:solidFill>
                  <a:schemeClr val="dk1"/>
                </a:solidFill>
              </a:rPr>
              <a:t>E</a:t>
            </a:r>
            <a:r>
              <a:rPr lang="en-US" sz="1200" i="1" baseline="-25000" dirty="0">
                <a:solidFill>
                  <a:schemeClr val="dk1"/>
                </a:solidFill>
              </a:rPr>
              <a:t>t</a:t>
            </a:r>
            <a:r>
              <a:rPr lang="en-US" sz="1200" i="1" dirty="0">
                <a:solidFill>
                  <a:schemeClr val="dk1"/>
                </a:solidFill>
              </a:rPr>
              <a:t> </a:t>
            </a:r>
            <a:r>
              <a:rPr lang="en-US" sz="1200" dirty="0">
                <a:solidFill>
                  <a:schemeClr val="dk1"/>
                </a:solidFill>
              </a:rPr>
              <a:t>is measured in </a:t>
            </a:r>
            <a:r>
              <a:rPr lang="en-US" sz="1200" dirty="0">
                <a:solidFill>
                  <a:schemeClr val="dk1"/>
                </a:solidFill>
              </a:rPr>
              <a:t>gigatonnes</a:t>
            </a:r>
            <a:r>
              <a:rPr lang="en-US" sz="1200" dirty="0">
                <a:solidFill>
                  <a:schemeClr val="dk1"/>
                </a:solidFill>
              </a:rPr>
              <a:t> (billions of metric tons) of CO</a:t>
            </a:r>
            <a:r>
              <a:rPr lang="en-US" sz="1200" baseline="-25000" dirty="0">
                <a:solidFill>
                  <a:schemeClr val="dk1"/>
                </a:solidFill>
              </a:rPr>
              <a:t>2</a:t>
            </a:r>
            <a:r>
              <a:rPr lang="en-US" sz="1200" dirty="0">
                <a:solidFill>
                  <a:schemeClr val="dk1"/>
                </a:solidFill>
              </a:rPr>
              <a:t> equivalent (CO</a:t>
            </a:r>
            <a:r>
              <a:rPr lang="en-US" sz="1200" baseline="-25000" dirty="0">
                <a:solidFill>
                  <a:schemeClr val="dk1"/>
                </a:solidFill>
              </a:rPr>
              <a:t>2</a:t>
            </a:r>
            <a:r>
              <a:rPr lang="en-US" sz="1200" dirty="0">
                <a:solidFill>
                  <a:schemeClr val="dk1"/>
                </a:solidFill>
              </a:rPr>
              <a:t>e), </a:t>
            </a:r>
            <a:r>
              <a:rPr lang="en-US" sz="1200" i="1" dirty="0">
                <a:solidFill>
                  <a:schemeClr val="dk1"/>
                </a:solidFill>
              </a:rPr>
              <a:t>S</a:t>
            </a:r>
            <a:r>
              <a:rPr lang="en-US" sz="1200" i="1" baseline="-25000" dirty="0">
                <a:solidFill>
                  <a:schemeClr val="dk1"/>
                </a:solidFill>
              </a:rPr>
              <a:t>t</a:t>
            </a:r>
            <a:r>
              <a:rPr lang="en-US" sz="1200" dirty="0">
                <a:solidFill>
                  <a:schemeClr val="dk1"/>
                </a:solidFill>
              </a:rPr>
              <a:t> is measured in parts per million (ppm) of atmospheric CO2e, the change in temperature </a:t>
            </a:r>
            <a:r>
              <a:rPr lang="en-US" sz="1200" dirty="0">
                <a:solidFill>
                  <a:schemeClr val="dk1"/>
                </a:solidFill>
                <a:sym typeface="WP Greek Century"/>
              </a:rPr>
              <a:t></a:t>
            </a:r>
            <a:r>
              <a:rPr lang="en-US" sz="1200" i="1" dirty="0">
                <a:solidFill>
                  <a:schemeClr val="dk1"/>
                </a:solidFill>
              </a:rPr>
              <a:t>T</a:t>
            </a:r>
            <a:r>
              <a:rPr lang="en-US" sz="1200" dirty="0">
                <a:solidFill>
                  <a:schemeClr val="dk1"/>
                </a:solidFill>
              </a:rPr>
              <a:t>t is measured in degrees Celsius, and costs, damages, and net benefits are measured in trillions of 2007 dollars. Cost of reducing</a:t>
            </a:r>
          </a:p>
          <a:p>
            <a:pPr marL="0" indent="0">
              <a:buNone/>
            </a:pPr>
            <a:r>
              <a:rPr lang="en-US" sz="1200" dirty="0">
                <a:solidFill>
                  <a:schemeClr val="dk1"/>
                </a:solidFill>
              </a:rPr>
              <a:t>Emissions is estimated to be 1% of GDP each year. World GDP is projected to grow at 2.5% in real terms from a level of $65 trillion in 2016. Damage from warming is estimated to be 1.5% of GDP per year for every 1°C of temperature increase. Under BAU, temperature is predicted to rise by 0.04° per year</a:t>
            </a:r>
            <a:r>
              <a:rPr lang="en-US" sz="1200" dirty="0" smtClean="0">
                <a:solidFill>
                  <a:schemeClr val="dk1"/>
                </a:solidFill>
              </a:rPr>
              <a:t>.</a:t>
            </a:r>
            <a:endParaRPr lang="en-US" sz="1200" dirty="0"/>
          </a:p>
        </p:txBody>
      </p:sp>
    </p:spTree>
    <p:extLst>
      <p:ext uri="{BB962C8B-B14F-4D97-AF65-F5344CB8AC3E}">
        <p14:creationId xmlns:p14="http://schemas.microsoft.com/office/powerpoint/2010/main" val="23269588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2"/>
            <a:ext cx="8229600" cy="1046440"/>
          </a:xfrm>
        </p:spPr>
        <p:txBody>
          <a:bodyPr>
            <a:spAutoFit/>
          </a:bodyPr>
          <a:lstStyle/>
          <a:p>
            <a:pPr marL="857250" indent="-857250"/>
            <a:r>
              <a:rPr lang="en-US" dirty="0"/>
              <a:t>18.4 </a:t>
            </a:r>
            <a:r>
              <a:rPr lang="en-US" dirty="0" smtClean="0"/>
              <a:t>Externalities </a:t>
            </a:r>
            <a:r>
              <a:rPr lang="en-US" dirty="0"/>
              <a:t>and Property </a:t>
            </a:r>
            <a:r>
              <a:rPr lang="en-US" dirty="0" smtClean="0"/>
              <a:t>Rights</a:t>
            </a:r>
            <a:br>
              <a:rPr lang="en-US" dirty="0" smtClean="0"/>
            </a:br>
            <a:r>
              <a:rPr lang="en-US" dirty="0" smtClean="0"/>
              <a:t>(1 </a:t>
            </a:r>
            <a:r>
              <a:rPr lang="en-US" dirty="0">
                <a:cs typeface="Calibri" panose="020F0502020204030204" pitchFamily="34" charset="0"/>
              </a:rPr>
              <a:t>of</a:t>
            </a:r>
            <a:r>
              <a:rPr lang="en-US" dirty="0" smtClean="0"/>
              <a:t> </a:t>
            </a:r>
            <a:r>
              <a:rPr lang="en-US" dirty="0"/>
              <a:t>7)</a:t>
            </a:r>
          </a:p>
        </p:txBody>
      </p:sp>
      <p:sp>
        <p:nvSpPr>
          <p:cNvPr id="3" name="Text Placeholder 2"/>
          <p:cNvSpPr>
            <a:spLocks noGrp="1"/>
          </p:cNvSpPr>
          <p:nvPr>
            <p:ph type="body" sz="quarter" idx="13"/>
          </p:nvPr>
        </p:nvSpPr>
        <p:spPr>
          <a:xfrm>
            <a:off x="457200" y="1340305"/>
            <a:ext cx="8229600" cy="246221"/>
          </a:xfrm>
        </p:spPr>
        <p:txBody>
          <a:bodyPr>
            <a:spAutoFit/>
          </a:bodyPr>
          <a:lstStyle/>
          <a:p>
            <a:r>
              <a:rPr lang="en-US" dirty="0"/>
              <a:t>P</a:t>
            </a:r>
            <a:r>
              <a:rPr lang="en-US" dirty="0" smtClean="0"/>
              <a:t>roperty </a:t>
            </a:r>
            <a:r>
              <a:rPr lang="en-US" dirty="0"/>
              <a:t>R</a:t>
            </a:r>
            <a:r>
              <a:rPr lang="en-US" dirty="0" smtClean="0"/>
              <a:t>ights </a:t>
            </a:r>
            <a:endParaRPr lang="en-US" dirty="0"/>
          </a:p>
        </p:txBody>
      </p:sp>
      <p:sp>
        <p:nvSpPr>
          <p:cNvPr id="4" name="Content Placeholder 3"/>
          <p:cNvSpPr>
            <a:spLocks noGrp="1"/>
          </p:cNvSpPr>
          <p:nvPr>
            <p:ph sz="quarter" idx="14"/>
          </p:nvPr>
        </p:nvSpPr>
        <p:spPr>
          <a:xfrm>
            <a:off x="457200" y="1749425"/>
            <a:ext cx="8229600" cy="2846933"/>
          </a:xfrm>
        </p:spPr>
        <p:txBody>
          <a:bodyPr>
            <a:spAutoFit/>
          </a:bodyPr>
          <a:lstStyle/>
          <a:p>
            <a:pPr marL="0" indent="0">
              <a:buClrTx/>
              <a:buSzTx/>
              <a:buNone/>
              <a:tabLst>
                <a:tab pos="2111375" algn="l"/>
              </a:tabLst>
            </a:pPr>
            <a:r>
              <a:rPr lang="en-US" sz="1600" b="1" dirty="0" smtClean="0"/>
              <a:t>property </a:t>
            </a:r>
            <a:r>
              <a:rPr lang="en-US" sz="1600" b="1" dirty="0"/>
              <a:t>rights </a:t>
            </a:r>
            <a:r>
              <a:rPr lang="en-US" sz="1600" dirty="0" smtClean="0"/>
              <a:t>Legal </a:t>
            </a:r>
            <a:r>
              <a:rPr lang="en-US" sz="1600" dirty="0"/>
              <a:t>rules stating what people or firms may do with their propert</a:t>
            </a:r>
            <a:r>
              <a:rPr lang="en-US" sz="1600" dirty="0">
                <a:solidFill>
                  <a:prstClr val="black"/>
                </a:solidFill>
              </a:rPr>
              <a:t>y</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To </a:t>
            </a:r>
            <a:r>
              <a:rPr lang="en-US" sz="1600" dirty="0"/>
              <a:t>see why property rights are important, let’s return to our example of the firm that dumps effluent into the river. We assumed both that it had a property right to use the river to dispose of its waste and that the fishermen did not have a property right to “effluent-free” water. As a result, the firm had no incentive to include the cost of effluent in its production calculations. In other words, the firm </a:t>
            </a:r>
            <a:r>
              <a:rPr lang="en-US" sz="1600" i="1" dirty="0"/>
              <a:t>externalized</a:t>
            </a:r>
            <a:r>
              <a:rPr lang="en-US" sz="1600" dirty="0"/>
              <a:t> the costs generated by the</a:t>
            </a:r>
            <a:r>
              <a:rPr lang="en-US" sz="1600" dirty="0">
                <a:solidFill>
                  <a:prstClr val="black"/>
                </a:solidFill>
              </a:rPr>
              <a:t> effluent. </a:t>
            </a:r>
          </a:p>
          <a:p>
            <a:pPr marL="0" indent="0">
              <a:buClrTx/>
              <a:buSzTx/>
              <a:buNone/>
            </a:pPr>
            <a:r>
              <a:rPr lang="en-US" sz="1600" dirty="0">
                <a:solidFill>
                  <a:prstClr val="black"/>
                </a:solidFill>
              </a:rPr>
              <a:t>But </a:t>
            </a:r>
            <a:r>
              <a:rPr lang="en-US" sz="1600" dirty="0"/>
              <a:t>suppose that the fishermen had a property right to clean water. In that case, they could demand that the firm pay them for the right to dump effluent. The firm would either cease production or pay the costs associated with the effluent. These costs would be </a:t>
            </a:r>
            <a:r>
              <a:rPr lang="en-US" sz="1600" i="1" dirty="0"/>
              <a:t>internalized</a:t>
            </a:r>
            <a:r>
              <a:rPr lang="en-US" sz="1600" dirty="0"/>
              <a:t> and an efficient allocation of resources achieved.</a:t>
            </a:r>
          </a:p>
        </p:txBody>
      </p:sp>
    </p:spTree>
    <p:extLst>
      <p:ext uri="{BB962C8B-B14F-4D97-AF65-F5344CB8AC3E}">
        <p14:creationId xmlns:p14="http://schemas.microsoft.com/office/powerpoint/2010/main" val="25692047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18.4 </a:t>
            </a:r>
            <a:r>
              <a:rPr lang="en-US" sz="3000" dirty="0" smtClean="0"/>
              <a:t>Externalities </a:t>
            </a:r>
            <a:r>
              <a:rPr lang="en-US" sz="3000" dirty="0"/>
              <a:t>and Property </a:t>
            </a:r>
            <a:r>
              <a:rPr lang="en-US" sz="3000" dirty="0" smtClean="0"/>
              <a:t>Rights (2 </a:t>
            </a:r>
            <a:r>
              <a:rPr lang="en-US" sz="3000" dirty="0">
                <a:cs typeface="Calibri" panose="020F0502020204030204" pitchFamily="34" charset="0"/>
              </a:rPr>
              <a:t>of</a:t>
            </a:r>
            <a:r>
              <a:rPr lang="en-US" sz="3000" dirty="0" smtClean="0"/>
              <a:t> </a:t>
            </a:r>
            <a:r>
              <a:rPr lang="en-US" sz="3000" dirty="0"/>
              <a:t>7)</a:t>
            </a:r>
          </a:p>
        </p:txBody>
      </p:sp>
      <p:sp>
        <p:nvSpPr>
          <p:cNvPr id="6" name="Text Placeholder 5"/>
          <p:cNvSpPr>
            <a:spLocks noGrp="1"/>
          </p:cNvSpPr>
          <p:nvPr>
            <p:ph type="body" sz="quarter" idx="13"/>
          </p:nvPr>
        </p:nvSpPr>
        <p:spPr>
          <a:xfrm>
            <a:off x="457200" y="1351091"/>
            <a:ext cx="8229600" cy="931024"/>
          </a:xfrm>
        </p:spPr>
        <p:txBody>
          <a:bodyPr>
            <a:spAutoFit/>
          </a:bodyPr>
          <a:lstStyle/>
          <a:p>
            <a:pPr>
              <a:spcBef>
                <a:spcPts val="1500"/>
              </a:spcBef>
              <a:buClrTx/>
            </a:pPr>
            <a:r>
              <a:rPr lang="en-US" dirty="0"/>
              <a:t>Bargaining and Economic </a:t>
            </a:r>
            <a:r>
              <a:rPr lang="en-US" dirty="0" smtClean="0"/>
              <a:t>Efficien</a:t>
            </a:r>
            <a:r>
              <a:rPr lang="en-US" dirty="0">
                <a:solidFill>
                  <a:prstClr val="black"/>
                </a:solidFill>
              </a:rPr>
              <a:t>cy</a:t>
            </a:r>
          </a:p>
          <a:p>
            <a:pPr lvl="0">
              <a:spcBef>
                <a:spcPts val="1500"/>
              </a:spcBef>
              <a:buClrTx/>
            </a:pPr>
            <a:r>
              <a:rPr lang="en-US" b="0" dirty="0">
                <a:solidFill>
                  <a:prstClr val="black"/>
                </a:solidFill>
              </a:rPr>
              <a:t>Economic</a:t>
            </a:r>
            <a:r>
              <a:rPr lang="en-US" dirty="0">
                <a:solidFill>
                  <a:prstClr val="black"/>
                </a:solidFill>
              </a:rPr>
              <a:t> </a:t>
            </a:r>
            <a:r>
              <a:rPr lang="en-US" b="0" dirty="0">
                <a:solidFill>
                  <a:prstClr val="black"/>
                </a:solidFill>
              </a:rPr>
              <a:t>efficiency can be achieved without government intervention when the externality affects relatively few parties and when property rights are well specified</a:t>
            </a:r>
            <a:r>
              <a:rPr lang="en-US" b="0" dirty="0" smtClean="0">
                <a:solidFill>
                  <a:prstClr val="black"/>
                </a:solidFill>
              </a:rPr>
              <a:t>.</a:t>
            </a:r>
            <a:endParaRPr lang="en-US" b="0" dirty="0" smtClean="0"/>
          </a:p>
        </p:txBody>
      </p:sp>
      <p:sp>
        <p:nvSpPr>
          <p:cNvPr id="8" name="Content Placeholder 7"/>
          <p:cNvSpPr>
            <a:spLocks noGrp="1"/>
          </p:cNvSpPr>
          <p:nvPr>
            <p:ph sz="quarter" idx="14"/>
          </p:nvPr>
        </p:nvSpPr>
        <p:spPr>
          <a:xfrm>
            <a:off x="1159668" y="2590800"/>
            <a:ext cx="6443663" cy="222826"/>
          </a:xfrm>
        </p:spPr>
        <p:txBody>
          <a:bodyPr wrap="square">
            <a:spAutoFit/>
          </a:bodyPr>
          <a:lstStyle/>
          <a:p>
            <a:pPr marL="0" indent="0">
              <a:spcBef>
                <a:spcPts val="0"/>
              </a:spcBef>
              <a:buClrTx/>
              <a:buNone/>
            </a:pPr>
            <a:r>
              <a:rPr lang="en-US" b="1" dirty="0">
                <a:solidFill>
                  <a:prstClr val="black"/>
                </a:solidFill>
                <a:latin typeface="Arial (Body)"/>
              </a:rPr>
              <a:t>TABLE 18.4: PROFITS UNDER ALTERNATIVE EMISSIONS CHOICES (DAILY)</a:t>
            </a:r>
          </a:p>
        </p:txBody>
      </p:sp>
      <p:graphicFrame>
        <p:nvGraphicFramePr>
          <p:cNvPr id="9" name="Table Placeholder 8"/>
          <p:cNvGraphicFramePr>
            <a:graphicFrameLocks noGrp="1"/>
          </p:cNvGraphicFramePr>
          <p:nvPr>
            <p:ph type="tbl" sz="quarter" idx="17"/>
            <p:extLst>
              <p:ext uri="{D42A27DB-BD31-4B8C-83A1-F6EECF244321}">
                <p14:modId xmlns:p14="http://schemas.microsoft.com/office/powerpoint/2010/main" val="4233651002"/>
              </p:ext>
            </p:extLst>
          </p:nvPr>
        </p:nvGraphicFramePr>
        <p:xfrm>
          <a:off x="1142999" y="2862990"/>
          <a:ext cx="6477001" cy="1556610"/>
        </p:xfrm>
        <a:graphic>
          <a:graphicData uri="http://schemas.openxmlformats.org/drawingml/2006/table">
            <a:tbl>
              <a:tblPr firstRow="1" bandRow="1">
                <a:tableStyleId>{5C22544A-7EE6-4342-B048-85BDC9FD1C3A}</a:tableStyleId>
              </a:tblPr>
              <a:tblGrid>
                <a:gridCol w="2203516">
                  <a:extLst>
                    <a:ext uri="{9D8B030D-6E8A-4147-A177-3AD203B41FA5}">
                      <a16:colId xmlns:a16="http://schemas.microsoft.com/office/drawing/2014/main" xmlns="" val="20000"/>
                    </a:ext>
                  </a:extLst>
                </a:gridCol>
                <a:gridCol w="1402237">
                  <a:extLst>
                    <a:ext uri="{9D8B030D-6E8A-4147-A177-3AD203B41FA5}">
                      <a16:colId xmlns:a16="http://schemas.microsoft.com/office/drawing/2014/main" xmlns="" val="20002"/>
                    </a:ext>
                  </a:extLst>
                </a:gridCol>
                <a:gridCol w="1669330">
                  <a:extLst>
                    <a:ext uri="{9D8B030D-6E8A-4147-A177-3AD203B41FA5}">
                      <a16:colId xmlns:a16="http://schemas.microsoft.com/office/drawing/2014/main" xmlns="" val="20003"/>
                    </a:ext>
                  </a:extLst>
                </a:gridCol>
                <a:gridCol w="1201918">
                  <a:extLst>
                    <a:ext uri="{9D8B030D-6E8A-4147-A177-3AD203B41FA5}">
                      <a16:colId xmlns:a16="http://schemas.microsoft.com/office/drawing/2014/main" xmlns="" val="20004"/>
                    </a:ext>
                  </a:extLst>
                </a:gridCol>
              </a:tblGrid>
              <a:tr h="534485">
                <a:tc>
                  <a:txBody>
                    <a:bodyPr/>
                    <a:lstStyle/>
                    <a:p>
                      <a:pPr algn="ctr"/>
                      <a:r>
                        <a:rPr lang="en-US" sz="1000" b="1" dirty="0" smtClean="0">
                          <a:solidFill>
                            <a:schemeClr val="tx1"/>
                          </a:solidFill>
                          <a:latin typeface="+mn-lt"/>
                        </a:rPr>
                        <a:t>Blank Cell</a:t>
                      </a:r>
                      <a:endParaRPr lang="en-US" sz="1000" b="1" dirty="0">
                        <a:solidFill>
                          <a:schemeClr val="tx1"/>
                        </a:solidFill>
                        <a:latin typeface="+mn-lt"/>
                      </a:endParaRPr>
                    </a:p>
                  </a:txBody>
                  <a:tcPr marL="76357" marR="76357" marT="38171" marB="38171" anchor="ctr">
                    <a:lnL w="19050" cap="flat" cmpd="sng" algn="ctr">
                      <a:solidFill>
                        <a:srgbClr val="369047"/>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lnTlToBr w="12700" cmpd="sng">
                      <a:noFill/>
                      <a:prstDash val="solid"/>
                    </a:lnTlToBr>
                    <a:lnBlToTr w="12700" cmpd="sng">
                      <a:noFill/>
                      <a:prstDash val="solid"/>
                    </a:lnBlToTr>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i="0" dirty="0">
                          <a:solidFill>
                            <a:schemeClr val="tx1"/>
                          </a:solidFill>
                          <a:latin typeface="+mn-lt"/>
                        </a:rPr>
                        <a:t>FACTORY’S PROFIT</a:t>
                      </a:r>
                      <a:br>
                        <a:rPr lang="en-US" sz="1000" b="1" i="0" dirty="0">
                          <a:solidFill>
                            <a:schemeClr val="tx1"/>
                          </a:solidFill>
                          <a:latin typeface="+mn-lt"/>
                        </a:rPr>
                      </a:br>
                      <a:r>
                        <a:rPr lang="en-US" sz="1000" b="1" i="0" dirty="0">
                          <a:solidFill>
                            <a:schemeClr val="tx1"/>
                          </a:solidFill>
                          <a:latin typeface="+mn-lt"/>
                        </a:rPr>
                        <a:t>($)</a:t>
                      </a:r>
                    </a:p>
                  </a:txBody>
                  <a:tcPr marL="76357" marR="76357" marT="38171" marB="38171"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algn="ctr"/>
                      <a:r>
                        <a:rPr lang="en-US" sz="1000" b="1" i="0" dirty="0">
                          <a:solidFill>
                            <a:schemeClr val="tx1"/>
                          </a:solidFill>
                          <a:latin typeface="+mn-lt"/>
                        </a:rPr>
                        <a:t>FISHERMEN’S</a:t>
                      </a:r>
                      <a:br>
                        <a:rPr lang="en-US" sz="1000" b="1" i="0" dirty="0">
                          <a:solidFill>
                            <a:schemeClr val="tx1"/>
                          </a:solidFill>
                          <a:latin typeface="+mn-lt"/>
                        </a:rPr>
                      </a:br>
                      <a:r>
                        <a:rPr lang="en-US" sz="1000" b="1" i="0" dirty="0">
                          <a:solidFill>
                            <a:schemeClr val="tx1"/>
                          </a:solidFill>
                          <a:latin typeface="+mn-lt"/>
                        </a:rPr>
                        <a:t>PROFIT</a:t>
                      </a:r>
                      <a:br>
                        <a:rPr lang="en-US" sz="1000" b="1" i="0" dirty="0">
                          <a:solidFill>
                            <a:schemeClr val="tx1"/>
                          </a:solidFill>
                          <a:latin typeface="+mn-lt"/>
                        </a:rPr>
                      </a:br>
                      <a:r>
                        <a:rPr lang="en-US" sz="1000" b="1" i="0" dirty="0">
                          <a:solidFill>
                            <a:schemeClr val="tx1"/>
                          </a:solidFill>
                          <a:latin typeface="+mn-lt"/>
                        </a:rPr>
                        <a:t>($)</a:t>
                      </a:r>
                      <a:endParaRPr lang="en-US" sz="1000" b="1" i="0" baseline="-25000" dirty="0">
                        <a:solidFill>
                          <a:schemeClr val="tx1"/>
                        </a:solidFill>
                        <a:latin typeface="+mn-lt"/>
                      </a:endParaRPr>
                    </a:p>
                  </a:txBody>
                  <a:tcPr marL="76357" marR="76357" marT="38171" marB="38171"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tx1"/>
                          </a:solidFill>
                          <a:latin typeface="+mn-lt"/>
                        </a:rPr>
                        <a:t>TOTAL</a:t>
                      </a:r>
                      <a:br>
                        <a:rPr lang="en-US" sz="1000" b="1" dirty="0">
                          <a:solidFill>
                            <a:schemeClr val="tx1"/>
                          </a:solidFill>
                          <a:latin typeface="+mn-lt"/>
                        </a:rPr>
                      </a:br>
                      <a:r>
                        <a:rPr lang="en-US" sz="1000" b="1" dirty="0">
                          <a:solidFill>
                            <a:schemeClr val="tx1"/>
                          </a:solidFill>
                          <a:latin typeface="+mn-lt"/>
                        </a:rPr>
                        <a:t>PROFIT</a:t>
                      </a:r>
                      <a:br>
                        <a:rPr lang="en-US" sz="1000" b="1" dirty="0">
                          <a:solidFill>
                            <a:schemeClr val="tx1"/>
                          </a:solidFill>
                          <a:latin typeface="+mn-lt"/>
                        </a:rPr>
                      </a:br>
                      <a:r>
                        <a:rPr lang="en-US" sz="1000" b="1" dirty="0">
                          <a:solidFill>
                            <a:schemeClr val="tx1"/>
                          </a:solidFill>
                          <a:latin typeface="+mn-lt"/>
                        </a:rPr>
                        <a:t>($)</a:t>
                      </a:r>
                    </a:p>
                  </a:txBody>
                  <a:tcPr marL="76357" marR="76357" marT="38171" marB="38171" anchor="ctr">
                    <a:lnL w="19050" cap="flat" cmpd="sng" algn="ctr">
                      <a:solidFill>
                        <a:srgbClr val="C5ECB9"/>
                      </a:solidFill>
                      <a:prstDash val="solid"/>
                      <a:round/>
                      <a:headEnd type="none" w="med" len="med"/>
                      <a:tailEnd type="none" w="med" len="med"/>
                    </a:lnL>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extLst>
                  <a:ext uri="{0D108BD9-81ED-4DB2-BD59-A6C34878D82A}">
                    <a16:rowId xmlns:a16="http://schemas.microsoft.com/office/drawing/2014/main" xmlns="" val="10001"/>
                  </a:ext>
                </a:extLst>
              </a:tr>
              <a:tr h="255872">
                <a:tc>
                  <a:txBody>
                    <a:bodyPr/>
                    <a:lstStyle/>
                    <a:p>
                      <a:pPr algn="l"/>
                      <a:r>
                        <a:rPr lang="en-US" sz="1000" dirty="0">
                          <a:solidFill>
                            <a:schemeClr val="tx1"/>
                          </a:solidFill>
                          <a:latin typeface="+mn-lt"/>
                        </a:rPr>
                        <a:t>No filter, no treatment plant</a:t>
                      </a:r>
                    </a:p>
                  </a:txBody>
                  <a:tcPr marL="76357" marR="76357" marT="38171" marB="38171"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b="0" dirty="0">
                          <a:solidFill>
                            <a:schemeClr val="tx1"/>
                          </a:solidFill>
                          <a:latin typeface="+mn-lt"/>
                        </a:rPr>
                        <a:t>500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b="0" dirty="0">
                          <a:solidFill>
                            <a:schemeClr val="tx1"/>
                          </a:solidFill>
                          <a:latin typeface="+mn-lt"/>
                        </a:rPr>
                        <a:t>100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b="0" dirty="0">
                          <a:solidFill>
                            <a:schemeClr val="tx1"/>
                          </a:solidFill>
                          <a:latin typeface="+mn-lt"/>
                        </a:rPr>
                        <a:t>600</a:t>
                      </a:r>
                    </a:p>
                  </a:txBody>
                  <a:tcPr marL="76357" marR="76357" marT="38171" marB="3817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255872">
                <a:tc>
                  <a:txBody>
                    <a:bodyPr/>
                    <a:lstStyle/>
                    <a:p>
                      <a:pPr algn="l"/>
                      <a:r>
                        <a:rPr lang="en-US" sz="1000" dirty="0">
                          <a:solidFill>
                            <a:schemeClr val="tx1"/>
                          </a:solidFill>
                          <a:latin typeface="+mn-lt"/>
                        </a:rPr>
                        <a:t>Filter, no treatment plant</a:t>
                      </a:r>
                    </a:p>
                  </a:txBody>
                  <a:tcPr marL="76357" marR="76357" marT="38171" marB="38171"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300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500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800</a:t>
                      </a:r>
                    </a:p>
                  </a:txBody>
                  <a:tcPr marL="76357" marR="76357" marT="38171" marB="3817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255872">
                <a:tc>
                  <a:txBody>
                    <a:bodyPr/>
                    <a:lstStyle/>
                    <a:p>
                      <a:pPr algn="l"/>
                      <a:r>
                        <a:rPr lang="en-US" sz="1000" dirty="0">
                          <a:solidFill>
                            <a:schemeClr val="tx1"/>
                          </a:solidFill>
                          <a:latin typeface="+mn-lt"/>
                        </a:rPr>
                        <a:t>No filter, treatment plant</a:t>
                      </a:r>
                    </a:p>
                  </a:txBody>
                  <a:tcPr marL="76357" marR="76357" marT="38171" marB="38171"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500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200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700</a:t>
                      </a:r>
                    </a:p>
                  </a:txBody>
                  <a:tcPr marL="76357" marR="76357" marT="38171" marB="3817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254509">
                <a:tc>
                  <a:txBody>
                    <a:bodyPr/>
                    <a:lstStyle/>
                    <a:p>
                      <a:pPr algn="l"/>
                      <a:r>
                        <a:rPr lang="en-US" sz="1000" dirty="0">
                          <a:solidFill>
                            <a:schemeClr val="tx1"/>
                          </a:solidFill>
                          <a:latin typeface="+mn-lt"/>
                        </a:rPr>
                        <a:t>Filter,</a:t>
                      </a:r>
                      <a:r>
                        <a:rPr lang="en-US" sz="1000" baseline="0" dirty="0">
                          <a:solidFill>
                            <a:schemeClr val="tx1"/>
                          </a:solidFill>
                          <a:latin typeface="+mn-lt"/>
                        </a:rPr>
                        <a:t> treatment plant</a:t>
                      </a:r>
                      <a:endParaRPr lang="en-US" sz="1000" dirty="0">
                        <a:solidFill>
                          <a:schemeClr val="tx1"/>
                        </a:solidFill>
                        <a:latin typeface="+mn-lt"/>
                      </a:endParaRPr>
                    </a:p>
                  </a:txBody>
                  <a:tcPr marL="76357" marR="76357" marT="38171" marB="38171"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mn-lt"/>
                        </a:rPr>
                        <a:t>300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mn-lt"/>
                        </a:rPr>
                        <a:t>300</a:t>
                      </a:r>
                    </a:p>
                  </a:txBody>
                  <a:tcPr marL="76357" marR="76357" marT="38171" marB="38171"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000" dirty="0">
                          <a:solidFill>
                            <a:schemeClr val="tx1"/>
                          </a:solidFill>
                          <a:latin typeface="+mn-lt"/>
                        </a:rPr>
                        <a:t>600</a:t>
                      </a:r>
                    </a:p>
                  </a:txBody>
                  <a:tcPr marL="76357" marR="76357" marT="38171" marB="38171"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bl>
          </a:graphicData>
        </a:graphic>
      </p:graphicFrame>
      <p:sp>
        <p:nvSpPr>
          <p:cNvPr id="4" name="Content Placeholder 3"/>
          <p:cNvSpPr>
            <a:spLocks noGrp="1"/>
          </p:cNvSpPr>
          <p:nvPr>
            <p:ph sz="quarter" idx="16"/>
          </p:nvPr>
        </p:nvSpPr>
        <p:spPr>
          <a:xfrm>
            <a:off x="457200" y="4690532"/>
            <a:ext cx="8229600" cy="1423467"/>
          </a:xfrm>
        </p:spPr>
        <p:txBody>
          <a:bodyPr>
            <a:spAutoFit/>
          </a:bodyPr>
          <a:lstStyle/>
          <a:p>
            <a:pPr marL="0" indent="0">
              <a:buClrTx/>
              <a:buNone/>
            </a:pPr>
            <a:r>
              <a:rPr lang="en-US" sz="1600" dirty="0">
                <a:solidFill>
                  <a:prstClr val="black"/>
                </a:solidFill>
              </a:rPr>
              <a:t>As Table 18.4 shows, the factory can install a filter system to reduce its effluent, or the fishermen can pay for the installation of a water treatment plant. The efficient solution maximizes the joint profit of the factory and the fishermen</a:t>
            </a:r>
            <a:r>
              <a:rPr lang="en-US" sz="1600" dirty="0" smtClean="0">
                <a:solidFill>
                  <a:prstClr val="black"/>
                </a:solidFill>
              </a:rPr>
              <a:t>.</a:t>
            </a:r>
            <a:endParaRPr lang="en-US" sz="1600" dirty="0">
              <a:solidFill>
                <a:prstClr val="black"/>
              </a:solidFill>
            </a:endParaRPr>
          </a:p>
          <a:p>
            <a:pPr marL="0" indent="0">
              <a:buClrTx/>
              <a:buNone/>
            </a:pPr>
            <a:r>
              <a:rPr lang="en-US" sz="1600" dirty="0">
                <a:solidFill>
                  <a:prstClr val="black"/>
                </a:solidFill>
              </a:rPr>
              <a:t>Maximization occurs when the factory installs a filter and the fishermen do not build a treatment plant.</a:t>
            </a:r>
          </a:p>
        </p:txBody>
      </p:sp>
    </p:spTree>
    <p:extLst>
      <p:ext uri="{BB962C8B-B14F-4D97-AF65-F5344CB8AC3E}">
        <p14:creationId xmlns:p14="http://schemas.microsoft.com/office/powerpoint/2010/main" val="28047580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924"/>
            <a:ext cx="8229600" cy="461665"/>
          </a:xfrm>
        </p:spPr>
        <p:txBody>
          <a:bodyPr vert="horz" lIns="0" tIns="0" rIns="0" bIns="0" rtlCol="0" anchor="b">
            <a:spAutoFit/>
          </a:bodyPr>
          <a:lstStyle/>
          <a:p>
            <a:pPr marL="857250" indent="-857250"/>
            <a:r>
              <a:rPr lang="en-US" sz="3000" dirty="0"/>
              <a:t>18.4 Externalities and Property Rights (3 of 7)</a:t>
            </a:r>
          </a:p>
        </p:txBody>
      </p:sp>
      <p:sp>
        <p:nvSpPr>
          <p:cNvPr id="6" name="Text Placeholder 5"/>
          <p:cNvSpPr>
            <a:spLocks noGrp="1"/>
          </p:cNvSpPr>
          <p:nvPr>
            <p:ph type="body" sz="quarter" idx="13"/>
          </p:nvPr>
        </p:nvSpPr>
        <p:spPr>
          <a:xfrm>
            <a:off x="457200" y="1356384"/>
            <a:ext cx="5791200" cy="234291"/>
          </a:xfrm>
        </p:spPr>
        <p:txBody>
          <a:bodyPr/>
          <a:lstStyle/>
          <a:p>
            <a:pPr>
              <a:buClrTx/>
            </a:pPr>
            <a:r>
              <a:rPr lang="en-US" sz="1400" dirty="0">
                <a:solidFill>
                  <a:prstClr val="black"/>
                </a:solidFill>
                <a:latin typeface="Arial (Body)"/>
              </a:rPr>
              <a:t>TABLE 18.5: BARGAINING WITH ALTERNATIVE PROPERTY RIGHTS</a:t>
            </a:r>
          </a:p>
        </p:txBody>
      </p:sp>
      <p:graphicFrame>
        <p:nvGraphicFramePr>
          <p:cNvPr id="7" name="Table Placeholder 6"/>
          <p:cNvGraphicFramePr>
            <a:graphicFrameLocks noGrp="1"/>
          </p:cNvGraphicFramePr>
          <p:nvPr>
            <p:ph type="tbl" sz="quarter" idx="17"/>
            <p:extLst>
              <p:ext uri="{D42A27DB-BD31-4B8C-83A1-F6EECF244321}">
                <p14:modId xmlns:p14="http://schemas.microsoft.com/office/powerpoint/2010/main" val="3846736750"/>
              </p:ext>
            </p:extLst>
          </p:nvPr>
        </p:nvGraphicFramePr>
        <p:xfrm>
          <a:off x="685800" y="1952625"/>
          <a:ext cx="6477000" cy="1762723"/>
        </p:xfrm>
        <a:graphic>
          <a:graphicData uri="http://schemas.openxmlformats.org/drawingml/2006/table">
            <a:tbl>
              <a:tblPr firstRow="1" bandRow="1">
                <a:tableStyleId>{5C22544A-7EE6-4342-B048-85BDC9FD1C3A}</a:tableStyleId>
              </a:tblPr>
              <a:tblGrid>
                <a:gridCol w="2575192">
                  <a:extLst>
                    <a:ext uri="{9D8B030D-6E8A-4147-A177-3AD203B41FA5}">
                      <a16:colId xmlns:mc="http://schemas.openxmlformats.org/markup-compatibility/2006" xmlns:a14="http://schemas.microsoft.com/office/drawing/2010/main" xmlns:a16="http://schemas.microsoft.com/office/drawing/2014/main" xmlns="" val="20000"/>
                    </a:ext>
                  </a:extLst>
                </a:gridCol>
                <a:gridCol w="1638759">
                  <a:extLst>
                    <a:ext uri="{9D8B030D-6E8A-4147-A177-3AD203B41FA5}">
                      <a16:colId xmlns:mc="http://schemas.openxmlformats.org/markup-compatibility/2006" xmlns:a14="http://schemas.microsoft.com/office/drawing/2010/main" xmlns:a16="http://schemas.microsoft.com/office/drawing/2014/main" xmlns="" val="20002"/>
                    </a:ext>
                  </a:extLst>
                </a:gridCol>
                <a:gridCol w="2263049">
                  <a:extLst>
                    <a:ext uri="{9D8B030D-6E8A-4147-A177-3AD203B41FA5}">
                      <a16:colId xmlns:mc="http://schemas.openxmlformats.org/markup-compatibility/2006" xmlns:a14="http://schemas.microsoft.com/office/drawing/2010/main" xmlns:a16="http://schemas.microsoft.com/office/drawing/2014/main" xmlns="" val="20003"/>
                    </a:ext>
                  </a:extLst>
                </a:gridCol>
              </a:tblGrid>
              <a:tr h="401621">
                <a:tc>
                  <a:txBody>
                    <a:bodyPr/>
                    <a:lstStyle/>
                    <a:p>
                      <a:pPr algn="l"/>
                      <a:r>
                        <a:rPr lang="en-US" sz="1100" b="1" i="0" kern="1200" dirty="0">
                          <a:solidFill>
                            <a:schemeClr val="tx1"/>
                          </a:solidFill>
                          <a:latin typeface="+mn-lt"/>
                          <a:ea typeface="+mn-ea"/>
                          <a:cs typeface="+mn-cs"/>
                        </a:rPr>
                        <a:t>NO COOPERATION</a:t>
                      </a:r>
                    </a:p>
                  </a:txBody>
                  <a:tcPr marL="55085" marR="55085" marT="39102" marB="39102" anchor="ctr">
                    <a:lnL w="19050" cap="flat" cmpd="sng" algn="ctr">
                      <a:solidFill>
                        <a:srgbClr val="369047"/>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lnTlToBr w="12700" cmpd="sng">
                      <a:noFill/>
                      <a:prstDash val="solid"/>
                    </a:lnTlToBr>
                    <a:lnBlToTr w="12700" cmpd="sng">
                      <a:noFill/>
                      <a:prstDash val="solid"/>
                    </a:lnBlToTr>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a:solidFill>
                            <a:schemeClr val="tx1"/>
                          </a:solidFill>
                          <a:latin typeface="+mn-lt"/>
                        </a:rPr>
                        <a:t>RIGHT TO DUMP ($)</a:t>
                      </a:r>
                    </a:p>
                  </a:txBody>
                  <a:tcPr marL="55085" marR="55085" marT="39102" marB="39102"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algn="ctr"/>
                      <a:r>
                        <a:rPr lang="en-US" sz="1100" b="1" i="0" dirty="0">
                          <a:solidFill>
                            <a:schemeClr val="tx1"/>
                          </a:solidFill>
                          <a:latin typeface="+mn-lt"/>
                        </a:rPr>
                        <a:t>RIGHT TO CLEAN WATER ($)</a:t>
                      </a:r>
                      <a:endParaRPr lang="en-US" sz="1100" b="1" i="0" baseline="-25000" dirty="0">
                        <a:solidFill>
                          <a:schemeClr val="tx1"/>
                        </a:solidFill>
                        <a:latin typeface="+mn-lt"/>
                      </a:endParaRPr>
                    </a:p>
                  </a:txBody>
                  <a:tcPr marL="55085" marR="55085" marT="39102" marB="39102" anchor="ctr">
                    <a:lnL w="19050" cap="flat" cmpd="sng" algn="ctr">
                      <a:solidFill>
                        <a:srgbClr val="C5ECB9"/>
                      </a:solidFill>
                      <a:prstDash val="solid"/>
                      <a:round/>
                      <a:headEnd type="none" w="med" len="med"/>
                      <a:tailEnd type="none" w="med" len="med"/>
                    </a:lnL>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extLst>
                  <a:ext uri="{0D108BD9-81ED-4DB2-BD59-A6C34878D82A}">
                    <a16:rowId xmlns:mc="http://schemas.openxmlformats.org/markup-compatibility/2006" xmlns:a14="http://schemas.microsoft.com/office/drawing/2010/main" xmlns:a16="http://schemas.microsoft.com/office/drawing/2014/main" xmlns="" val="10001"/>
                  </a:ext>
                </a:extLst>
              </a:tr>
              <a:tr h="262114">
                <a:tc>
                  <a:txBody>
                    <a:bodyPr/>
                    <a:lstStyle/>
                    <a:p>
                      <a:pPr algn="l"/>
                      <a:r>
                        <a:rPr lang="en-US" sz="1100" i="0" dirty="0">
                          <a:solidFill>
                            <a:schemeClr val="tx1"/>
                          </a:solidFill>
                          <a:latin typeface="+mn-lt"/>
                        </a:rPr>
                        <a:t>Profit</a:t>
                      </a:r>
                      <a:r>
                        <a:rPr lang="en-US" sz="1100" i="0" baseline="0" dirty="0">
                          <a:solidFill>
                            <a:schemeClr val="tx1"/>
                          </a:solidFill>
                          <a:latin typeface="+mn-lt"/>
                        </a:rPr>
                        <a:t> of factory</a:t>
                      </a:r>
                      <a:endParaRPr lang="en-US" sz="1100" i="0" dirty="0">
                        <a:solidFill>
                          <a:schemeClr val="tx1"/>
                        </a:solidFill>
                        <a:latin typeface="+mn-lt"/>
                      </a:endParaRPr>
                    </a:p>
                  </a:txBody>
                  <a:tcPr marL="55085" marR="55085" marT="39102" marB="3910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i="0" dirty="0">
                          <a:solidFill>
                            <a:schemeClr val="tx1"/>
                          </a:solidFill>
                          <a:latin typeface="+mn-lt"/>
                        </a:rPr>
                        <a:t>500</a:t>
                      </a:r>
                    </a:p>
                  </a:txBody>
                  <a:tcPr marL="55085" marR="55085" marT="39102" marB="3910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b="0" i="0" dirty="0">
                          <a:solidFill>
                            <a:schemeClr val="tx1"/>
                          </a:solidFill>
                          <a:latin typeface="+mn-lt"/>
                        </a:rPr>
                        <a:t>300</a:t>
                      </a:r>
                    </a:p>
                  </a:txBody>
                  <a:tcPr marL="55085" marR="55085" marT="39102" marB="3910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2"/>
                  </a:ext>
                </a:extLst>
              </a:tr>
              <a:tr h="262114">
                <a:tc>
                  <a:txBody>
                    <a:bodyPr/>
                    <a:lstStyle/>
                    <a:p>
                      <a:pPr algn="l"/>
                      <a:r>
                        <a:rPr lang="en-US" sz="1100" i="0" dirty="0">
                          <a:solidFill>
                            <a:schemeClr val="tx1"/>
                          </a:solidFill>
                          <a:latin typeface="+mn-lt"/>
                        </a:rPr>
                        <a:t>Profit of fishermen</a:t>
                      </a:r>
                    </a:p>
                  </a:txBody>
                  <a:tcPr marL="55085" marR="55085" marT="39102" marB="3910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i="0" dirty="0">
                          <a:solidFill>
                            <a:schemeClr val="tx1"/>
                          </a:solidFill>
                          <a:latin typeface="+mn-lt"/>
                        </a:rPr>
                        <a:t>200</a:t>
                      </a:r>
                    </a:p>
                  </a:txBody>
                  <a:tcPr marL="55085" marR="55085" marT="39102" marB="3910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algn="ctr"/>
                      <a:r>
                        <a:rPr lang="en-US" sz="1100" i="0" dirty="0">
                          <a:solidFill>
                            <a:schemeClr val="tx1"/>
                          </a:solidFill>
                          <a:latin typeface="+mn-lt"/>
                        </a:rPr>
                        <a:t>500</a:t>
                      </a:r>
                    </a:p>
                  </a:txBody>
                  <a:tcPr marL="55085" marR="55085" marT="39102" marB="3910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3"/>
                  </a:ext>
                </a:extLst>
              </a:tr>
              <a:tr h="312646">
                <a:tc>
                  <a:txBody>
                    <a:bodyPr/>
                    <a:lstStyle/>
                    <a:p>
                      <a:pPr algn="l"/>
                      <a:r>
                        <a:rPr lang="en-US" sz="1100" b="1" i="0" dirty="0">
                          <a:solidFill>
                            <a:schemeClr val="tx1"/>
                          </a:solidFill>
                          <a:latin typeface="+mn-lt"/>
                        </a:rPr>
                        <a:t>COOPERATION</a:t>
                      </a:r>
                    </a:p>
                  </a:txBody>
                  <a:tcPr marL="55085" marR="55085" marT="39102" marB="39102" anchor="ctr">
                    <a:lnL w="19050" cap="flat" cmpd="sng" algn="ctr">
                      <a:solidFill>
                        <a:srgbClr val="369047"/>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RIGHT TO DUMP ($)</a:t>
                      </a:r>
                    </a:p>
                  </a:txBody>
                  <a:tcPr marL="55085" marR="55085" marT="39102" marB="39102" anchor="ctr">
                    <a:lnL w="19050" cap="flat" cmpd="sng" algn="ctr">
                      <a:solidFill>
                        <a:srgbClr val="C5ECB9"/>
                      </a:solidFill>
                      <a:prstDash val="solid"/>
                      <a:round/>
                      <a:headEnd type="none" w="med" len="med"/>
                      <a:tailEnd type="none" w="med" len="med"/>
                    </a:lnL>
                    <a:lnR w="19050" cap="flat" cmpd="sng" algn="ctr">
                      <a:solidFill>
                        <a:srgbClr val="C5ECB9"/>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1" i="0" dirty="0" smtClean="0">
                          <a:solidFill>
                            <a:schemeClr val="tx1"/>
                          </a:solidFill>
                          <a:latin typeface="+mn-lt"/>
                        </a:rPr>
                        <a:t>RIGHT TO CLEAN WATER ($)</a:t>
                      </a:r>
                      <a:endParaRPr lang="en-US" sz="1100" b="1" i="0" baseline="-25000" dirty="0" smtClean="0">
                        <a:solidFill>
                          <a:schemeClr val="tx1"/>
                        </a:solidFill>
                        <a:latin typeface="+mn-lt"/>
                      </a:endParaRPr>
                    </a:p>
                  </a:txBody>
                  <a:tcPr marL="55085" marR="55085" marT="39102" marB="39102" anchor="ctr">
                    <a:lnL w="19050" cap="flat" cmpd="sng" algn="ctr">
                      <a:solidFill>
                        <a:srgbClr val="C5ECB9"/>
                      </a:solidFill>
                      <a:prstDash val="solid"/>
                      <a:round/>
                      <a:headEnd type="none" w="med" len="med"/>
                      <a:tailEnd type="none" w="med" len="med"/>
                    </a:lnL>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rgbClr val="C5ECB9"/>
                    </a:solidFill>
                  </a:tcPr>
                </a:tc>
                <a:extLst>
                  <a:ext uri="{0D108BD9-81ED-4DB2-BD59-A6C34878D82A}">
                    <a16:rowId xmlns:mc="http://schemas.openxmlformats.org/markup-compatibility/2006" xmlns:a14="http://schemas.microsoft.com/office/drawing/2010/main" xmlns:a16="http://schemas.microsoft.com/office/drawing/2014/main" xmlns="" val="10004"/>
                  </a:ext>
                </a:extLst>
              </a:tr>
              <a:tr h="262114">
                <a:tc>
                  <a:txBody>
                    <a:bodyPr/>
                    <a:lstStyle/>
                    <a:p>
                      <a:pPr algn="l"/>
                      <a:r>
                        <a:rPr lang="en-US" sz="1100" i="0" dirty="0">
                          <a:solidFill>
                            <a:schemeClr val="tx1"/>
                          </a:solidFill>
                          <a:latin typeface="+mn-lt"/>
                        </a:rPr>
                        <a:t>Profit</a:t>
                      </a:r>
                      <a:r>
                        <a:rPr lang="en-US" sz="1100" i="0" baseline="0" dirty="0">
                          <a:solidFill>
                            <a:schemeClr val="tx1"/>
                          </a:solidFill>
                          <a:latin typeface="+mn-lt"/>
                        </a:rPr>
                        <a:t> of factory</a:t>
                      </a:r>
                      <a:endParaRPr lang="en-US" sz="1100" i="0" dirty="0">
                        <a:solidFill>
                          <a:schemeClr val="tx1"/>
                        </a:solidFill>
                        <a:latin typeface="+mn-lt"/>
                      </a:endParaRPr>
                    </a:p>
                  </a:txBody>
                  <a:tcPr marL="55085" marR="55085" marT="39102" marB="3910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b="0" i="0" kern="1200" dirty="0" smtClean="0">
                          <a:solidFill>
                            <a:schemeClr val="tx1"/>
                          </a:solidFill>
                          <a:latin typeface="+mn-lt"/>
                          <a:ea typeface="+mn-ea"/>
                          <a:cs typeface="+mn-cs"/>
                        </a:rPr>
                        <a:t>Blank Cell</a:t>
                      </a:r>
                      <a:endParaRPr lang="en-US" sz="1100" b="0" i="0" kern="1200" dirty="0">
                        <a:solidFill>
                          <a:schemeClr val="tx1"/>
                        </a:solidFill>
                        <a:latin typeface="+mn-lt"/>
                        <a:ea typeface="+mn-ea"/>
                        <a:cs typeface="+mn-cs"/>
                      </a:endParaRPr>
                    </a:p>
                  </a:txBody>
                  <a:tcPr marL="55085" marR="55085" marT="39102" marB="3910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i="0" dirty="0" smtClean="0">
                          <a:solidFill>
                            <a:schemeClr val="tx1"/>
                          </a:solidFill>
                          <a:latin typeface="+mn-lt"/>
                        </a:rPr>
                        <a:t>Blank Cell</a:t>
                      </a:r>
                      <a:endParaRPr lang="en-US" sz="1100" i="0" dirty="0">
                        <a:solidFill>
                          <a:schemeClr val="tx1"/>
                        </a:solidFill>
                        <a:latin typeface="+mn-lt"/>
                      </a:endParaRPr>
                    </a:p>
                  </a:txBody>
                  <a:tcPr marL="55085" marR="55085" marT="39102" marB="3910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5"/>
                  </a:ext>
                </a:extLst>
              </a:tr>
              <a:tr h="262114">
                <a:tc>
                  <a:txBody>
                    <a:bodyPr/>
                    <a:lstStyle/>
                    <a:p>
                      <a:pPr algn="l"/>
                      <a:r>
                        <a:rPr lang="en-US" sz="1100" i="0" dirty="0">
                          <a:solidFill>
                            <a:schemeClr val="tx1"/>
                          </a:solidFill>
                          <a:latin typeface="+mn-lt"/>
                        </a:rPr>
                        <a:t>Profit of fishermen</a:t>
                      </a:r>
                    </a:p>
                  </a:txBody>
                  <a:tcPr marL="55085" marR="55085" marT="39102" marB="39102" anchor="ctr">
                    <a:lnL w="19050" cap="flat" cmpd="sng" algn="ctr">
                      <a:solidFill>
                        <a:srgbClr val="369047"/>
                      </a:solidFill>
                      <a:prstDash val="solid"/>
                      <a:round/>
                      <a:headEnd type="none" w="med" len="med"/>
                      <a:tailEnd type="none" w="med" len="med"/>
                    </a:lnL>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i="0" dirty="0">
                          <a:solidFill>
                            <a:schemeClr val="tx1"/>
                          </a:solidFill>
                          <a:latin typeface="+mn-lt"/>
                        </a:rPr>
                        <a:t>250</a:t>
                      </a:r>
                    </a:p>
                  </a:txBody>
                  <a:tcPr marL="55085" marR="55085" marT="39102" marB="39102" anchor="ct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i="0" dirty="0">
                          <a:solidFill>
                            <a:schemeClr val="tx1"/>
                          </a:solidFill>
                          <a:latin typeface="+mn-lt"/>
                        </a:rPr>
                        <a:t>500</a:t>
                      </a:r>
                    </a:p>
                  </a:txBody>
                  <a:tcPr marL="55085" marR="55085" marT="39102" marB="39102" anchor="ctr">
                    <a:lnR w="19050" cap="flat" cmpd="sng" algn="ctr">
                      <a:solidFill>
                        <a:srgbClr val="369047"/>
                      </a:solidFill>
                      <a:prstDash val="solid"/>
                      <a:round/>
                      <a:headEnd type="none" w="med" len="med"/>
                      <a:tailEnd type="none" w="med" len="med"/>
                    </a:lnR>
                    <a:lnT w="19050" cap="flat" cmpd="sng" algn="ctr">
                      <a:solidFill>
                        <a:srgbClr val="369047"/>
                      </a:solidFill>
                      <a:prstDash val="solid"/>
                      <a:round/>
                      <a:headEnd type="none" w="med" len="med"/>
                      <a:tailEnd type="none" w="med" len="med"/>
                    </a:lnT>
                    <a:lnB w="19050" cap="flat" cmpd="sng" algn="ctr">
                      <a:solidFill>
                        <a:srgbClr val="369047"/>
                      </a:solidFill>
                      <a:prstDash val="solid"/>
                      <a:round/>
                      <a:headEnd type="none" w="med" len="med"/>
                      <a:tailEnd type="none" w="med" len="med"/>
                    </a:lnB>
                    <a:solidFill>
                      <a:schemeClr val="bg1"/>
                    </a:solidFill>
                  </a:tcPr>
                </a:tc>
                <a:extLst>
                  <a:ext uri="{0D108BD9-81ED-4DB2-BD59-A6C34878D82A}">
                    <a16:rowId xmlns:mc="http://schemas.openxmlformats.org/markup-compatibility/2006" xmlns:a14="http://schemas.microsoft.com/office/drawing/2010/main" xmlns:a16="http://schemas.microsoft.com/office/drawing/2014/main" xmlns="" val="10006"/>
                  </a:ext>
                </a:extLst>
              </a:tr>
            </a:tbl>
          </a:graphicData>
        </a:graphic>
      </p:graphicFrame>
      <p:sp>
        <p:nvSpPr>
          <p:cNvPr id="9" name="Content Placeholder 8"/>
          <p:cNvSpPr>
            <a:spLocks noGrp="1"/>
          </p:cNvSpPr>
          <p:nvPr>
            <p:ph sz="quarter" idx="14"/>
          </p:nvPr>
        </p:nvSpPr>
        <p:spPr>
          <a:xfrm>
            <a:off x="457200" y="4053802"/>
            <a:ext cx="8153400" cy="2108873"/>
          </a:xfrm>
        </p:spPr>
        <p:txBody>
          <a:bodyPr/>
          <a:lstStyle/>
          <a:p>
            <a:pPr marL="0" indent="0">
              <a:buClrTx/>
              <a:buNone/>
            </a:pPr>
            <a:r>
              <a:rPr lang="en-US" dirty="0"/>
              <a:t>Without cooperation, the fishermen earn a profit of $200 and the factory $500. With cooperation, the profit of both increases by $50</a:t>
            </a:r>
            <a:r>
              <a:rPr lang="en-US" dirty="0">
                <a:solidFill>
                  <a:prstClr val="black"/>
                </a:solidFill>
              </a:rPr>
              <a:t>.</a:t>
            </a:r>
          </a:p>
          <a:p>
            <a:pPr marL="0" indent="0">
              <a:buClrTx/>
              <a:buNone/>
            </a:pPr>
            <a:r>
              <a:rPr lang="en-US" dirty="0">
                <a:solidFill>
                  <a:prstClr val="black"/>
                </a:solidFill>
              </a:rPr>
              <a:t>If </a:t>
            </a:r>
            <a:r>
              <a:rPr lang="en-US" dirty="0"/>
              <a:t>the fishermen are given the property right to clean water, which requires the factory to install the filter. The factory earns a profit of $300 and the fishermen $500. Because neither party can be made better </a:t>
            </a:r>
            <a:br>
              <a:rPr lang="en-US" dirty="0"/>
            </a:br>
            <a:r>
              <a:rPr lang="en-US" dirty="0"/>
              <a:t>off by bargaining, having the factory install the filter is efficient. This analysis applies to all situations in which property rights are well specified</a:t>
            </a:r>
            <a:r>
              <a:rPr lang="en-US" dirty="0">
                <a:solidFill>
                  <a:prstClr val="black"/>
                </a:solidFill>
              </a:rPr>
              <a:t>.</a:t>
            </a:r>
          </a:p>
          <a:p>
            <a:pPr marL="0" indent="0">
              <a:buClrTx/>
              <a:buNone/>
              <a:tabLst>
                <a:tab pos="2111375" algn="l"/>
              </a:tabLst>
            </a:pPr>
            <a:r>
              <a:rPr lang="en-US" b="1" dirty="0">
                <a:solidFill>
                  <a:prstClr val="black"/>
                </a:solidFill>
              </a:rPr>
              <a:t>Coase</a:t>
            </a:r>
            <a:r>
              <a:rPr lang="en-US" dirty="0">
                <a:solidFill>
                  <a:prstClr val="black"/>
                </a:solidFill>
              </a:rPr>
              <a:t> </a:t>
            </a:r>
            <a:r>
              <a:rPr lang="en-US" b="1" dirty="0"/>
              <a:t>theorem </a:t>
            </a:r>
            <a:r>
              <a:rPr lang="en-US" dirty="0"/>
              <a:t>Principle that when parties can bargain without cost and to their mutual advantage, the resulting outcome will be efficient regardless of how property rights are specified</a:t>
            </a:r>
            <a:r>
              <a:rPr lang="en-US" dirty="0" smtClean="0"/>
              <a:t>.</a:t>
            </a:r>
            <a:endParaRPr lang="en-US" dirty="0"/>
          </a:p>
        </p:txBody>
      </p:sp>
    </p:spTree>
    <p:extLst>
      <p:ext uri="{BB962C8B-B14F-4D97-AF65-F5344CB8AC3E}">
        <p14:creationId xmlns:p14="http://schemas.microsoft.com/office/powerpoint/2010/main" val="39489494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18.4 </a:t>
            </a:r>
            <a:r>
              <a:rPr lang="en-US" sz="3000" dirty="0" smtClean="0"/>
              <a:t>Externalities </a:t>
            </a:r>
            <a:r>
              <a:rPr lang="en-US" sz="3000" dirty="0"/>
              <a:t>and Property </a:t>
            </a:r>
            <a:r>
              <a:rPr lang="en-US" sz="3000" dirty="0" smtClean="0"/>
              <a:t>Rights (4 </a:t>
            </a:r>
            <a:r>
              <a:rPr lang="en-US" sz="3000" dirty="0">
                <a:cs typeface="Calibri" panose="020F0502020204030204" pitchFamily="34" charset="0"/>
              </a:rPr>
              <a:t>of</a:t>
            </a:r>
            <a:r>
              <a:rPr lang="en-US" sz="3000" dirty="0" smtClean="0"/>
              <a:t> </a:t>
            </a:r>
            <a:r>
              <a:rPr lang="en-US" sz="3000" dirty="0"/>
              <a:t>7)</a:t>
            </a:r>
          </a:p>
        </p:txBody>
      </p:sp>
      <p:sp>
        <p:nvSpPr>
          <p:cNvPr id="4" name="Content Placeholder 3"/>
          <p:cNvSpPr>
            <a:spLocks noGrp="1"/>
          </p:cNvSpPr>
          <p:nvPr>
            <p:ph idx="1"/>
          </p:nvPr>
        </p:nvSpPr>
        <p:spPr>
          <a:xfrm>
            <a:off x="457200" y="1600200"/>
            <a:ext cx="8229600" cy="4270400"/>
          </a:xfrm>
        </p:spPr>
        <p:txBody>
          <a:bodyPr>
            <a:spAutoFit/>
          </a:bodyPr>
          <a:lstStyle/>
          <a:p>
            <a:pPr marL="0" indent="0">
              <a:buClrTx/>
              <a:buSzTx/>
              <a:buNone/>
            </a:pPr>
            <a:r>
              <a:rPr lang="en-US" sz="1600" b="1" dirty="0"/>
              <a:t>Costly Bargaining—The Role of Strategic </a:t>
            </a:r>
            <a:r>
              <a:rPr lang="en-US" sz="1600" b="1" dirty="0" smtClean="0"/>
              <a:t>Behavio</a:t>
            </a:r>
            <a:r>
              <a:rPr lang="en-US" sz="1600" b="1" dirty="0" smtClean="0">
                <a:solidFill>
                  <a:prstClr val="black"/>
                </a:solidFill>
              </a:rPr>
              <a:t>r</a:t>
            </a:r>
            <a:endParaRPr lang="en-US" sz="1600" b="1" dirty="0">
              <a:solidFill>
                <a:prstClr val="black"/>
              </a:solidFill>
            </a:endParaRPr>
          </a:p>
          <a:p>
            <a:pPr marL="0" indent="0">
              <a:buClrTx/>
              <a:buSzTx/>
              <a:buNone/>
            </a:pPr>
            <a:r>
              <a:rPr lang="en-US" sz="1600" dirty="0">
                <a:solidFill>
                  <a:prstClr val="black"/>
                </a:solidFill>
              </a:rPr>
              <a:t>Bargaining </a:t>
            </a:r>
            <a:r>
              <a:rPr lang="en-US" sz="1600" dirty="0"/>
              <a:t>can be time-consuming and costly, especially when property rights are not clearly specified. In that case, neither party is sure how hard to bargain before the other party will agree to a settlement. In our example, both parties knew that the bargaining process had to settle on a payment between $200 and $300. If the parties are unsure of the property rights, however, the fishermen might be willing to pay only $100, and the bargaining process would bre</a:t>
            </a:r>
            <a:r>
              <a:rPr lang="en-US" sz="1600" dirty="0">
                <a:solidFill>
                  <a:prstClr val="black"/>
                </a:solidFill>
              </a:rPr>
              <a:t>ak down</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Bargaining </a:t>
            </a:r>
            <a:r>
              <a:rPr lang="en-US" sz="1600" dirty="0"/>
              <a:t>can break down even when communication and monitoring are costless if both parties believe they can obtain larger gains. For example, one party might demand a large share and refuse to bargain, assuming incorrectly that the other party will eventually conced</a:t>
            </a:r>
            <a:r>
              <a:rPr lang="en-US" sz="1600" dirty="0">
                <a:solidFill>
                  <a:prstClr val="black"/>
                </a:solidFill>
              </a:rPr>
              <a:t>e. </a:t>
            </a:r>
          </a:p>
          <a:p>
            <a:pPr marL="0" indent="0">
              <a:buClrTx/>
              <a:buSzTx/>
              <a:buNone/>
            </a:pPr>
            <a:r>
              <a:rPr lang="en-US" sz="1600" dirty="0">
                <a:solidFill>
                  <a:prstClr val="black"/>
                </a:solidFill>
              </a:rPr>
              <a:t>A</a:t>
            </a:r>
            <a:r>
              <a:rPr lang="en-US" sz="1600" dirty="0" smtClean="0"/>
              <a:t>nother </a:t>
            </a:r>
            <a:r>
              <a:rPr lang="en-US" sz="1600" dirty="0"/>
              <a:t>problem arises when many parties are involved. Suppose, for example, that the emissions from a factory are adversely affecting hundreds or thousands of households who live downstream. In that case, the costs of bargaining will make it very difficult for the parties to reach a settlement.</a:t>
            </a:r>
          </a:p>
        </p:txBody>
      </p:sp>
    </p:spTree>
    <p:extLst>
      <p:ext uri="{BB962C8B-B14F-4D97-AF65-F5344CB8AC3E}">
        <p14:creationId xmlns:p14="http://schemas.microsoft.com/office/powerpoint/2010/main" val="12265462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18.4 </a:t>
            </a:r>
            <a:r>
              <a:rPr lang="en-US" sz="3000" dirty="0" smtClean="0"/>
              <a:t>Externalities </a:t>
            </a:r>
            <a:r>
              <a:rPr lang="en-US" sz="3000" dirty="0"/>
              <a:t>and Property </a:t>
            </a:r>
            <a:r>
              <a:rPr lang="en-US" sz="3000" dirty="0" smtClean="0"/>
              <a:t>Rights (5 </a:t>
            </a:r>
            <a:r>
              <a:rPr lang="en-US" sz="3000" dirty="0">
                <a:cs typeface="Calibri" panose="020F0502020204030204" pitchFamily="34" charset="0"/>
              </a:rPr>
              <a:t>of</a:t>
            </a:r>
            <a:r>
              <a:rPr lang="en-US" sz="3000" dirty="0" smtClean="0"/>
              <a:t> </a:t>
            </a:r>
            <a:r>
              <a:rPr lang="en-US" sz="3000" dirty="0"/>
              <a:t>7)</a:t>
            </a:r>
          </a:p>
        </p:txBody>
      </p:sp>
      <p:sp>
        <p:nvSpPr>
          <p:cNvPr id="4" name="Content Placeholder 3"/>
          <p:cNvSpPr>
            <a:spLocks noGrp="1"/>
          </p:cNvSpPr>
          <p:nvPr>
            <p:ph idx="1"/>
          </p:nvPr>
        </p:nvSpPr>
        <p:spPr>
          <a:xfrm>
            <a:off x="457200" y="1600200"/>
            <a:ext cx="8229600" cy="3339376"/>
          </a:xfrm>
        </p:spPr>
        <p:txBody>
          <a:bodyPr>
            <a:spAutoFit/>
          </a:bodyPr>
          <a:lstStyle/>
          <a:p>
            <a:pPr marL="0" indent="0">
              <a:buClrTx/>
              <a:buSzTx/>
              <a:buNone/>
            </a:pPr>
            <a:r>
              <a:rPr lang="en-US" sz="1600" b="1" dirty="0"/>
              <a:t>A Legal Solution—Suing for </a:t>
            </a:r>
            <a:r>
              <a:rPr lang="en-US" sz="1600" b="1" dirty="0" smtClean="0"/>
              <a:t>Damage</a:t>
            </a:r>
            <a:r>
              <a:rPr lang="en-US" sz="1600" b="1" dirty="0" smtClean="0">
                <a:solidFill>
                  <a:prstClr val="black"/>
                </a:solidFill>
              </a:rPr>
              <a:t>s</a:t>
            </a:r>
            <a:endParaRPr lang="en-US" sz="1600" b="1" dirty="0">
              <a:solidFill>
                <a:prstClr val="black"/>
              </a:solidFill>
            </a:endParaRPr>
          </a:p>
          <a:p>
            <a:pPr marL="0" indent="0">
              <a:buClrTx/>
              <a:buSzTx/>
              <a:buNone/>
            </a:pPr>
            <a:r>
              <a:rPr lang="en-US" sz="1600" dirty="0">
                <a:solidFill>
                  <a:prstClr val="black"/>
                </a:solidFill>
              </a:rPr>
              <a:t>To see how the potential for a lawsuit can lead to an efficient outcome, let’s reexamine </a:t>
            </a:r>
            <a:r>
              <a:rPr lang="en-US" sz="1600" dirty="0" smtClean="0">
                <a:solidFill>
                  <a:prstClr val="black"/>
                </a:solidFill>
              </a:rPr>
              <a:t/>
            </a:r>
            <a:br>
              <a:rPr lang="en-US" sz="1600" dirty="0" smtClean="0">
                <a:solidFill>
                  <a:prstClr val="black"/>
                </a:solidFill>
              </a:rPr>
            </a:br>
            <a:r>
              <a:rPr lang="en-US" sz="1600" dirty="0" smtClean="0">
                <a:solidFill>
                  <a:prstClr val="black"/>
                </a:solidFill>
              </a:rPr>
              <a:t>our </a:t>
            </a:r>
            <a:r>
              <a:rPr lang="en-US" sz="1600" dirty="0">
                <a:solidFill>
                  <a:prstClr val="black"/>
                </a:solidFill>
              </a:rPr>
              <a:t>fishermen–factory example. Suppose first that the fishermen are given the right to </a:t>
            </a:r>
            <a:r>
              <a:rPr lang="en-US" sz="1600" dirty="0" smtClean="0">
                <a:solidFill>
                  <a:prstClr val="black"/>
                </a:solidFill>
              </a:rPr>
              <a:t/>
            </a:r>
            <a:br>
              <a:rPr lang="en-US" sz="1600" dirty="0" smtClean="0">
                <a:solidFill>
                  <a:prstClr val="black"/>
                </a:solidFill>
              </a:rPr>
            </a:br>
            <a:r>
              <a:rPr lang="en-US" sz="1600" dirty="0" smtClean="0">
                <a:solidFill>
                  <a:prstClr val="black"/>
                </a:solidFill>
              </a:rPr>
              <a:t>clean </a:t>
            </a:r>
            <a:r>
              <a:rPr lang="en-US" sz="1600" dirty="0">
                <a:solidFill>
                  <a:prstClr val="black"/>
                </a:solidFill>
              </a:rPr>
              <a:t>water. The factory, in other words, is responsible for harm to the fishermen </a:t>
            </a:r>
            <a:r>
              <a:rPr lang="en-US" sz="1600" i="1" dirty="0">
                <a:solidFill>
                  <a:prstClr val="black"/>
                </a:solidFill>
              </a:rPr>
              <a:t>if </a:t>
            </a:r>
            <a:r>
              <a:rPr lang="en-US" sz="1600" dirty="0">
                <a:solidFill>
                  <a:prstClr val="black"/>
                </a:solidFill>
              </a:rPr>
              <a:t>it does not install a filter. The harm to the fishermen in this case is $400: the difference between the profit that the fishermen make when there is no effluent ($500) and their profit when there is effluent ($100). </a:t>
            </a:r>
          </a:p>
          <a:p>
            <a:pPr marL="0" indent="0">
              <a:buClrTx/>
              <a:buSzTx/>
              <a:buNone/>
            </a:pPr>
            <a:r>
              <a:rPr lang="en-US" sz="1600" dirty="0">
                <a:solidFill>
                  <a:prstClr val="black"/>
                </a:solidFill>
              </a:rPr>
              <a:t>The factory has the following options</a:t>
            </a:r>
            <a:r>
              <a:rPr lang="en-US" sz="1600" dirty="0" smtClean="0">
                <a:solidFill>
                  <a:prstClr val="black"/>
                </a:solidFill>
              </a:rPr>
              <a:t>:</a:t>
            </a:r>
            <a:endParaRPr lang="en-US" sz="1600" dirty="0">
              <a:solidFill>
                <a:prstClr val="black"/>
              </a:solidFill>
            </a:endParaRPr>
          </a:p>
          <a:p>
            <a:pPr marL="228600" lvl="1" indent="-228600">
              <a:lnSpc>
                <a:spcPct val="200000"/>
              </a:lnSpc>
              <a:spcBef>
                <a:spcPts val="0"/>
              </a:spcBef>
              <a:buClr>
                <a:schemeClr val="bg2"/>
              </a:buClr>
              <a:buFont typeface="+mj-lt"/>
              <a:buAutoNum type="arabicPeriod"/>
            </a:pPr>
            <a:r>
              <a:rPr lang="en-US" sz="1600" dirty="0" smtClean="0">
                <a:solidFill>
                  <a:prstClr val="black"/>
                </a:solidFill>
              </a:rPr>
              <a:t>Do </a:t>
            </a:r>
            <a:r>
              <a:rPr lang="en-US" sz="1600" dirty="0">
                <a:solidFill>
                  <a:prstClr val="black"/>
                </a:solidFill>
              </a:rPr>
              <a:t>not install filter, pay damages: Profit = $100 ($500 - $400</a:t>
            </a:r>
            <a:r>
              <a:rPr lang="en-US" sz="1600" dirty="0" smtClean="0">
                <a:solidFill>
                  <a:prstClr val="black"/>
                </a:solidFill>
              </a:rPr>
              <a:t>)</a:t>
            </a:r>
            <a:endParaRPr lang="en-US" sz="1600" dirty="0">
              <a:solidFill>
                <a:prstClr val="black"/>
              </a:solidFill>
            </a:endParaRPr>
          </a:p>
          <a:p>
            <a:pPr marL="228600" lvl="1" indent="-228600">
              <a:lnSpc>
                <a:spcPct val="200000"/>
              </a:lnSpc>
              <a:spcBef>
                <a:spcPts val="0"/>
              </a:spcBef>
              <a:buClr>
                <a:schemeClr val="bg2"/>
              </a:buClr>
              <a:buFont typeface="+mj-lt"/>
              <a:buAutoNum type="arabicPeriod"/>
            </a:pPr>
            <a:r>
              <a:rPr lang="en-US" sz="1600" dirty="0" smtClean="0">
                <a:solidFill>
                  <a:prstClr val="black"/>
                </a:solidFill>
              </a:rPr>
              <a:t>Install </a:t>
            </a:r>
            <a:r>
              <a:rPr lang="en-US" sz="1600" dirty="0">
                <a:solidFill>
                  <a:prstClr val="black"/>
                </a:solidFill>
              </a:rPr>
              <a:t>filter, avoid damages: Profit = $300 ($500 - $200</a:t>
            </a:r>
            <a:r>
              <a:rPr lang="en-US" sz="1600" dirty="0" smtClean="0">
                <a:solidFill>
                  <a:prstClr val="black"/>
                </a:solidFill>
              </a:rPr>
              <a:t>)</a:t>
            </a:r>
            <a:endParaRPr lang="en-US" sz="1600" dirty="0">
              <a:solidFill>
                <a:prstClr val="black"/>
              </a:solidFill>
            </a:endParaRPr>
          </a:p>
        </p:txBody>
      </p:sp>
      <p:sp>
        <p:nvSpPr>
          <p:cNvPr id="3" name="Content Placeholder 2"/>
          <p:cNvSpPr>
            <a:spLocks noGrp="1"/>
          </p:cNvSpPr>
          <p:nvPr>
            <p:ph idx="13"/>
          </p:nvPr>
        </p:nvSpPr>
        <p:spPr>
          <a:xfrm>
            <a:off x="457200" y="5117782"/>
            <a:ext cx="8229600" cy="492443"/>
          </a:xfrm>
        </p:spPr>
        <p:txBody>
          <a:bodyPr>
            <a:spAutoFit/>
          </a:bodyPr>
          <a:lstStyle/>
          <a:p>
            <a:pPr marL="0" lvl="0" indent="0">
              <a:buNone/>
            </a:pPr>
            <a:r>
              <a:rPr lang="en-US" sz="1600" dirty="0">
                <a:solidFill>
                  <a:prstClr val="black"/>
                </a:solidFill>
              </a:rPr>
              <a:t>The factory will find it advantageous to install a filter, which is substantially cheaper than paying damages, and the efficient outcome will be achieved</a:t>
            </a:r>
            <a:r>
              <a:rPr lang="en-US" sz="1600" dirty="0" smtClean="0">
                <a:solidFill>
                  <a:prstClr val="black"/>
                </a:solidFill>
              </a:rPr>
              <a:t>.</a:t>
            </a:r>
            <a:endParaRPr lang="en-US" sz="1600" dirty="0"/>
          </a:p>
        </p:txBody>
      </p:sp>
    </p:spTree>
    <p:extLst>
      <p:ext uri="{BB962C8B-B14F-4D97-AF65-F5344CB8AC3E}">
        <p14:creationId xmlns:p14="http://schemas.microsoft.com/office/powerpoint/2010/main" val="5255905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18.4 </a:t>
            </a:r>
            <a:r>
              <a:rPr lang="en-US" sz="3000" dirty="0" smtClean="0"/>
              <a:t>Externalities </a:t>
            </a:r>
            <a:r>
              <a:rPr lang="en-US" sz="3000" dirty="0"/>
              <a:t>and Property </a:t>
            </a:r>
            <a:r>
              <a:rPr lang="en-US" sz="3000" dirty="0" smtClean="0"/>
              <a:t>Rights (6 </a:t>
            </a:r>
            <a:r>
              <a:rPr lang="en-US" sz="3000" dirty="0">
                <a:cs typeface="Calibri" panose="020F0502020204030204" pitchFamily="34" charset="0"/>
              </a:rPr>
              <a:t>of</a:t>
            </a:r>
            <a:r>
              <a:rPr lang="en-US" sz="3000" dirty="0" smtClean="0"/>
              <a:t> </a:t>
            </a:r>
            <a:r>
              <a:rPr lang="en-US" sz="3000" dirty="0"/>
              <a:t>7)</a:t>
            </a:r>
          </a:p>
        </p:txBody>
      </p:sp>
      <p:sp>
        <p:nvSpPr>
          <p:cNvPr id="4" name="Content Placeholder 3"/>
          <p:cNvSpPr>
            <a:spLocks noGrp="1"/>
          </p:cNvSpPr>
          <p:nvPr>
            <p:ph idx="1"/>
          </p:nvPr>
        </p:nvSpPr>
        <p:spPr>
          <a:xfrm>
            <a:off x="457200" y="1600200"/>
            <a:ext cx="8229600" cy="3403496"/>
          </a:xfrm>
        </p:spPr>
        <p:txBody>
          <a:bodyPr>
            <a:spAutoFit/>
          </a:bodyPr>
          <a:lstStyle/>
          <a:p>
            <a:pPr marL="0" lvl="0" indent="0">
              <a:buClrTx/>
              <a:buSzTx/>
              <a:buNone/>
            </a:pPr>
            <a:r>
              <a:rPr lang="en-US" sz="1600" dirty="0">
                <a:solidFill>
                  <a:prstClr val="black"/>
                </a:solidFill>
              </a:rPr>
              <a:t>An efficient outcome (with a different division of profits) will also </a:t>
            </a:r>
            <a:r>
              <a:rPr lang="en-US" sz="1600" dirty="0" smtClean="0">
                <a:solidFill>
                  <a:prstClr val="black"/>
                </a:solidFill>
              </a:rPr>
              <a:t>be achieved </a:t>
            </a:r>
            <a:r>
              <a:rPr lang="en-US" sz="1600" dirty="0">
                <a:solidFill>
                  <a:prstClr val="black"/>
                </a:solidFill>
              </a:rPr>
              <a:t>if the factory is given the property right to emit effluent. </a:t>
            </a:r>
            <a:r>
              <a:rPr lang="en-US" sz="1600" dirty="0" smtClean="0">
                <a:solidFill>
                  <a:prstClr val="black"/>
                </a:solidFill>
              </a:rPr>
              <a:t>Under the </a:t>
            </a:r>
            <a:r>
              <a:rPr lang="en-US" sz="1600" dirty="0">
                <a:solidFill>
                  <a:prstClr val="black"/>
                </a:solidFill>
              </a:rPr>
              <a:t>law, the fishermen would have the legal right to require the factory to install the filter, but they would have to pay the factory for its $200 lost profit (not for the cost of the filter). </a:t>
            </a:r>
          </a:p>
          <a:p>
            <a:pPr marL="0" lvl="0" indent="0">
              <a:buClrTx/>
              <a:buSzTx/>
              <a:buNone/>
            </a:pPr>
            <a:r>
              <a:rPr lang="en-US" sz="1600" dirty="0" smtClean="0">
                <a:solidFill>
                  <a:prstClr val="black"/>
                </a:solidFill>
              </a:rPr>
              <a:t>This </a:t>
            </a:r>
            <a:r>
              <a:rPr lang="en-US" sz="1600" dirty="0">
                <a:solidFill>
                  <a:prstClr val="black"/>
                </a:solidFill>
              </a:rPr>
              <a:t>leaves the fishermen with three options</a:t>
            </a:r>
            <a:r>
              <a:rPr lang="en-US" sz="1600" dirty="0" smtClean="0">
                <a:solidFill>
                  <a:prstClr val="black"/>
                </a:solidFill>
              </a:rPr>
              <a:t>:</a:t>
            </a:r>
          </a:p>
          <a:p>
            <a:pPr marL="228600" lvl="1" indent="-228600">
              <a:spcBef>
                <a:spcPts val="500"/>
              </a:spcBef>
              <a:buClr>
                <a:schemeClr val="bg2"/>
              </a:buClr>
              <a:buFont typeface="+mj-lt"/>
              <a:buAutoNum type="arabicPeriod"/>
              <a:tabLst>
                <a:tab pos="3603625" algn="l"/>
              </a:tabLst>
            </a:pPr>
            <a:r>
              <a:rPr lang="en-US" sz="1600" dirty="0" smtClean="0">
                <a:solidFill>
                  <a:prstClr val="black"/>
                </a:solidFill>
              </a:rPr>
              <a:t>Put </a:t>
            </a:r>
            <a:r>
              <a:rPr lang="en-US" sz="1600" dirty="0">
                <a:solidFill>
                  <a:prstClr val="black"/>
                </a:solidFill>
              </a:rPr>
              <a:t>in a treatment </a:t>
            </a:r>
            <a:r>
              <a:rPr lang="en-US" sz="1600" dirty="0" smtClean="0">
                <a:solidFill>
                  <a:prstClr val="black"/>
                </a:solidFill>
              </a:rPr>
              <a:t>plant:             Profit </a:t>
            </a:r>
            <a:r>
              <a:rPr lang="en-US" sz="1600" dirty="0">
                <a:solidFill>
                  <a:prstClr val="black"/>
                </a:solidFill>
              </a:rPr>
              <a:t>= $200</a:t>
            </a:r>
          </a:p>
          <a:p>
            <a:pPr marL="228600" lvl="1" indent="-228600">
              <a:spcBef>
                <a:spcPts val="500"/>
              </a:spcBef>
              <a:buClr>
                <a:schemeClr val="bg2"/>
              </a:buClr>
              <a:buFont typeface="+mj-lt"/>
              <a:buAutoNum type="arabicPeriod"/>
              <a:tabLst>
                <a:tab pos="3603625" algn="l"/>
              </a:tabLst>
            </a:pPr>
            <a:endParaRPr lang="en-US" sz="1600" dirty="0">
              <a:solidFill>
                <a:prstClr val="black"/>
              </a:solidFill>
            </a:endParaRPr>
          </a:p>
          <a:p>
            <a:pPr marL="228600" lvl="1" indent="-228600">
              <a:spcBef>
                <a:spcPts val="500"/>
              </a:spcBef>
              <a:buClr>
                <a:schemeClr val="bg2"/>
              </a:buClr>
              <a:buFont typeface="+mj-lt"/>
              <a:buAutoNum type="arabicPeriod"/>
            </a:pPr>
            <a:r>
              <a:rPr lang="en-US" sz="1600" dirty="0" smtClean="0">
                <a:solidFill>
                  <a:prstClr val="black"/>
                </a:solidFill>
              </a:rPr>
              <a:t>Have </a:t>
            </a:r>
            <a:r>
              <a:rPr lang="en-US" sz="1600" dirty="0">
                <a:solidFill>
                  <a:prstClr val="black"/>
                </a:solidFill>
              </a:rPr>
              <a:t>factory put in a filter</a:t>
            </a:r>
            <a:br>
              <a:rPr lang="en-US" sz="1600" dirty="0">
                <a:solidFill>
                  <a:prstClr val="black"/>
                </a:solidFill>
              </a:rPr>
            </a:br>
            <a:r>
              <a:rPr lang="en-US" sz="1600" dirty="0">
                <a:solidFill>
                  <a:prstClr val="black"/>
                </a:solidFill>
              </a:rPr>
              <a:t> </a:t>
            </a:r>
            <a:r>
              <a:rPr lang="en-US" sz="1600" dirty="0" smtClean="0">
                <a:solidFill>
                  <a:prstClr val="black"/>
                </a:solidFill>
              </a:rPr>
              <a:t>but </a:t>
            </a:r>
            <a:r>
              <a:rPr lang="en-US" sz="1600" dirty="0">
                <a:solidFill>
                  <a:prstClr val="black"/>
                </a:solidFill>
              </a:rPr>
              <a:t>pay damages: 	</a:t>
            </a:r>
            <a:r>
              <a:rPr lang="en-US" sz="1600" dirty="0" smtClean="0">
                <a:solidFill>
                  <a:prstClr val="black"/>
                </a:solidFill>
              </a:rPr>
              <a:t>       Profit </a:t>
            </a:r>
            <a:r>
              <a:rPr lang="en-US" sz="1600" dirty="0">
                <a:solidFill>
                  <a:prstClr val="black"/>
                </a:solidFill>
              </a:rPr>
              <a:t>= $300 ($500 - $200)</a:t>
            </a:r>
          </a:p>
          <a:p>
            <a:pPr marL="228600" lvl="1" indent="-228600">
              <a:spcBef>
                <a:spcPts val="500"/>
              </a:spcBef>
              <a:buClr>
                <a:schemeClr val="bg2"/>
              </a:buClr>
              <a:buFont typeface="+mj-lt"/>
              <a:buAutoNum type="arabicPeriod"/>
              <a:tabLst>
                <a:tab pos="3603625" algn="l"/>
              </a:tabLst>
            </a:pPr>
            <a:endParaRPr lang="en-US" sz="1600" dirty="0">
              <a:solidFill>
                <a:prstClr val="black"/>
              </a:solidFill>
            </a:endParaRPr>
          </a:p>
          <a:p>
            <a:pPr marL="228600" lvl="1" indent="-228600">
              <a:spcBef>
                <a:spcPts val="0"/>
              </a:spcBef>
              <a:buClr>
                <a:schemeClr val="bg2"/>
              </a:buClr>
              <a:buFont typeface="+mj-lt"/>
              <a:buAutoNum type="arabicPeriod"/>
            </a:pPr>
            <a:r>
              <a:rPr lang="en-US" sz="1600" dirty="0" smtClean="0">
                <a:solidFill>
                  <a:prstClr val="black"/>
                </a:solidFill>
              </a:rPr>
              <a:t>Do </a:t>
            </a:r>
            <a:r>
              <a:rPr lang="en-US" sz="1600" dirty="0">
                <a:solidFill>
                  <a:prstClr val="black"/>
                </a:solidFill>
              </a:rPr>
              <a:t>not put in treatment </a:t>
            </a:r>
          </a:p>
          <a:p>
            <a:pPr marL="0" lvl="1" indent="0">
              <a:spcBef>
                <a:spcPts val="0"/>
              </a:spcBef>
              <a:buClr>
                <a:schemeClr val="bg2"/>
              </a:buClr>
              <a:buNone/>
            </a:pPr>
            <a:r>
              <a:rPr lang="en-US" sz="1600" dirty="0" smtClean="0">
                <a:solidFill>
                  <a:prstClr val="black"/>
                </a:solidFill>
              </a:rPr>
              <a:t>     plant </a:t>
            </a:r>
            <a:r>
              <a:rPr lang="en-US" sz="1600" dirty="0">
                <a:solidFill>
                  <a:prstClr val="black"/>
                </a:solidFill>
              </a:rPr>
              <a:t>or require a filter:	</a:t>
            </a:r>
            <a:r>
              <a:rPr lang="en-US" sz="1600" dirty="0" smtClean="0">
                <a:solidFill>
                  <a:prstClr val="black"/>
                </a:solidFill>
              </a:rPr>
              <a:t>       Profit </a:t>
            </a:r>
            <a:r>
              <a:rPr lang="en-US" sz="1600" dirty="0">
                <a:solidFill>
                  <a:prstClr val="black"/>
                </a:solidFill>
              </a:rPr>
              <a:t>= $100</a:t>
            </a:r>
          </a:p>
        </p:txBody>
      </p:sp>
    </p:spTree>
    <p:extLst>
      <p:ext uri="{BB962C8B-B14F-4D97-AF65-F5344CB8AC3E}">
        <p14:creationId xmlns:p14="http://schemas.microsoft.com/office/powerpoint/2010/main" val="1232924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61665"/>
          </a:xfrm>
        </p:spPr>
        <p:txBody>
          <a:bodyPr>
            <a:spAutoFit/>
          </a:bodyPr>
          <a:lstStyle/>
          <a:p>
            <a:pPr marL="857250" indent="-857250"/>
            <a:r>
              <a:rPr lang="en-US" sz="3000" dirty="0"/>
              <a:t>18.4 </a:t>
            </a:r>
            <a:r>
              <a:rPr lang="en-US" sz="3000" dirty="0" smtClean="0"/>
              <a:t>Externalities </a:t>
            </a:r>
            <a:r>
              <a:rPr lang="en-US" sz="3000" dirty="0"/>
              <a:t>and Property </a:t>
            </a:r>
            <a:r>
              <a:rPr lang="en-US" sz="3000" dirty="0" smtClean="0"/>
              <a:t>Rights (7 </a:t>
            </a:r>
            <a:r>
              <a:rPr lang="en-US" sz="3000" dirty="0">
                <a:cs typeface="Calibri" panose="020F0502020204030204" pitchFamily="34" charset="0"/>
              </a:rPr>
              <a:t>of</a:t>
            </a:r>
            <a:r>
              <a:rPr lang="en-US" sz="3000" dirty="0" smtClean="0"/>
              <a:t> 7)</a:t>
            </a:r>
            <a:endParaRPr lang="en-US" sz="3000" dirty="0"/>
          </a:p>
        </p:txBody>
      </p:sp>
      <p:sp>
        <p:nvSpPr>
          <p:cNvPr id="4" name="Content Placeholder 3"/>
          <p:cNvSpPr>
            <a:spLocks noGrp="1"/>
          </p:cNvSpPr>
          <p:nvPr>
            <p:ph idx="1"/>
          </p:nvPr>
        </p:nvSpPr>
        <p:spPr>
          <a:xfrm>
            <a:off x="457200" y="1600200"/>
            <a:ext cx="8229600" cy="2846933"/>
          </a:xfrm>
        </p:spPr>
        <p:txBody>
          <a:bodyPr>
            <a:spAutoFit/>
          </a:bodyPr>
          <a:lstStyle/>
          <a:p>
            <a:pPr marL="0" indent="0">
              <a:buClrTx/>
              <a:buSzTx/>
              <a:buNone/>
            </a:pPr>
            <a:r>
              <a:rPr lang="en-US" sz="1600" dirty="0">
                <a:solidFill>
                  <a:prstClr val="black"/>
                </a:solidFill>
              </a:rPr>
              <a:t>The fishermen earn the highest profit if they take the second option. Just as in the situation in which the fishermen had the right to clean water, this outcome is efficient because the filter has been installed. </a:t>
            </a:r>
          </a:p>
          <a:p>
            <a:pPr marL="0" indent="0">
              <a:buClrTx/>
              <a:buSzTx/>
              <a:buNone/>
            </a:pPr>
            <a:r>
              <a:rPr lang="en-US" sz="1600" dirty="0">
                <a:solidFill>
                  <a:prstClr val="black"/>
                </a:solidFill>
              </a:rPr>
              <a:t>Note, however, that the $300 profit is substantially less than the $500 profit that the fishermen get when they have a right to clean water. This example shows that a suit for damages eliminates the need for bargaining because it specifies the consequences of </a:t>
            </a:r>
            <a:r>
              <a:rPr lang="en-US" sz="1600" dirty="0" smtClean="0">
                <a:solidFill>
                  <a:prstClr val="black"/>
                </a:solidFill>
              </a:rPr>
              <a:t/>
            </a:r>
            <a:br>
              <a:rPr lang="en-US" sz="1600" dirty="0" smtClean="0">
                <a:solidFill>
                  <a:prstClr val="black"/>
                </a:solidFill>
              </a:rPr>
            </a:br>
            <a:r>
              <a:rPr lang="en-US" sz="1600" dirty="0" smtClean="0">
                <a:solidFill>
                  <a:prstClr val="black"/>
                </a:solidFill>
              </a:rPr>
              <a:t>the </a:t>
            </a:r>
            <a:r>
              <a:rPr lang="en-US" sz="1600" dirty="0">
                <a:solidFill>
                  <a:prstClr val="black"/>
                </a:solidFill>
              </a:rPr>
              <a:t>parties’ choices. (When information is imperfect, however, suing for damages may </a:t>
            </a:r>
            <a:r>
              <a:rPr lang="en-US" sz="1600" dirty="0" smtClean="0">
                <a:solidFill>
                  <a:prstClr val="black"/>
                </a:solidFill>
              </a:rPr>
              <a:t/>
            </a:r>
            <a:br>
              <a:rPr lang="en-US" sz="1600" dirty="0" smtClean="0">
                <a:solidFill>
                  <a:prstClr val="black"/>
                </a:solidFill>
              </a:rPr>
            </a:br>
            <a:r>
              <a:rPr lang="en-US" sz="1600" dirty="0" smtClean="0">
                <a:solidFill>
                  <a:prstClr val="black"/>
                </a:solidFill>
              </a:rPr>
              <a:t>lead </a:t>
            </a:r>
            <a:r>
              <a:rPr lang="en-US" sz="1600" dirty="0">
                <a:solidFill>
                  <a:prstClr val="black"/>
                </a:solidFill>
              </a:rPr>
              <a:t>to inefficient outcomes</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This example shows that a suit for damages eliminates the need for bargaining because </a:t>
            </a:r>
            <a:r>
              <a:rPr lang="en-US" sz="1600" dirty="0" smtClean="0">
                <a:solidFill>
                  <a:prstClr val="black"/>
                </a:solidFill>
              </a:rPr>
              <a:t/>
            </a:r>
            <a:br>
              <a:rPr lang="en-US" sz="1600" dirty="0" smtClean="0">
                <a:solidFill>
                  <a:prstClr val="black"/>
                </a:solidFill>
              </a:rPr>
            </a:br>
            <a:r>
              <a:rPr lang="en-US" sz="1600" dirty="0" smtClean="0">
                <a:solidFill>
                  <a:prstClr val="black"/>
                </a:solidFill>
              </a:rPr>
              <a:t>it </a:t>
            </a:r>
            <a:r>
              <a:rPr lang="en-US" sz="1600" dirty="0">
                <a:solidFill>
                  <a:prstClr val="black"/>
                </a:solidFill>
              </a:rPr>
              <a:t>specifies the consequences of the parties’ choices.</a:t>
            </a:r>
          </a:p>
        </p:txBody>
      </p:sp>
    </p:spTree>
    <p:extLst>
      <p:ext uri="{BB962C8B-B14F-4D97-AF65-F5344CB8AC3E}">
        <p14:creationId xmlns:p14="http://schemas.microsoft.com/office/powerpoint/2010/main" val="40208450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885"/>
            <a:ext cx="8229600" cy="1046440"/>
          </a:xfrm>
        </p:spPr>
        <p:txBody>
          <a:bodyPr>
            <a:spAutoFit/>
          </a:bodyPr>
          <a:lstStyle/>
          <a:p>
            <a:r>
              <a:rPr lang="en-US" dirty="0" smtClean="0"/>
              <a:t>EXAMPLE </a:t>
            </a:r>
            <a:r>
              <a:rPr lang="en-US" dirty="0"/>
              <a:t>18.5 THE COASE THEOREM AT </a:t>
            </a:r>
            <a:r>
              <a:rPr lang="en-US" dirty="0" smtClean="0"/>
              <a:t>WORK</a:t>
            </a:r>
            <a:endParaRPr lang="en-US" dirty="0"/>
          </a:p>
        </p:txBody>
      </p:sp>
      <p:sp>
        <p:nvSpPr>
          <p:cNvPr id="4" name="Content Placeholder 3"/>
          <p:cNvSpPr>
            <a:spLocks noGrp="1"/>
          </p:cNvSpPr>
          <p:nvPr>
            <p:ph idx="1"/>
          </p:nvPr>
        </p:nvSpPr>
        <p:spPr>
          <a:xfrm>
            <a:off x="457200" y="1600200"/>
            <a:ext cx="8229600" cy="3585597"/>
          </a:xfrm>
        </p:spPr>
        <p:txBody>
          <a:bodyPr>
            <a:spAutoFit/>
          </a:bodyPr>
          <a:lstStyle/>
          <a:p>
            <a:pPr marL="0" indent="0">
              <a:buClrTx/>
              <a:buSzTx/>
              <a:buNone/>
            </a:pPr>
            <a:r>
              <a:rPr lang="en-US" sz="1600" dirty="0">
                <a:solidFill>
                  <a:prstClr val="black"/>
                </a:solidFill>
              </a:rPr>
              <a:t>As a September 1987 cooperative agreement between New York City and New Jersey illustrates, the Coase theorem applies to governments as well as to people and organizations. For many years, garbage spilling from waterfront trash facilities along New York harbor had adversely affected the quality of water along the New Jersey shore and occasionally littered the beaches. </a:t>
            </a:r>
          </a:p>
          <a:p>
            <a:pPr marL="0" indent="0">
              <a:buClrTx/>
              <a:buSzTx/>
              <a:buNone/>
            </a:pPr>
            <a:r>
              <a:rPr lang="en-US" sz="1600" dirty="0">
                <a:solidFill>
                  <a:prstClr val="black"/>
                </a:solidFill>
              </a:rPr>
              <a:t>One of the worst instances occurred in August 1987, when more than 200 tons of garbage formed a 50-milelong slick off the New Jersey shore. New Jersey had the right to clean beaches and could have asked the court to grant an injunction requiring New York City to stop using its trash facilities. </a:t>
            </a:r>
          </a:p>
          <a:p>
            <a:pPr marL="0" indent="0">
              <a:buClrTx/>
              <a:buSzTx/>
              <a:buNone/>
            </a:pPr>
            <a:r>
              <a:rPr lang="en-US" sz="1600" dirty="0">
                <a:solidFill>
                  <a:prstClr val="black"/>
                </a:solidFill>
              </a:rPr>
              <a:t>But there was room for mutually beneficial exchange. After two weeks of negotiations, New York and New Jersey reached a settlement. New Jersey would not sue and New York City would use devices to contain spills, monitor trash facilities and shut down those failing to comply.</a:t>
            </a:r>
          </a:p>
        </p:txBody>
      </p:sp>
    </p:spTree>
    <p:extLst>
      <p:ext uri="{BB962C8B-B14F-4D97-AF65-F5344CB8AC3E}">
        <p14:creationId xmlns:p14="http://schemas.microsoft.com/office/powerpoint/2010/main" val="22359537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2914"/>
            <a:ext cx="8229600" cy="523220"/>
          </a:xfrm>
        </p:spPr>
        <p:txBody>
          <a:bodyPr>
            <a:spAutoFit/>
          </a:bodyPr>
          <a:lstStyle/>
          <a:p>
            <a:r>
              <a:rPr lang="en-US" dirty="0"/>
              <a:t>18.5 </a:t>
            </a:r>
            <a:r>
              <a:rPr lang="en-US" dirty="0" smtClean="0"/>
              <a:t>Common </a:t>
            </a:r>
            <a:r>
              <a:rPr lang="en-US" dirty="0"/>
              <a:t>Property </a:t>
            </a:r>
            <a:r>
              <a:rPr lang="en-US" dirty="0" smtClean="0"/>
              <a:t>Resources (1 </a:t>
            </a:r>
            <a:r>
              <a:rPr lang="en-US" dirty="0">
                <a:cs typeface="Calibri" panose="020F0502020204030204" pitchFamily="34" charset="0"/>
              </a:rPr>
              <a:t>of</a:t>
            </a:r>
            <a:r>
              <a:rPr lang="en-US" dirty="0" smtClean="0"/>
              <a:t> 2)</a:t>
            </a:r>
            <a:endParaRPr lang="en-US" dirty="0"/>
          </a:p>
        </p:txBody>
      </p:sp>
      <p:sp>
        <p:nvSpPr>
          <p:cNvPr id="4" name="Content Placeholder 3"/>
          <p:cNvSpPr>
            <a:spLocks noGrp="1"/>
          </p:cNvSpPr>
          <p:nvPr>
            <p:ph idx="1"/>
          </p:nvPr>
        </p:nvSpPr>
        <p:spPr>
          <a:xfrm>
            <a:off x="457200" y="1600200"/>
            <a:ext cx="8229600" cy="3285515"/>
          </a:xfrm>
        </p:spPr>
        <p:txBody>
          <a:bodyPr>
            <a:spAutoFit/>
          </a:bodyPr>
          <a:lstStyle/>
          <a:p>
            <a:pPr marL="0" indent="0">
              <a:buClrTx/>
              <a:buSzTx/>
              <a:buNone/>
              <a:tabLst>
                <a:tab pos="3489325" algn="l"/>
              </a:tabLst>
            </a:pPr>
            <a:r>
              <a:rPr lang="en-US" sz="1600" b="1" dirty="0"/>
              <a:t>common property resource </a:t>
            </a:r>
            <a:r>
              <a:rPr lang="en-US" sz="1600" dirty="0" smtClean="0"/>
              <a:t>Resource</a:t>
            </a:r>
            <a:r>
              <a:rPr lang="en-US" sz="1600" dirty="0" smtClean="0"/>
              <a:t> </a:t>
            </a:r>
            <a:r>
              <a:rPr lang="en-US" sz="1600" dirty="0"/>
              <a:t>to which anyone has </a:t>
            </a:r>
            <a:r>
              <a:rPr lang="en-US" sz="1600" dirty="0" smtClean="0"/>
              <a:t>free access</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Occasionally </a:t>
            </a:r>
            <a:r>
              <a:rPr lang="en-US" sz="1600" dirty="0"/>
              <a:t>externalities arise when resources can be used without payment. As a result, they are likely to be </a:t>
            </a:r>
            <a:r>
              <a:rPr lang="en-US" sz="1600" dirty="0"/>
              <a:t>overutilized</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A </a:t>
            </a:r>
            <a:r>
              <a:rPr lang="en-US" sz="1600" dirty="0"/>
              <a:t>lake is a common property resource, and no fisherman has the incentive to take into account how his fishing affects the opportunities of others. As a result, the fisherman’s private cost understates the true cost to society because more fishing reduces the stock </a:t>
            </a:r>
            <a:r>
              <a:rPr lang="en-US" sz="1600" dirty="0" smtClean="0"/>
              <a:t>of </a:t>
            </a:r>
            <a:r>
              <a:rPr lang="en-US" sz="1600" dirty="0"/>
              <a:t>fish, making less available for others. This leads to an inefficiency—too many fish are caugh</a:t>
            </a:r>
            <a:r>
              <a:rPr lang="en-US" sz="1600" dirty="0">
                <a:solidFill>
                  <a:prstClr val="black"/>
                </a:solidFill>
              </a:rPr>
              <a:t>t</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In </a:t>
            </a:r>
            <a:r>
              <a:rPr lang="en-US" sz="1600" dirty="0"/>
              <a:t>many fishing areas in the United States, the government determines the annual total allowable catch and then allocates that catch to fishermen through individual fishing quotas determined through an auction or other allocative process</a:t>
            </a:r>
            <a:r>
              <a:rPr lang="en-US" sz="1600" dirty="0" smtClean="0"/>
              <a:t>.</a:t>
            </a:r>
            <a:endParaRPr lang="en-US" sz="1600" dirty="0"/>
          </a:p>
        </p:txBody>
      </p:sp>
    </p:spTree>
    <p:extLst>
      <p:ext uri="{BB962C8B-B14F-4D97-AF65-F5344CB8AC3E}">
        <p14:creationId xmlns:p14="http://schemas.microsoft.com/office/powerpoint/2010/main" val="6721486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4290"/>
            <a:ext cx="8229600" cy="461665"/>
          </a:xfrm>
        </p:spPr>
        <p:txBody>
          <a:bodyPr>
            <a:spAutoFit/>
          </a:bodyPr>
          <a:lstStyle/>
          <a:p>
            <a:r>
              <a:rPr lang="en-US" sz="3000" dirty="0"/>
              <a:t>18.5 </a:t>
            </a:r>
            <a:r>
              <a:rPr lang="en-US" sz="3000" dirty="0" smtClean="0"/>
              <a:t>Common </a:t>
            </a:r>
            <a:r>
              <a:rPr lang="en-US" sz="3000" dirty="0"/>
              <a:t>Property </a:t>
            </a:r>
            <a:r>
              <a:rPr lang="en-US" sz="3000" dirty="0" smtClean="0"/>
              <a:t>Resources (2 </a:t>
            </a:r>
            <a:r>
              <a:rPr lang="en-US" sz="3000" dirty="0">
                <a:cs typeface="Calibri" panose="020F0502020204030204" pitchFamily="34" charset="0"/>
              </a:rPr>
              <a:t>of</a:t>
            </a:r>
            <a:r>
              <a:rPr lang="en-US" sz="3000" dirty="0" smtClean="0"/>
              <a:t> 2)</a:t>
            </a:r>
            <a:endParaRPr lang="en-US" sz="3000" dirty="0"/>
          </a:p>
        </p:txBody>
      </p:sp>
      <p:sp>
        <p:nvSpPr>
          <p:cNvPr id="8" name="Content Placeholder 7"/>
          <p:cNvSpPr>
            <a:spLocks noGrp="1"/>
          </p:cNvSpPr>
          <p:nvPr>
            <p:ph sz="quarter" idx="14"/>
          </p:nvPr>
        </p:nvSpPr>
        <p:spPr>
          <a:xfrm>
            <a:off x="457200" y="1600200"/>
            <a:ext cx="4114800" cy="3285515"/>
          </a:xfrm>
        </p:spPr>
        <p:txBody>
          <a:bodyPr>
            <a:spAutoFit/>
          </a:bodyPr>
          <a:lstStyle/>
          <a:p>
            <a:pPr marL="0" indent="0">
              <a:buClrTx/>
              <a:buNone/>
            </a:pPr>
            <a:r>
              <a:rPr lang="en-US" sz="1600" b="1" dirty="0"/>
              <a:t>FIGURE </a:t>
            </a:r>
            <a:r>
              <a:rPr lang="en-US" sz="1600" b="1" dirty="0" smtClean="0"/>
              <a:t>18.13</a:t>
            </a:r>
          </a:p>
          <a:p>
            <a:pPr marL="0" indent="0">
              <a:buClrTx/>
              <a:buNone/>
            </a:pPr>
            <a:r>
              <a:rPr lang="en-US" sz="1600" b="1" dirty="0" smtClean="0"/>
              <a:t>COMMON </a:t>
            </a:r>
            <a:r>
              <a:rPr lang="en-US" sz="1600" b="1" dirty="0"/>
              <a:t>PROPERTY RESOURCES</a:t>
            </a:r>
          </a:p>
          <a:p>
            <a:pPr marL="0" lvl="0" indent="0">
              <a:buClrTx/>
              <a:buNone/>
            </a:pPr>
            <a:r>
              <a:rPr lang="en-US" altLang="zh-CN" sz="1600" dirty="0">
                <a:solidFill>
                  <a:prstClr val="black"/>
                </a:solidFill>
                <a:ea typeface="SimSun" pitchFamily="2" charset="-122"/>
                <a:cs typeface="Arial" pitchFamily="34" charset="0"/>
              </a:rPr>
              <a:t>When a common property resource, such as a fishery, is accessible to all, the resource is used up to the point </a:t>
            </a:r>
            <a:r>
              <a:rPr lang="en-US" altLang="zh-CN" sz="1600" i="1" dirty="0">
                <a:solidFill>
                  <a:prstClr val="black"/>
                </a:solidFill>
                <a:ea typeface="SimSun" pitchFamily="2" charset="-122"/>
                <a:cs typeface="Arial" pitchFamily="34" charset="0"/>
              </a:rPr>
              <a:t>F</a:t>
            </a:r>
            <a:r>
              <a:rPr lang="en-US" altLang="zh-CN" sz="1600" i="1" baseline="-25000" dirty="0">
                <a:solidFill>
                  <a:prstClr val="black"/>
                </a:solidFill>
                <a:ea typeface="SimSun" pitchFamily="2" charset="-122"/>
                <a:cs typeface="Arial" pitchFamily="34" charset="0"/>
              </a:rPr>
              <a:t>c</a:t>
            </a:r>
            <a:r>
              <a:rPr lang="en-US" altLang="zh-CN" sz="1600" dirty="0">
                <a:solidFill>
                  <a:prstClr val="black"/>
                </a:solidFill>
                <a:ea typeface="SimSun" pitchFamily="2" charset="-122"/>
                <a:cs typeface="Arial" pitchFamily="34" charset="0"/>
              </a:rPr>
              <a:t> at which the private cost is equal to the additional revenue generated. </a:t>
            </a:r>
          </a:p>
          <a:p>
            <a:pPr marL="0" lvl="0" indent="0">
              <a:buClrTx/>
              <a:buNone/>
            </a:pPr>
            <a:r>
              <a:rPr lang="en-US" altLang="zh-CN" sz="1600" dirty="0">
                <a:solidFill>
                  <a:prstClr val="black"/>
                </a:solidFill>
                <a:ea typeface="SimSun" pitchFamily="2" charset="-122"/>
                <a:cs typeface="Arial" pitchFamily="34" charset="0"/>
              </a:rPr>
              <a:t>This usage exceeds the efficient level </a:t>
            </a:r>
            <a:r>
              <a:rPr lang="en-US" altLang="zh-CN" sz="1600" i="1" dirty="0">
                <a:solidFill>
                  <a:prstClr val="black"/>
                </a:solidFill>
                <a:ea typeface="SimSun" pitchFamily="2" charset="-122"/>
                <a:cs typeface="Arial" pitchFamily="34" charset="0"/>
              </a:rPr>
              <a:t>F</a:t>
            </a:r>
            <a:r>
              <a:rPr lang="en-US" altLang="zh-CN" sz="1600" dirty="0">
                <a:solidFill>
                  <a:prstClr val="black"/>
                </a:solidFill>
                <a:ea typeface="SimSun" pitchFamily="2" charset="-122"/>
                <a:cs typeface="Arial" pitchFamily="34" charset="0"/>
              </a:rPr>
              <a:t>* at which the marginal social cost of using the resource is equal to the marginal benefit </a:t>
            </a:r>
            <a:r>
              <a:rPr lang="en-US" altLang="zh-CN" sz="1600" dirty="0" smtClean="0">
                <a:solidFill>
                  <a:prstClr val="black"/>
                </a:solidFill>
                <a:ea typeface="SimSun" pitchFamily="2" charset="-122"/>
                <a:cs typeface="Arial" pitchFamily="34" charset="0"/>
              </a:rPr>
              <a:t>(</a:t>
            </a:r>
            <a:r>
              <a:rPr lang="en-US" altLang="zh-CN" sz="1600" dirty="0">
                <a:solidFill>
                  <a:prstClr val="black"/>
                </a:solidFill>
                <a:ea typeface="SimSun" pitchFamily="2" charset="-122"/>
                <a:cs typeface="Arial" pitchFamily="34" charset="0"/>
              </a:rPr>
              <a:t>as given by the demand curve).</a:t>
            </a:r>
            <a:endParaRPr lang="zh-CN" altLang="en-US" sz="1600" dirty="0">
              <a:solidFill>
                <a:prstClr val="black"/>
              </a:solidFill>
              <a:ea typeface="SimSun" pitchFamily="2" charset="-122"/>
              <a:cs typeface="Arial" pitchFamily="34" charset="0"/>
            </a:endParaRPr>
          </a:p>
        </p:txBody>
      </p:sp>
      <p:pic>
        <p:nvPicPr>
          <p:cNvPr id="12" name="Picture Placeholder 11" descr="Figure illustrates common property resources on graph showing relationship between Fish per month against Beneﬁts, Costs in dollars per ﬁsh. A horizontal demand curve labeled D and two upward sloping curves labeled &quot;Private Cost&quot; and &quot;Marginal Social Cost&quot; are drawn on graph. MSC intersects D at X = F* and PC intersects D at X = Fc."/>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4871963" y="1600200"/>
            <a:ext cx="3814837" cy="2862273"/>
          </a:xfrm>
        </p:spPr>
      </p:pic>
    </p:spTree>
    <p:extLst>
      <p:ext uri="{BB962C8B-B14F-4D97-AF65-F5344CB8AC3E}">
        <p14:creationId xmlns:p14="http://schemas.microsoft.com/office/powerpoint/2010/main" val="18264604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57200" y="240689"/>
            <a:ext cx="8229600" cy="1054636"/>
          </a:xfrm>
        </p:spPr>
        <p:txBody>
          <a:bodyPr/>
          <a:lstStyle/>
          <a:p>
            <a:r>
              <a:rPr lang="en-US" dirty="0"/>
              <a:t>EXAMPLE 18.7 CRAWFISH FISHING IN </a:t>
            </a:r>
            <a:r>
              <a:rPr lang="en-US" dirty="0" smtClean="0"/>
              <a:t>LOUISIANA</a:t>
            </a:r>
            <a:endParaRPr lang="en-US" dirty="0"/>
          </a:p>
        </p:txBody>
      </p:sp>
      <p:sp>
        <p:nvSpPr>
          <p:cNvPr id="54" name="Content Placeholder 53"/>
          <p:cNvSpPr>
            <a:spLocks noGrp="1"/>
          </p:cNvSpPr>
          <p:nvPr>
            <p:ph idx="1"/>
          </p:nvPr>
        </p:nvSpPr>
        <p:spPr>
          <a:xfrm>
            <a:off x="457200" y="1600200"/>
            <a:ext cx="6553200" cy="553998"/>
          </a:xfrm>
        </p:spPr>
        <p:txBody>
          <a:bodyPr wrap="square">
            <a:spAutoFit/>
          </a:bodyPr>
          <a:lstStyle/>
          <a:p>
            <a:pPr marL="0" lvl="0" indent="0">
              <a:spcBef>
                <a:spcPts val="0"/>
              </a:spcBef>
              <a:buClrTx/>
              <a:buNone/>
            </a:pPr>
            <a:r>
              <a:rPr lang="en-US" sz="1200" dirty="0">
                <a:solidFill>
                  <a:prstClr val="black"/>
                </a:solidFill>
              </a:rPr>
              <a:t>Because most crawfish grow in ponds to which fishermen have unlimited access, a common property resource problem has arisen: Too many crawfish have been trapped, causing the crawfish population to fall far below the efficient level</a:t>
            </a:r>
            <a:r>
              <a:rPr lang="en-US" sz="1200" dirty="0" smtClean="0">
                <a:solidFill>
                  <a:prstClr val="black"/>
                </a:solidFill>
              </a:rPr>
              <a:t>.</a:t>
            </a:r>
            <a:endParaRPr lang="en-US" sz="1200" dirty="0">
              <a:solidFill>
                <a:prstClr val="black"/>
              </a:solidFill>
            </a:endParaRPr>
          </a:p>
        </p:txBody>
      </p:sp>
      <p:pic>
        <p:nvPicPr>
          <p:cNvPr id="53" name="Picture Placeholder 52" descr="Photo shows fisherman on a boat emptying net full of crawfish."/>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tretch>
            <a:fillRect/>
          </a:stretch>
        </p:blipFill>
        <p:spPr>
          <a:xfrm>
            <a:off x="7105650" y="1600200"/>
            <a:ext cx="1567612" cy="2082896"/>
          </a:xfrm>
        </p:spPr>
      </p:pic>
      <p:pic>
        <p:nvPicPr>
          <p:cNvPr id="59" name="Picture Placeholder 58" descr="X-axis depicts Crawﬁsh catch in millions of pounds marked as 9.2 and 11.9. Y-axis depicts C, Costs in dollars per pound marked as 0.325 and 2.10. Demand curve intersects &quot;Private cost&quot; curve at(11.9, 0.325) and intersects &quot;Marginal Social Cost&quot; curve at X = 9.2."/>
          <p:cNvPicPr>
            <a:picLocks noGrp="1" noChangeAspect="1"/>
          </p:cNvPicPr>
          <p:nvPr>
            <p:ph type="pic" sz="quarter" idx="18"/>
          </p:nvPr>
        </p:nvPicPr>
        <p:blipFill>
          <a:blip r:embed="rId3" cstate="print">
            <a:extLst>
              <a:ext uri="{28A0092B-C50C-407E-A947-70E740481C1C}">
                <a14:useLocalDpi xmlns:a14="http://schemas.microsoft.com/office/drawing/2010/main" val="0"/>
              </a:ext>
            </a:extLst>
          </a:blip>
          <a:stretch>
            <a:fillRect/>
          </a:stretch>
        </p:blipFill>
        <p:spPr>
          <a:xfrm>
            <a:off x="457200" y="2247900"/>
            <a:ext cx="2819400" cy="2286000"/>
          </a:xfrm>
        </p:spPr>
      </p:pic>
      <p:sp>
        <p:nvSpPr>
          <p:cNvPr id="55" name="Content Placeholder 54"/>
          <p:cNvSpPr>
            <a:spLocks noGrp="1"/>
          </p:cNvSpPr>
          <p:nvPr>
            <p:ph idx="13"/>
          </p:nvPr>
        </p:nvSpPr>
        <p:spPr>
          <a:xfrm>
            <a:off x="4114800" y="3674814"/>
            <a:ext cx="4562475" cy="2487861"/>
          </a:xfrm>
        </p:spPr>
        <p:txBody>
          <a:bodyPr wrap="square">
            <a:spAutoFit/>
          </a:bodyPr>
          <a:lstStyle/>
          <a:p>
            <a:pPr marL="0" indent="0">
              <a:spcBef>
                <a:spcPts val="1000"/>
              </a:spcBef>
              <a:buNone/>
            </a:pPr>
            <a:r>
              <a:rPr lang="en-US" sz="1200" b="1" dirty="0"/>
              <a:t>FIGURE </a:t>
            </a:r>
            <a:r>
              <a:rPr lang="en-US" sz="1200" b="1" dirty="0" smtClean="0"/>
              <a:t>18.14</a:t>
            </a:r>
          </a:p>
          <a:p>
            <a:pPr marL="0" indent="0">
              <a:spcBef>
                <a:spcPts val="1000"/>
              </a:spcBef>
              <a:buNone/>
            </a:pPr>
            <a:r>
              <a:rPr lang="en-US" sz="1200" b="1" dirty="0" smtClean="0"/>
              <a:t>CRAWFISH </a:t>
            </a:r>
            <a:r>
              <a:rPr lang="en-US" sz="1200" b="1" dirty="0"/>
              <a:t>AS A </a:t>
            </a:r>
            <a:r>
              <a:rPr lang="en-US" sz="1200" b="1" dirty="0" smtClean="0"/>
              <a:t>COMMON PROPERTY RESOURCE</a:t>
            </a:r>
          </a:p>
          <a:p>
            <a:pPr marL="0" indent="0">
              <a:spcBef>
                <a:spcPts val="1000"/>
              </a:spcBef>
              <a:buFontTx/>
              <a:buNone/>
            </a:pPr>
            <a:r>
              <a:rPr lang="en-US" altLang="zh-CN" sz="1200" dirty="0" smtClean="0">
                <a:ea typeface="SimSun" pitchFamily="2" charset="-122"/>
                <a:cs typeface="Arial" pitchFamily="34" charset="0"/>
              </a:rPr>
              <a:t>Because </a:t>
            </a:r>
            <a:r>
              <a:rPr lang="en-US" altLang="zh-CN" sz="1200" dirty="0">
                <a:ea typeface="SimSun" pitchFamily="2" charset="-122"/>
                <a:cs typeface="Arial" pitchFamily="34" charset="0"/>
              </a:rPr>
              <a:t>crawfish are bred in ponds to which fishermen have unlimited access, they are a common property resource. </a:t>
            </a:r>
          </a:p>
          <a:p>
            <a:pPr marL="0" indent="0">
              <a:spcBef>
                <a:spcPts val="1000"/>
              </a:spcBef>
              <a:buFontTx/>
              <a:buNone/>
            </a:pPr>
            <a:r>
              <a:rPr lang="en-US" altLang="zh-CN" sz="1200" dirty="0">
                <a:ea typeface="SimSun" pitchFamily="2" charset="-122"/>
                <a:cs typeface="Arial" pitchFamily="34" charset="0"/>
              </a:rPr>
              <a:t>The efficient level of fishing occurs when the marginal benefit is equal to the marginal social cost. </a:t>
            </a:r>
          </a:p>
          <a:p>
            <a:pPr marL="0" indent="0">
              <a:spcBef>
                <a:spcPts val="1000"/>
              </a:spcBef>
              <a:buFontTx/>
              <a:buNone/>
            </a:pPr>
            <a:r>
              <a:rPr lang="en-US" altLang="zh-CN" sz="1200" dirty="0">
                <a:ea typeface="SimSun" pitchFamily="2" charset="-122"/>
                <a:cs typeface="Arial" pitchFamily="34" charset="0"/>
              </a:rPr>
              <a:t>However, the actual level of fishing occurs at the point at which the price for crawfish is equal to the private cost of fishing.</a:t>
            </a:r>
          </a:p>
          <a:p>
            <a:pPr marL="0" indent="0">
              <a:spcBef>
                <a:spcPts val="1000"/>
              </a:spcBef>
              <a:buFontTx/>
              <a:buNone/>
            </a:pPr>
            <a:r>
              <a:rPr lang="en-US" altLang="zh-CN" sz="1200" dirty="0">
                <a:ea typeface="SimSun" pitchFamily="2" charset="-122"/>
                <a:cs typeface="Arial" pitchFamily="34" charset="0"/>
              </a:rPr>
              <a:t>The shaded area represents the social cost of the common property resource</a:t>
            </a:r>
            <a:r>
              <a:rPr lang="en-US" altLang="zh-CN" sz="1200" dirty="0" smtClean="0">
                <a:ea typeface="SimSun" pitchFamily="2" charset="-122"/>
                <a:cs typeface="Arial" pitchFamily="34" charset="0"/>
              </a:rPr>
              <a:t>.</a:t>
            </a:r>
            <a:endParaRPr lang="en-US" altLang="zh-CN" sz="1200" dirty="0">
              <a:ea typeface="SimSun" pitchFamily="2" charset="-122"/>
              <a:cs typeface="Arial" pitchFamily="34" charset="0"/>
            </a:endParaRPr>
          </a:p>
        </p:txBody>
      </p:sp>
      <p:sp>
        <p:nvSpPr>
          <p:cNvPr id="56" name="Content Placeholder 55"/>
          <p:cNvSpPr>
            <a:spLocks noGrp="1"/>
          </p:cNvSpPr>
          <p:nvPr>
            <p:ph idx="16"/>
          </p:nvPr>
        </p:nvSpPr>
        <p:spPr>
          <a:xfrm>
            <a:off x="457200" y="4724400"/>
            <a:ext cx="2971800" cy="553998"/>
          </a:xfrm>
        </p:spPr>
        <p:txBody>
          <a:bodyPr wrap="square">
            <a:spAutoFit/>
          </a:bodyPr>
          <a:lstStyle/>
          <a:p>
            <a:pPr marL="0" lvl="0" indent="0">
              <a:spcBef>
                <a:spcPts val="0"/>
              </a:spcBef>
              <a:buClrTx/>
              <a:buNone/>
            </a:pPr>
            <a:r>
              <a:rPr lang="en-US" sz="1200" dirty="0" smtClean="0">
                <a:solidFill>
                  <a:prstClr val="black"/>
                </a:solidFill>
              </a:rPr>
              <a:t>Demand </a:t>
            </a:r>
            <a:r>
              <a:rPr lang="en-US" sz="1200" dirty="0">
                <a:solidFill>
                  <a:prstClr val="black"/>
                </a:solidFill>
              </a:rPr>
              <a:t>C = 0.401 – 0.0064</a:t>
            </a:r>
            <a:r>
              <a:rPr lang="en-US" sz="1200" i="1" dirty="0">
                <a:solidFill>
                  <a:prstClr val="black"/>
                </a:solidFill>
              </a:rPr>
              <a:t>F</a:t>
            </a:r>
          </a:p>
          <a:p>
            <a:pPr marL="0" lvl="0" indent="0">
              <a:spcBef>
                <a:spcPts val="0"/>
              </a:spcBef>
              <a:buClrTx/>
              <a:buNone/>
            </a:pPr>
            <a:r>
              <a:rPr lang="en-US" sz="1200" dirty="0">
                <a:solidFill>
                  <a:prstClr val="black"/>
                </a:solidFill>
              </a:rPr>
              <a:t>Marginal social cost C = –5.645 + 0.6509</a:t>
            </a:r>
            <a:r>
              <a:rPr lang="en-US" sz="1200" i="1" dirty="0">
                <a:solidFill>
                  <a:prstClr val="black"/>
                </a:solidFill>
              </a:rPr>
              <a:t>F</a:t>
            </a:r>
          </a:p>
          <a:p>
            <a:pPr marL="0" lvl="0" indent="0">
              <a:spcBef>
                <a:spcPts val="0"/>
              </a:spcBef>
              <a:buClrTx/>
              <a:buNone/>
            </a:pPr>
            <a:r>
              <a:rPr lang="en-US" sz="1200" dirty="0">
                <a:solidFill>
                  <a:prstClr val="black"/>
                </a:solidFill>
              </a:rPr>
              <a:t>Private cost: C = –0.357 + </a:t>
            </a:r>
            <a:r>
              <a:rPr lang="en-US" sz="1200" dirty="0" smtClean="0">
                <a:solidFill>
                  <a:prstClr val="black"/>
                </a:solidFill>
              </a:rPr>
              <a:t>0.0573</a:t>
            </a:r>
            <a:r>
              <a:rPr lang="en-US" sz="1200" i="1" dirty="0" smtClean="0">
                <a:solidFill>
                  <a:prstClr val="black"/>
                </a:solidFill>
              </a:rPr>
              <a:t>F</a:t>
            </a:r>
            <a:endParaRPr lang="en-US" sz="1200" dirty="0">
              <a:solidFill>
                <a:prstClr val="black"/>
              </a:solidFill>
            </a:endParaRPr>
          </a:p>
        </p:txBody>
      </p:sp>
      <p:sp>
        <p:nvSpPr>
          <p:cNvPr id="57" name="Content Placeholder 56"/>
          <p:cNvSpPr>
            <a:spLocks noGrp="1"/>
          </p:cNvSpPr>
          <p:nvPr>
            <p:ph idx="17"/>
          </p:nvPr>
        </p:nvSpPr>
        <p:spPr>
          <a:xfrm>
            <a:off x="457201" y="5438775"/>
            <a:ext cx="2819400" cy="553998"/>
          </a:xfrm>
        </p:spPr>
        <p:txBody>
          <a:bodyPr wrap="square">
            <a:spAutoFit/>
          </a:bodyPr>
          <a:lstStyle/>
          <a:p>
            <a:pPr marL="0" indent="0">
              <a:buNone/>
            </a:pPr>
            <a:r>
              <a:rPr lang="en-US" sz="1200" dirty="0"/>
              <a:t>The efficient crawfish catch is 9.2 million pounds. The actual catch is 11.9 million pounds</a:t>
            </a:r>
          </a:p>
        </p:txBody>
      </p:sp>
    </p:spTree>
    <p:extLst>
      <p:ext uri="{BB962C8B-B14F-4D97-AF65-F5344CB8AC3E}">
        <p14:creationId xmlns:p14="http://schemas.microsoft.com/office/powerpoint/2010/main" val="38972996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2914"/>
            <a:ext cx="8229600" cy="523220"/>
          </a:xfrm>
        </p:spPr>
        <p:txBody>
          <a:bodyPr>
            <a:spAutoFit/>
          </a:bodyPr>
          <a:lstStyle/>
          <a:p>
            <a:r>
              <a:rPr lang="en-US" dirty="0"/>
              <a:t>18.6 </a:t>
            </a:r>
            <a:r>
              <a:rPr lang="en-US" dirty="0" smtClean="0"/>
              <a:t>Public Goods (1 </a:t>
            </a:r>
            <a:r>
              <a:rPr lang="en-US" dirty="0">
                <a:cs typeface="Calibri" panose="020F0502020204030204" pitchFamily="34" charset="0"/>
              </a:rPr>
              <a:t>of</a:t>
            </a:r>
            <a:r>
              <a:rPr lang="en-US" dirty="0" smtClean="0"/>
              <a:t> 3)</a:t>
            </a:r>
            <a:endParaRPr lang="en-US" dirty="0"/>
          </a:p>
        </p:txBody>
      </p:sp>
      <p:sp>
        <p:nvSpPr>
          <p:cNvPr id="4" name="Content Placeholder 3"/>
          <p:cNvSpPr>
            <a:spLocks noGrp="1"/>
          </p:cNvSpPr>
          <p:nvPr>
            <p:ph idx="1"/>
          </p:nvPr>
        </p:nvSpPr>
        <p:spPr>
          <a:xfrm>
            <a:off x="457200" y="1600200"/>
            <a:ext cx="8229600" cy="3670236"/>
          </a:xfrm>
        </p:spPr>
        <p:txBody>
          <a:bodyPr>
            <a:spAutoFit/>
          </a:bodyPr>
          <a:lstStyle/>
          <a:p>
            <a:pPr marL="0" indent="0">
              <a:buClrTx/>
              <a:buSzTx/>
              <a:buNone/>
              <a:tabLst>
                <a:tab pos="1773238" algn="l"/>
              </a:tabLst>
            </a:pPr>
            <a:r>
              <a:rPr lang="en-US" sz="1600" b="1" dirty="0"/>
              <a:t>public good </a:t>
            </a:r>
            <a:r>
              <a:rPr lang="en-US" sz="1600" dirty="0" smtClean="0"/>
              <a:t>Nonexclusive </a:t>
            </a:r>
            <a:r>
              <a:rPr lang="en-US" sz="1600" dirty="0"/>
              <a:t>and </a:t>
            </a:r>
            <a:r>
              <a:rPr lang="en-US" sz="1600" dirty="0"/>
              <a:t>nonrival</a:t>
            </a:r>
            <a:r>
              <a:rPr lang="en-US" sz="1600" dirty="0"/>
              <a:t> good: The marginal </a:t>
            </a:r>
            <a:r>
              <a:rPr lang="en-US" sz="1600" dirty="0" smtClean="0"/>
              <a:t>cost of </a:t>
            </a:r>
            <a:r>
              <a:rPr lang="en-US" sz="1600" dirty="0"/>
              <a:t>provision to </a:t>
            </a:r>
            <a:r>
              <a:rPr lang="en-US" sz="1600" dirty="0" smtClean="0"/>
              <a:t>an additional </a:t>
            </a:r>
            <a:r>
              <a:rPr lang="en-US" sz="1600" dirty="0"/>
              <a:t>consumer is zero and people cannot be excluded from consuming it</a:t>
            </a:r>
            <a:r>
              <a:rPr lang="en-US" sz="1600" dirty="0" smtClean="0">
                <a:solidFill>
                  <a:prstClr val="black"/>
                </a:solidFill>
              </a:rPr>
              <a:t>.</a:t>
            </a:r>
            <a:endParaRPr lang="en-US" sz="1600" dirty="0">
              <a:solidFill>
                <a:prstClr val="black"/>
              </a:solidFill>
            </a:endParaRPr>
          </a:p>
          <a:p>
            <a:pPr marL="0" indent="0">
              <a:buClrTx/>
              <a:buSzTx/>
              <a:buNone/>
              <a:tabLst>
                <a:tab pos="1773238" algn="l"/>
              </a:tabLst>
            </a:pPr>
            <a:r>
              <a:rPr lang="en-US" sz="1600" b="1" dirty="0">
                <a:solidFill>
                  <a:prstClr val="black"/>
                </a:solidFill>
              </a:rPr>
              <a:t>N</a:t>
            </a:r>
            <a:r>
              <a:rPr lang="en-US" sz="1600" b="1" kern="0" dirty="0" smtClean="0"/>
              <a:t>ONRIVAL GOOD</a:t>
            </a:r>
            <a:r>
              <a:rPr lang="en-US" sz="1600" b="1" dirty="0" smtClean="0">
                <a:solidFill>
                  <a:prstClr val="black"/>
                </a:solidFill>
              </a:rPr>
              <a:t>S</a:t>
            </a:r>
            <a:endParaRPr lang="en-US" sz="1600" b="1" dirty="0">
              <a:solidFill>
                <a:prstClr val="black"/>
              </a:solidFill>
            </a:endParaRPr>
          </a:p>
          <a:p>
            <a:pPr marL="0" indent="0">
              <a:buClrTx/>
              <a:buSzTx/>
              <a:buNone/>
              <a:tabLst>
                <a:tab pos="1773238" algn="l"/>
              </a:tabLst>
            </a:pPr>
            <a:r>
              <a:rPr lang="en-US" sz="1600" b="1" dirty="0">
                <a:solidFill>
                  <a:prstClr val="black"/>
                </a:solidFill>
              </a:rPr>
              <a:t>nonrival</a:t>
            </a:r>
            <a:r>
              <a:rPr lang="en-US" sz="1600" dirty="0">
                <a:solidFill>
                  <a:prstClr val="black"/>
                </a:solidFill>
              </a:rPr>
              <a:t> </a:t>
            </a:r>
            <a:r>
              <a:rPr lang="en-US" sz="1600" b="1" dirty="0"/>
              <a:t>good </a:t>
            </a:r>
            <a:r>
              <a:rPr lang="en-US" sz="1600" dirty="0" smtClean="0"/>
              <a:t>Good</a:t>
            </a:r>
            <a:r>
              <a:rPr lang="en-US" sz="1600" dirty="0" smtClean="0"/>
              <a:t> </a:t>
            </a:r>
            <a:r>
              <a:rPr lang="en-US" sz="1600" dirty="0"/>
              <a:t>for which the marginal cost of its provision to an additional consumer is zero</a:t>
            </a:r>
            <a:r>
              <a:rPr lang="en-US" sz="1600" dirty="0" smtClean="0">
                <a:solidFill>
                  <a:prstClr val="black"/>
                </a:solidFill>
              </a:rPr>
              <a:t>.</a:t>
            </a:r>
            <a:endParaRPr lang="en-US" sz="1600" dirty="0">
              <a:solidFill>
                <a:prstClr val="black"/>
              </a:solidFill>
            </a:endParaRPr>
          </a:p>
          <a:p>
            <a:pPr marL="0" indent="0">
              <a:buClrTx/>
              <a:buSzTx/>
              <a:buNone/>
              <a:tabLst>
                <a:tab pos="1773238" algn="l"/>
              </a:tabLst>
            </a:pPr>
            <a:r>
              <a:rPr lang="en-US" sz="1600" b="1" dirty="0">
                <a:solidFill>
                  <a:prstClr val="black"/>
                </a:solidFill>
              </a:rPr>
              <a:t>N</a:t>
            </a:r>
            <a:r>
              <a:rPr lang="en-US" sz="1600" b="1" kern="0" dirty="0"/>
              <a:t>ONEXCLUSIVE </a:t>
            </a:r>
            <a:r>
              <a:rPr lang="en-US" sz="1600" b="1" kern="0" dirty="0" smtClean="0"/>
              <a:t>GOOD</a:t>
            </a:r>
            <a:r>
              <a:rPr lang="en-US" sz="1600" b="1" dirty="0" smtClean="0">
                <a:solidFill>
                  <a:prstClr val="black"/>
                </a:solidFill>
              </a:rPr>
              <a:t>S</a:t>
            </a:r>
            <a:endParaRPr lang="en-US" sz="1600" b="1" dirty="0">
              <a:solidFill>
                <a:prstClr val="black"/>
              </a:solidFill>
            </a:endParaRPr>
          </a:p>
          <a:p>
            <a:pPr marL="0" indent="0">
              <a:buClrTx/>
              <a:buSzTx/>
              <a:buNone/>
              <a:tabLst>
                <a:tab pos="1773238" algn="l"/>
              </a:tabLst>
            </a:pPr>
            <a:r>
              <a:rPr lang="en-US" sz="1600" b="1" dirty="0">
                <a:solidFill>
                  <a:prstClr val="black"/>
                </a:solidFill>
              </a:rPr>
              <a:t>nonexclusive</a:t>
            </a:r>
            <a:r>
              <a:rPr lang="en-US" sz="1600" dirty="0">
                <a:solidFill>
                  <a:prstClr val="black"/>
                </a:solidFill>
              </a:rPr>
              <a:t> </a:t>
            </a:r>
            <a:r>
              <a:rPr lang="en-US" sz="1600" b="1" dirty="0" smtClean="0"/>
              <a:t>good </a:t>
            </a:r>
            <a:r>
              <a:rPr lang="en-US" sz="1600" dirty="0" smtClean="0"/>
              <a:t>Good</a:t>
            </a:r>
            <a:r>
              <a:rPr lang="en-US" sz="1600" dirty="0" smtClean="0"/>
              <a:t> </a:t>
            </a:r>
            <a:r>
              <a:rPr lang="en-US" sz="1600" dirty="0"/>
              <a:t>that people cannot be excluded from consuming, so that it is difficult or impossible to charge for its use</a:t>
            </a:r>
            <a:r>
              <a:rPr lang="en-US" sz="1600" dirty="0" smtClean="0">
                <a:solidFill>
                  <a:prstClr val="black"/>
                </a:solidFill>
              </a:rPr>
              <a:t>.</a:t>
            </a:r>
            <a:endParaRPr lang="en-US" sz="1600" dirty="0">
              <a:solidFill>
                <a:prstClr val="black"/>
              </a:solidFill>
            </a:endParaRPr>
          </a:p>
          <a:p>
            <a:pPr marL="0" indent="0">
              <a:buClrTx/>
              <a:buSzTx/>
              <a:buNone/>
            </a:pPr>
            <a:r>
              <a:rPr lang="en-US" sz="1600" dirty="0">
                <a:solidFill>
                  <a:prstClr val="black"/>
                </a:solidFill>
              </a:rPr>
              <a:t>Some </a:t>
            </a:r>
            <a:r>
              <a:rPr lang="en-US" sz="1600" dirty="0"/>
              <a:t>goods are exclusive but </a:t>
            </a:r>
            <a:r>
              <a:rPr lang="en-US" sz="1600" dirty="0" smtClean="0"/>
              <a:t>nonrival</a:t>
            </a:r>
            <a:r>
              <a:rPr lang="en-US" sz="1600" dirty="0"/>
              <a:t>.</a:t>
            </a:r>
            <a:r>
              <a:rPr lang="en-US" sz="1600" dirty="0" smtClean="0"/>
              <a:t> Others </a:t>
            </a:r>
            <a:r>
              <a:rPr lang="en-US" sz="1600" dirty="0"/>
              <a:t>are nonexclusive but rival. Many publicly provided goods are either rival in consumption, exclusive, or both. High school education and national parks are examples of these types of goods</a:t>
            </a:r>
            <a:r>
              <a:rPr lang="en-US" sz="1600" dirty="0" smtClean="0"/>
              <a:t>.</a:t>
            </a:r>
            <a:endParaRPr lang="en-US" sz="1600" dirty="0"/>
          </a:p>
        </p:txBody>
      </p:sp>
    </p:spTree>
    <p:extLst>
      <p:ext uri="{BB962C8B-B14F-4D97-AF65-F5344CB8AC3E}">
        <p14:creationId xmlns:p14="http://schemas.microsoft.com/office/powerpoint/2010/main" val="31632713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4290"/>
            <a:ext cx="8229600" cy="461665"/>
          </a:xfrm>
        </p:spPr>
        <p:txBody>
          <a:bodyPr>
            <a:spAutoFit/>
          </a:bodyPr>
          <a:lstStyle/>
          <a:p>
            <a:r>
              <a:rPr lang="en-US" sz="3000" dirty="0" smtClean="0"/>
              <a:t>18.6 </a:t>
            </a:r>
            <a:r>
              <a:rPr lang="en-US" sz="3000" dirty="0"/>
              <a:t>Public </a:t>
            </a:r>
            <a:r>
              <a:rPr lang="en-US" sz="3000" dirty="0" smtClean="0"/>
              <a:t>Goods (2 </a:t>
            </a:r>
            <a:r>
              <a:rPr lang="en-US" sz="3000" dirty="0">
                <a:cs typeface="Calibri" panose="020F0502020204030204" pitchFamily="34" charset="0"/>
              </a:rPr>
              <a:t>of</a:t>
            </a:r>
            <a:r>
              <a:rPr lang="en-US" sz="3000" dirty="0" smtClean="0"/>
              <a:t> 3)</a:t>
            </a:r>
            <a:endParaRPr lang="en-US" sz="3000" dirty="0"/>
          </a:p>
        </p:txBody>
      </p:sp>
      <p:sp>
        <p:nvSpPr>
          <p:cNvPr id="3" name="Text Placeholder 2"/>
          <p:cNvSpPr>
            <a:spLocks noGrp="1"/>
          </p:cNvSpPr>
          <p:nvPr>
            <p:ph type="body" sz="quarter" idx="13"/>
          </p:nvPr>
        </p:nvSpPr>
        <p:spPr>
          <a:xfrm>
            <a:off x="457200" y="1340659"/>
            <a:ext cx="8229600" cy="246221"/>
          </a:xfrm>
        </p:spPr>
        <p:txBody>
          <a:bodyPr>
            <a:spAutoFit/>
          </a:bodyPr>
          <a:lstStyle/>
          <a:p>
            <a:r>
              <a:rPr lang="en-US" dirty="0"/>
              <a:t>Efficiency and Public </a:t>
            </a:r>
            <a:r>
              <a:rPr lang="en-US" dirty="0" smtClean="0"/>
              <a:t>Goods</a:t>
            </a:r>
            <a:endParaRPr lang="en-US" dirty="0"/>
          </a:p>
        </p:txBody>
      </p:sp>
      <p:sp>
        <p:nvSpPr>
          <p:cNvPr id="8" name="Content Placeholder 7"/>
          <p:cNvSpPr>
            <a:spLocks noGrp="1"/>
          </p:cNvSpPr>
          <p:nvPr>
            <p:ph sz="quarter" idx="14"/>
          </p:nvPr>
        </p:nvSpPr>
        <p:spPr>
          <a:xfrm>
            <a:off x="457200" y="1858304"/>
            <a:ext cx="4114800" cy="2793072"/>
          </a:xfrm>
        </p:spPr>
        <p:txBody>
          <a:bodyPr>
            <a:spAutoFit/>
          </a:bodyPr>
          <a:lstStyle/>
          <a:p>
            <a:pPr marL="0" indent="0">
              <a:buClrTx/>
              <a:buNone/>
            </a:pPr>
            <a:r>
              <a:rPr lang="en-US" sz="1600" b="1" dirty="0" smtClean="0"/>
              <a:t>FIGURE 18.15</a:t>
            </a:r>
          </a:p>
          <a:p>
            <a:pPr marL="0" indent="0">
              <a:buClrTx/>
              <a:buNone/>
            </a:pPr>
            <a:r>
              <a:rPr lang="en-US" sz="1600" b="1" dirty="0"/>
              <a:t>EFFICIENT PUBLIC GOOD </a:t>
            </a:r>
            <a:r>
              <a:rPr lang="en-US" sz="1600" b="1" dirty="0" smtClean="0"/>
              <a:t>PROVISION</a:t>
            </a:r>
          </a:p>
          <a:p>
            <a:pPr marL="0" lvl="0" indent="0">
              <a:buClrTx/>
              <a:buNone/>
            </a:pPr>
            <a:r>
              <a:rPr lang="en-US" altLang="zh-CN" sz="1600" dirty="0" smtClean="0">
                <a:solidFill>
                  <a:prstClr val="black"/>
                </a:solidFill>
                <a:ea typeface="SimSun" pitchFamily="2" charset="-122"/>
                <a:cs typeface="Arial" pitchFamily="34" charset="0"/>
              </a:rPr>
              <a:t>When </a:t>
            </a:r>
            <a:r>
              <a:rPr lang="en-US" altLang="zh-CN" sz="1600" dirty="0">
                <a:solidFill>
                  <a:prstClr val="black"/>
                </a:solidFill>
                <a:ea typeface="SimSun" pitchFamily="2" charset="-122"/>
                <a:cs typeface="Arial" pitchFamily="34" charset="0"/>
              </a:rPr>
              <a:t>a good is </a:t>
            </a:r>
            <a:r>
              <a:rPr lang="en-US" altLang="zh-CN" sz="1600" dirty="0">
                <a:solidFill>
                  <a:prstClr val="black"/>
                </a:solidFill>
                <a:ea typeface="SimSun" pitchFamily="2" charset="-122"/>
                <a:cs typeface="Arial" pitchFamily="34" charset="0"/>
              </a:rPr>
              <a:t>nonrival</a:t>
            </a:r>
            <a:r>
              <a:rPr lang="en-US" altLang="zh-CN" sz="1600" dirty="0">
                <a:solidFill>
                  <a:prstClr val="black"/>
                </a:solidFill>
                <a:ea typeface="SimSun" pitchFamily="2" charset="-122"/>
                <a:cs typeface="Arial" pitchFamily="34" charset="0"/>
              </a:rPr>
              <a:t>, the social marginal benefit of consumption, given by the demand curve </a:t>
            </a:r>
            <a:r>
              <a:rPr lang="en-US" altLang="zh-CN" sz="1600" i="1" dirty="0">
                <a:solidFill>
                  <a:prstClr val="black"/>
                </a:solidFill>
                <a:ea typeface="SimSun" pitchFamily="2" charset="-122"/>
                <a:cs typeface="Arial" pitchFamily="34" charset="0"/>
              </a:rPr>
              <a:t>D</a:t>
            </a:r>
            <a:r>
              <a:rPr lang="en-US" altLang="zh-CN" sz="1600" dirty="0">
                <a:solidFill>
                  <a:prstClr val="black"/>
                </a:solidFill>
                <a:ea typeface="SimSun" pitchFamily="2" charset="-122"/>
                <a:cs typeface="Arial" pitchFamily="34" charset="0"/>
              </a:rPr>
              <a:t>, is determined by vertically summing the individual demand curves for the good, </a:t>
            </a:r>
            <a:r>
              <a:rPr lang="en-US" altLang="zh-CN" sz="1600" i="1" dirty="0">
                <a:solidFill>
                  <a:prstClr val="black"/>
                </a:solidFill>
                <a:ea typeface="SimSun" pitchFamily="2" charset="-122"/>
                <a:cs typeface="Arial" pitchFamily="34" charset="0"/>
              </a:rPr>
              <a:t>D</a:t>
            </a:r>
            <a:r>
              <a:rPr lang="en-US" altLang="zh-CN" sz="1600" baseline="-25000" dirty="0">
                <a:solidFill>
                  <a:prstClr val="black"/>
                </a:solidFill>
                <a:ea typeface="SimSun" pitchFamily="2" charset="-122"/>
                <a:cs typeface="Arial" pitchFamily="34" charset="0"/>
              </a:rPr>
              <a:t>1</a:t>
            </a:r>
            <a:r>
              <a:rPr lang="en-US" altLang="zh-CN" sz="1600" dirty="0">
                <a:solidFill>
                  <a:prstClr val="black"/>
                </a:solidFill>
                <a:ea typeface="SimSun" pitchFamily="2" charset="-122"/>
                <a:cs typeface="Arial" pitchFamily="34" charset="0"/>
              </a:rPr>
              <a:t> and </a:t>
            </a:r>
            <a:r>
              <a:rPr lang="en-US" altLang="zh-CN" sz="1600" i="1" dirty="0">
                <a:solidFill>
                  <a:prstClr val="black"/>
                </a:solidFill>
                <a:ea typeface="SimSun" pitchFamily="2" charset="-122"/>
                <a:cs typeface="Arial" pitchFamily="34" charset="0"/>
              </a:rPr>
              <a:t>D</a:t>
            </a:r>
            <a:r>
              <a:rPr lang="en-US" altLang="zh-CN" sz="1600" baseline="-25000" dirty="0">
                <a:solidFill>
                  <a:prstClr val="black"/>
                </a:solidFill>
                <a:ea typeface="SimSun" pitchFamily="2" charset="-122"/>
                <a:cs typeface="Arial" pitchFamily="34" charset="0"/>
              </a:rPr>
              <a:t>2</a:t>
            </a:r>
            <a:r>
              <a:rPr lang="en-US" altLang="zh-CN" sz="1600" dirty="0">
                <a:solidFill>
                  <a:prstClr val="black"/>
                </a:solidFill>
                <a:ea typeface="SimSun" pitchFamily="2" charset="-122"/>
                <a:cs typeface="Arial" pitchFamily="34" charset="0"/>
              </a:rPr>
              <a:t>. </a:t>
            </a:r>
          </a:p>
          <a:p>
            <a:pPr marL="0" lvl="0" indent="0">
              <a:buClrTx/>
              <a:buNone/>
            </a:pPr>
            <a:r>
              <a:rPr lang="en-US" altLang="zh-CN" sz="1600" dirty="0" smtClean="0">
                <a:solidFill>
                  <a:prstClr val="black"/>
                </a:solidFill>
                <a:ea typeface="SimSun" pitchFamily="2" charset="-122"/>
                <a:cs typeface="Arial" pitchFamily="34" charset="0"/>
              </a:rPr>
              <a:t>At </a:t>
            </a:r>
            <a:r>
              <a:rPr lang="en-US" altLang="zh-CN" sz="1600" dirty="0">
                <a:solidFill>
                  <a:prstClr val="black"/>
                </a:solidFill>
                <a:ea typeface="SimSun" pitchFamily="2" charset="-122"/>
                <a:cs typeface="Arial" pitchFamily="34" charset="0"/>
              </a:rPr>
              <a:t>the efficient level of output, the demand and the marginal cost curves intersect.</a:t>
            </a:r>
          </a:p>
        </p:txBody>
      </p:sp>
      <p:pic>
        <p:nvPicPr>
          <p:cNvPr id="12" name="Picture Placeholder 11" descr="X-axis depicts Output ranging from 0 to 10 in increments of 1. Y-axis depicts Beneﬁts in dollars marked as 1.50, 4.00, 5.50 and 7.00. Marginal cost curve is drawn at Y = 5.50. Demand curve D drawn as downward sloping curve intersects MC at (2, 5.50). Two more demand curves D2 and D1 are drawn as downward sloping curves joining some values X and Y axis. Curve D kinks and merges with curve D2 at some point."/>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5008045" y="2029970"/>
            <a:ext cx="3671455" cy="3356349"/>
          </a:xfrm>
        </p:spPr>
      </p:pic>
    </p:spTree>
    <p:extLst>
      <p:ext uri="{BB962C8B-B14F-4D97-AF65-F5344CB8AC3E}">
        <p14:creationId xmlns:p14="http://schemas.microsoft.com/office/powerpoint/2010/main" val="186927647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4086"/>
            <a:ext cx="8229600" cy="461665"/>
          </a:xfrm>
        </p:spPr>
        <p:txBody>
          <a:bodyPr>
            <a:spAutoFit/>
          </a:bodyPr>
          <a:lstStyle/>
          <a:p>
            <a:r>
              <a:rPr lang="en-US" sz="3000" dirty="0"/>
              <a:t>18.6 </a:t>
            </a:r>
            <a:r>
              <a:rPr lang="en-US" sz="3000" dirty="0" smtClean="0"/>
              <a:t>Public Goods (3 </a:t>
            </a:r>
            <a:r>
              <a:rPr lang="en-US" sz="3000" dirty="0">
                <a:cs typeface="Calibri" panose="020F0502020204030204" pitchFamily="34" charset="0"/>
              </a:rPr>
              <a:t>of</a:t>
            </a:r>
            <a:r>
              <a:rPr lang="en-US" sz="3000" dirty="0" smtClean="0"/>
              <a:t> 3)</a:t>
            </a:r>
            <a:endParaRPr lang="en-US" sz="3000" dirty="0"/>
          </a:p>
        </p:txBody>
      </p:sp>
      <p:sp>
        <p:nvSpPr>
          <p:cNvPr id="3" name="Text Placeholder 2"/>
          <p:cNvSpPr>
            <a:spLocks noGrp="1"/>
          </p:cNvSpPr>
          <p:nvPr>
            <p:ph type="body" sz="quarter" idx="13"/>
          </p:nvPr>
        </p:nvSpPr>
        <p:spPr>
          <a:xfrm>
            <a:off x="457200" y="1339851"/>
            <a:ext cx="8229600" cy="246221"/>
          </a:xfrm>
        </p:spPr>
        <p:txBody>
          <a:bodyPr>
            <a:spAutoFit/>
          </a:bodyPr>
          <a:lstStyle/>
          <a:p>
            <a:r>
              <a:rPr lang="en-US" dirty="0"/>
              <a:t>Public Goods and Market </a:t>
            </a:r>
            <a:r>
              <a:rPr lang="en-US" dirty="0" smtClean="0"/>
              <a:t>Failure</a:t>
            </a:r>
            <a:endParaRPr lang="en-US" dirty="0"/>
          </a:p>
        </p:txBody>
      </p:sp>
      <p:sp>
        <p:nvSpPr>
          <p:cNvPr id="4" name="Content Placeholder 3"/>
          <p:cNvSpPr>
            <a:spLocks noGrp="1"/>
          </p:cNvSpPr>
          <p:nvPr>
            <p:ph sz="quarter" idx="14"/>
          </p:nvPr>
        </p:nvSpPr>
        <p:spPr>
          <a:xfrm>
            <a:off x="457200" y="1761067"/>
            <a:ext cx="8229600" cy="3777957"/>
          </a:xfrm>
        </p:spPr>
        <p:txBody>
          <a:bodyPr>
            <a:spAutoFit/>
          </a:bodyPr>
          <a:lstStyle/>
          <a:p>
            <a:pPr marL="0" lvl="0" indent="0">
              <a:buClrTx/>
              <a:buNone/>
            </a:pPr>
            <a:r>
              <a:rPr lang="en-US" sz="1600" dirty="0">
                <a:solidFill>
                  <a:prstClr val="black"/>
                </a:solidFill>
              </a:rPr>
              <a:t>Suppose you want to offer a mosquito abatement program for your community. The program is worth more to the community than the $50,000 it will cost. Can you make a profit by providing the program privately? You would break even if you assessed a $5.00 fee to each of the 10,000 households in your community. But you cannot force them to pay the fee, let alone devise a system in which those households that value mosquito abatement most highly pay the highest fees</a:t>
            </a:r>
            <a:r>
              <a:rPr lang="en-US" sz="1600" dirty="0" smtClean="0">
                <a:solidFill>
                  <a:prstClr val="black"/>
                </a:solidFill>
              </a:rPr>
              <a:t>.</a:t>
            </a:r>
            <a:endParaRPr lang="en-US" sz="1600" dirty="0">
              <a:solidFill>
                <a:prstClr val="black"/>
              </a:solidFill>
            </a:endParaRPr>
          </a:p>
          <a:p>
            <a:pPr marL="0" lvl="0" indent="0">
              <a:buClrTx/>
              <a:buNone/>
            </a:pPr>
            <a:r>
              <a:rPr lang="en-US" sz="1600" dirty="0">
                <a:solidFill>
                  <a:prstClr val="black"/>
                </a:solidFill>
              </a:rPr>
              <a:t>Unfortunately, mosquito abatement is nonexclusive. As a result, households have no incentive to pay what the program really is worth to them</a:t>
            </a:r>
            <a:r>
              <a:rPr lang="en-US" sz="1600" dirty="0" smtClean="0">
                <a:solidFill>
                  <a:prstClr val="black"/>
                </a:solidFill>
              </a:rPr>
              <a:t>.</a:t>
            </a:r>
          </a:p>
          <a:p>
            <a:pPr marL="0" indent="0">
              <a:buClrTx/>
              <a:buNone/>
            </a:pPr>
            <a:r>
              <a:rPr lang="en-US" sz="1600" b="1" dirty="0">
                <a:solidFill>
                  <a:prstClr val="black"/>
                </a:solidFill>
              </a:rPr>
              <a:t>free rider </a:t>
            </a:r>
            <a:r>
              <a:rPr lang="en-US" sz="1600" dirty="0" smtClean="0">
                <a:solidFill>
                  <a:prstClr val="black"/>
                </a:solidFill>
              </a:rPr>
              <a:t>Consumer </a:t>
            </a:r>
            <a:r>
              <a:rPr lang="en-US" sz="1600" dirty="0">
                <a:solidFill>
                  <a:prstClr val="black"/>
                </a:solidFill>
              </a:rPr>
              <a:t>or producer who does not pay for a nonexclusive good in the expectation that others will.</a:t>
            </a:r>
          </a:p>
          <a:p>
            <a:pPr marL="0" lvl="0" indent="0">
              <a:buClrTx/>
              <a:buNone/>
            </a:pPr>
            <a:r>
              <a:rPr lang="en-US" sz="1600" dirty="0">
                <a:solidFill>
                  <a:prstClr val="black"/>
                </a:solidFill>
              </a:rPr>
              <a:t>With public goods, the presence of free riders makes it difficult or impossible for markets to provide goods efficiently. The public good must therefore be subsidized or provided by governments if it is to be produced efficiently.</a:t>
            </a:r>
          </a:p>
        </p:txBody>
      </p:sp>
    </p:spTree>
    <p:extLst>
      <p:ext uri="{BB962C8B-B14F-4D97-AF65-F5344CB8AC3E}">
        <p14:creationId xmlns:p14="http://schemas.microsoft.com/office/powerpoint/2010/main" val="6953845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457200" y="248885"/>
            <a:ext cx="8229600" cy="1046440"/>
          </a:xfrm>
        </p:spPr>
        <p:txBody>
          <a:bodyPr>
            <a:spAutoFit/>
          </a:bodyPr>
          <a:lstStyle/>
          <a:p>
            <a:r>
              <a:rPr lang="en-US" dirty="0"/>
              <a:t>EXAMPLE 18.7 THE DEMAND FOR CLEAN </a:t>
            </a:r>
            <a:r>
              <a:rPr lang="en-US" dirty="0" smtClean="0"/>
              <a:t>AIR</a:t>
            </a:r>
            <a:endParaRPr lang="en-US" dirty="0"/>
          </a:p>
        </p:txBody>
      </p:sp>
      <p:sp>
        <p:nvSpPr>
          <p:cNvPr id="54" name="Content Placeholder 53"/>
          <p:cNvSpPr>
            <a:spLocks noGrp="1"/>
          </p:cNvSpPr>
          <p:nvPr>
            <p:ph idx="1"/>
          </p:nvPr>
        </p:nvSpPr>
        <p:spPr>
          <a:xfrm>
            <a:off x="457200" y="1600200"/>
            <a:ext cx="5029200" cy="1292662"/>
          </a:xfrm>
        </p:spPr>
        <p:txBody>
          <a:bodyPr wrap="square">
            <a:spAutoFit/>
          </a:bodyPr>
          <a:lstStyle/>
          <a:p>
            <a:pPr marL="0" lvl="0" indent="0">
              <a:spcBef>
                <a:spcPts val="0"/>
              </a:spcBef>
              <a:buClrTx/>
              <a:buNone/>
            </a:pPr>
            <a:r>
              <a:rPr lang="en-US" dirty="0">
                <a:solidFill>
                  <a:prstClr val="black"/>
                </a:solidFill>
              </a:rPr>
              <a:t>Clean air is nonexclusive: It is difficult to stop any one person from enjoying it. Clean air is also </a:t>
            </a:r>
            <a:r>
              <a:rPr lang="en-US" dirty="0" smtClean="0">
                <a:solidFill>
                  <a:prstClr val="black"/>
                </a:solidFill>
              </a:rPr>
              <a:t>nonrival</a:t>
            </a:r>
            <a:r>
              <a:rPr lang="en-US" dirty="0" smtClean="0">
                <a:solidFill>
                  <a:prstClr val="black"/>
                </a:solidFill>
              </a:rPr>
              <a:t>: My </a:t>
            </a:r>
            <a:r>
              <a:rPr lang="en-US" dirty="0">
                <a:solidFill>
                  <a:prstClr val="black"/>
                </a:solidFill>
              </a:rPr>
              <a:t>enjoyment does not inhibit yours. We can infer people’s willingness to pay for clean air from the housing market—households will pay more for a home located in an area with good air quality than for an otherwise identical home in an area with poor air quality.</a:t>
            </a:r>
          </a:p>
        </p:txBody>
      </p:sp>
      <p:pic>
        <p:nvPicPr>
          <p:cNvPr id="53" name="Picture Placeholder 52" descr="Photo shows view of neighborhood: houses, trees, and Washington monument in background."/>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6238875" y="1602267"/>
            <a:ext cx="2434404" cy="1674333"/>
          </a:xfrm>
        </p:spPr>
      </p:pic>
      <p:sp>
        <p:nvSpPr>
          <p:cNvPr id="3" name="Content Placeholder 2"/>
          <p:cNvSpPr>
            <a:spLocks noGrp="1"/>
          </p:cNvSpPr>
          <p:nvPr>
            <p:ph idx="16"/>
          </p:nvPr>
        </p:nvSpPr>
        <p:spPr>
          <a:xfrm>
            <a:off x="458190" y="3434068"/>
            <a:ext cx="5104410" cy="2731517"/>
          </a:xfrm>
        </p:spPr>
        <p:txBody>
          <a:bodyPr wrap="square">
            <a:spAutoFit/>
          </a:bodyPr>
          <a:lstStyle/>
          <a:p>
            <a:pPr marL="0" indent="0">
              <a:buNone/>
            </a:pPr>
            <a:r>
              <a:rPr lang="en-US" b="1" dirty="0"/>
              <a:t>FIGURE 18.16</a:t>
            </a:r>
          </a:p>
          <a:p>
            <a:pPr marL="0" indent="0">
              <a:buNone/>
            </a:pPr>
            <a:r>
              <a:rPr lang="en-US" b="1" dirty="0"/>
              <a:t>THE DEMAND FOR CLEAN </a:t>
            </a:r>
            <a:r>
              <a:rPr lang="en-US" b="1" dirty="0" smtClean="0"/>
              <a:t>AIR</a:t>
            </a:r>
          </a:p>
          <a:p>
            <a:pPr marL="0" lvl="0" indent="0">
              <a:buClrTx/>
              <a:buNone/>
            </a:pPr>
            <a:r>
              <a:rPr lang="en-US" altLang="zh-CN" dirty="0">
                <a:ea typeface="SimSun" pitchFamily="2" charset="-122"/>
                <a:cs typeface="Arial" pitchFamily="34" charset="0"/>
              </a:rPr>
              <a:t>The three curves describe the willingness to pay for clean air </a:t>
            </a:r>
            <a:r>
              <a:rPr lang="en-US" altLang="zh-CN" dirty="0" smtClean="0">
                <a:ea typeface="SimSun" pitchFamily="2" charset="-122"/>
                <a:cs typeface="Arial" pitchFamily="34" charset="0"/>
              </a:rPr>
              <a:t>(</a:t>
            </a:r>
            <a:r>
              <a:rPr lang="en-US" altLang="zh-CN" dirty="0">
                <a:ea typeface="SimSun" pitchFamily="2" charset="-122"/>
                <a:cs typeface="Arial" pitchFamily="34" charset="0"/>
              </a:rPr>
              <a:t>a reduction in the level of nitrogen oxides) for each of three different households (low income, </a:t>
            </a:r>
            <a:r>
              <a:rPr lang="en-US" altLang="zh-CN" dirty="0" smtClean="0">
                <a:ea typeface="SimSun" pitchFamily="2" charset="-122"/>
                <a:cs typeface="Arial" pitchFamily="34" charset="0"/>
              </a:rPr>
              <a:t>middle income</a:t>
            </a:r>
            <a:r>
              <a:rPr lang="en-US" altLang="zh-CN" dirty="0">
                <a:ea typeface="SimSun" pitchFamily="2" charset="-122"/>
                <a:cs typeface="Arial" pitchFamily="34" charset="0"/>
              </a:rPr>
              <a:t>, and high income).</a:t>
            </a:r>
          </a:p>
          <a:p>
            <a:pPr marL="0" lvl="0" indent="0">
              <a:buClrTx/>
              <a:buNone/>
            </a:pPr>
            <a:r>
              <a:rPr lang="en-US" altLang="zh-CN" dirty="0">
                <a:ea typeface="SimSun" pitchFamily="2" charset="-122"/>
                <a:cs typeface="Arial" pitchFamily="34" charset="0"/>
              </a:rPr>
              <a:t>In general, higher-income households have </a:t>
            </a:r>
            <a:r>
              <a:rPr lang="en-US" altLang="zh-CN" dirty="0" smtClean="0">
                <a:ea typeface="SimSun" pitchFamily="2" charset="-122"/>
                <a:cs typeface="Arial" pitchFamily="34" charset="0"/>
              </a:rPr>
              <a:t>greater demands </a:t>
            </a:r>
            <a:r>
              <a:rPr lang="en-US" altLang="zh-CN" dirty="0">
                <a:ea typeface="SimSun" pitchFamily="2" charset="-122"/>
                <a:cs typeface="Arial" pitchFamily="34" charset="0"/>
              </a:rPr>
              <a:t>for clean air than lower-income households. Moreover, each household is less willing to pay for clean air as the level of air quality increases</a:t>
            </a:r>
            <a:r>
              <a:rPr lang="en-US" altLang="zh-CN" dirty="0" smtClean="0">
                <a:ea typeface="SimSun" pitchFamily="2" charset="-122"/>
                <a:cs typeface="Arial" pitchFamily="34" charset="0"/>
              </a:rPr>
              <a:t>.</a:t>
            </a:r>
            <a:endParaRPr lang="en-US" altLang="zh-CN" dirty="0">
              <a:ea typeface="SimSun" pitchFamily="2" charset="-122"/>
              <a:cs typeface="Arial" pitchFamily="34" charset="0"/>
            </a:endParaRPr>
          </a:p>
        </p:txBody>
      </p:sp>
      <p:pic>
        <p:nvPicPr>
          <p:cNvPr id="4" name="Picture Placeholder 3" descr="X-axis depicts shows Nitrogen oxide in pphm ranging from 0 to 10 in increment of 1. Y-axis depicts Willingness to Pay  ranging from 0 to 3000 in increment of 500. Three upward sloping curves labeled &quot;Low Income&quot;,  &quot;Middle Income&quot;  and  &quot;High Income&quot; are drawn on graph."/>
          <p:cNvPicPr>
            <a:picLocks noGrp="1" noChangeAspect="1"/>
          </p:cNvPicPr>
          <p:nvPr>
            <p:ph type="pic" sz="quarter" idx="18"/>
          </p:nvPr>
        </p:nvPicPr>
        <p:blipFill>
          <a:blip r:embed="rId3" cstate="print">
            <a:extLst>
              <a:ext uri="{28A0092B-C50C-407E-A947-70E740481C1C}">
                <a14:useLocalDpi xmlns:a14="http://schemas.microsoft.com/office/drawing/2010/main" val="0"/>
              </a:ext>
            </a:extLst>
          </a:blip>
          <a:stretch>
            <a:fillRect/>
          </a:stretch>
        </p:blipFill>
        <p:spPr>
          <a:xfrm>
            <a:off x="5593210" y="3644287"/>
            <a:ext cx="3085568" cy="2511043"/>
          </a:xfrm>
        </p:spPr>
      </p:pic>
    </p:spTree>
    <p:extLst>
      <p:ext uri="{BB962C8B-B14F-4D97-AF65-F5344CB8AC3E}">
        <p14:creationId xmlns:p14="http://schemas.microsoft.com/office/powerpoint/2010/main" val="5069147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713232"/>
            <a:ext cx="8229600" cy="523220"/>
          </a:xfrm>
        </p:spPr>
        <p:txBody>
          <a:bodyPr vert="horz" lIns="0" tIns="0" rIns="0" bIns="0" rtlCol="0" anchor="b">
            <a:spAutoFit/>
          </a:bodyPr>
          <a:lstStyle/>
          <a:p>
            <a:r>
              <a:rPr lang="en-US" dirty="0"/>
              <a:t>Copyright</a:t>
            </a:r>
          </a:p>
        </p:txBody>
      </p:sp>
      <p:pic>
        <p:nvPicPr>
          <p:cNvPr id="8" name="Picture Placeholder 7" descr="This work is protected by United States copyright laws and is provided solely for the use of instructors in teaching their courses and assessing student learning. Dissemination or sale of any part of this work left parenthesis including on the world wide web right parenthesis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944566" y="2270660"/>
            <a:ext cx="7254869" cy="2316681"/>
          </a:xfrm>
        </p:spPr>
      </p:pic>
    </p:spTree>
    <p:extLst>
      <p:ext uri="{BB962C8B-B14F-4D97-AF65-F5344CB8AC3E}">
        <p14:creationId xmlns:p14="http://schemas.microsoft.com/office/powerpoint/2010/main" val="2128654403"/>
      </p:ext>
    </p:extLst>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Pindyck PPT">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2_Pindyck PPT">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979</TotalTime>
  <Words>6062</Words>
  <Application>Microsoft Office PowerPoint</Application>
  <PresentationFormat>On-screen Show (4:3)</PresentationFormat>
  <Paragraphs>573</Paragraphs>
  <Slides>45</Slides>
  <Notes>38</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45</vt:i4>
      </vt:variant>
    </vt:vector>
  </HeadingPairs>
  <TitlesOfParts>
    <vt:vector size="49" baseType="lpstr">
      <vt:lpstr>508 Lecture</vt:lpstr>
      <vt:lpstr>1_Pindyck PPT</vt:lpstr>
      <vt:lpstr>2_Pindyck PPT</vt:lpstr>
      <vt:lpstr>Equation</vt:lpstr>
      <vt:lpstr>MICROECONOMICS</vt:lpstr>
      <vt:lpstr>Chapter 18</vt:lpstr>
      <vt:lpstr>Externalities and Public Goods (2 of 2)</vt:lpstr>
      <vt:lpstr>18.1 Externalities (1 of 4)</vt:lpstr>
      <vt:lpstr>18.1 Externalities (2 of 4)</vt:lpstr>
      <vt:lpstr>18.1 Externalities (3 of 4)</vt:lpstr>
      <vt:lpstr>18.1 Externalities (4 of 4)</vt:lpstr>
      <vt:lpstr>EXAMPLE 18.1 THE COSTS AND BENEFITS OF SULFUR DIOXIDE EMISSIONS</vt:lpstr>
      <vt:lpstr>18.2 Ways of Correcting Market Failure (1 of 6)</vt:lpstr>
      <vt:lpstr>18.2 Ways of Correcting Market Failure (2 of 6)</vt:lpstr>
      <vt:lpstr>18.2 Ways of Correcting Market Failure (3 of 6)</vt:lpstr>
      <vt:lpstr>18.2 Ways of Correcting Market Failure (4 of 6)</vt:lpstr>
      <vt:lpstr>18.2 Ways of Correcting Market Failure (5 of 6)</vt:lpstr>
      <vt:lpstr>18.2 Ways of Correcting Market Failure (6 of 6)</vt:lpstr>
      <vt:lpstr>EXAMPLE 18.2 EMISSIONS TRADING AND CLEAN AIR</vt:lpstr>
      <vt:lpstr>EXAMPLE 18.3 EMISSIONS TRADING AND CLEAN AIR (1 of 2)</vt:lpstr>
      <vt:lpstr>EXAMPLE 18.3 EMISSIONS TRADING AND CLEAN AIR (2 of 2)</vt:lpstr>
      <vt:lpstr>18.2 Ways of Correcting Market Failure (1 of 3)</vt:lpstr>
      <vt:lpstr>18.2 Ways of Correcting Market Failure (2 of 3)</vt:lpstr>
      <vt:lpstr>18.2 Ways of Correcting Market Failure (3 of 3)</vt:lpstr>
      <vt:lpstr>EXAMPLE 18.4 REGULATING MUNICIPAL SOLID WASTES (1 of 2)</vt:lpstr>
      <vt:lpstr>EXAMPLE 18.4 REGULATING MUNICIPAL SOLID WASTES (2 of 2)</vt:lpstr>
      <vt:lpstr>18.2 Ways of Correcting Market Failure (1 of 2)</vt:lpstr>
      <vt:lpstr>18.2 Ways of Correcting Market Failure (2 of 2)</vt:lpstr>
      <vt:lpstr>18.3 Stock Externalities (1 of 3)</vt:lpstr>
      <vt:lpstr>18.3 Stock Externalities (2 of 3)</vt:lpstr>
      <vt:lpstr>18.3 Stock Externalities (3 of 3)</vt:lpstr>
      <vt:lpstr>EXAMPLE 18.4 GLOBAL WARMING (1 of 2)</vt:lpstr>
      <vt:lpstr>EXAMPLE 18.4 GLOBAL WARMING (2 of 2)</vt:lpstr>
      <vt:lpstr>18.4 Externalities and Property Rights (1 of 7)</vt:lpstr>
      <vt:lpstr>18.4 Externalities and Property Rights (2 of 7)</vt:lpstr>
      <vt:lpstr>18.4 Externalities and Property Rights (3 of 7)</vt:lpstr>
      <vt:lpstr>18.4 Externalities and Property Rights (4 of 7)</vt:lpstr>
      <vt:lpstr>18.4 Externalities and Property Rights (5 of 7)</vt:lpstr>
      <vt:lpstr>18.4 Externalities and Property Rights (6 of 7)</vt:lpstr>
      <vt:lpstr>18.4 Externalities and Property Rights (7 of 7)</vt:lpstr>
      <vt:lpstr>EXAMPLE 18.5 THE COASE THEOREM AT WORK</vt:lpstr>
      <vt:lpstr>18.5 Common Property Resources (1 of 2)</vt:lpstr>
      <vt:lpstr>18.5 Common Property Resources (2 of 2)</vt:lpstr>
      <vt:lpstr>EXAMPLE 18.7 CRAWFISH FISHING IN LOUISIANA</vt:lpstr>
      <vt:lpstr>18.6 Public Goods (1 of 3)</vt:lpstr>
      <vt:lpstr>18.6 Public Goods (2 of 3)</vt:lpstr>
      <vt:lpstr>18.6 Public Goods (3 of 3)</vt:lpstr>
      <vt:lpstr>EXAMPLE 18.7 THE DEMAND FOR CLEAN AIR</vt:lpstr>
      <vt:lpstr>Copyright</vt:lpstr>
    </vt:vector>
  </TitlesOfParts>
  <Company>Integra Software Services Pvt.Ltd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Microeconomics_Ninth Edition</dc:title>
  <dc:creator>Echo Swinford</dc:creator>
  <cp:lastModifiedBy>Vijayalakshmi Mohanraj, Integra-PDY, IN</cp:lastModifiedBy>
  <cp:revision>394</cp:revision>
  <dcterms:created xsi:type="dcterms:W3CDTF">2014-07-14T20:04:21Z</dcterms:created>
  <dcterms:modified xsi:type="dcterms:W3CDTF">2017-06-28T13:39:11Z</dcterms:modified>
  <cp:version>1.0</cp:version>
</cp:coreProperties>
</file>